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16819a0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16819a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b16819a0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b16819a0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b16819a0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b16819a0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b16819a0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b16819a0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16819a0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16819a0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b16819a0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b16819a0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16819a0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b16819a0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b16819a0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b16819a0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b16819a0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b16819a0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b17c06d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b17c06d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b16819a0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b16819a0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b16819a0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b16819a0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97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80"/>
              <a:t>Explainable Deep Learning Approach for Sleep Disorder Detection and Personalized Lifestyle Recommendations</a:t>
            </a:r>
            <a:endParaRPr sz="39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8345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Group: 48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Guide: Prof. Dr. Simi Surendran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/>
              <a:t>“Polysomnography (PSG) provides comprehensive overnight physiological data for sleep disorder assessment; however, transforming multi-channel, full-night signals into interpretable, clinically actionable insights remains challenging. This project aims to develop a unified system that performs automated sleep analysis, disorder detection, interpretable inference, and disorder management through personalized recommendations and interactive medical assistance.”</a:t>
            </a:r>
            <a:endParaRPr i="1"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244100"/>
            <a:ext cx="8520600" cy="2655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Major Objective:</a:t>
            </a:r>
            <a:endParaRPr b="1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Design and develop an intelligent Sleep Disorder Management System that analyzes full-night Polysomnography (PSG) signals to provide Risk scores of possible presence of sleep disorders in the patients.</a:t>
            </a:r>
            <a:endParaRPr/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788675"/>
            <a:ext cx="8520600" cy="4176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Objectives: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evaluate the different data representations and pipelines based on model performance.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develop different ways to associate PSG signals with underlying sleep disorders and evaluate their performance.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provide clinician understandable inference on the results using various techniques.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provide patient understandable and personalized recommendations.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Design and develop a unified system to host the developed model and provide assistive features to the user base.</a:t>
            </a:r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1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 - 1</a:t>
            </a:r>
            <a:endParaRPr b="1"/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63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</a:t>
            </a:r>
            <a:r>
              <a:rPr i="1" lang="en" sz="1800">
                <a:solidFill>
                  <a:schemeClr val="dk2"/>
                </a:solidFill>
              </a:rPr>
              <a:t>To evaluate the different data representations and pipelines based on model performance.”</a:t>
            </a:r>
            <a:endParaRPr i="1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081150"/>
            <a:ext cx="85206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Different types of data representation mainly: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Spectrogram representation</a:t>
            </a:r>
            <a:r>
              <a:rPr lang="en"/>
              <a:t> which are good at retaining spatial information and </a:t>
            </a:r>
            <a:r>
              <a:rPr lang="en"/>
              <a:t>useful</a:t>
            </a:r>
            <a:r>
              <a:rPr lang="en"/>
              <a:t> for analysing frequency patterns.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Physiological Features </a:t>
            </a:r>
            <a:r>
              <a:rPr lang="en"/>
              <a:t>extracted from the raw PSG signals and sleep stage sequence provides rich information about sleep and underlying health condition of the patient without blowing up the representation size.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Embeddings </a:t>
            </a:r>
            <a:r>
              <a:rPr lang="en"/>
              <a:t>extracted through CNN pipeline or Encoders can be used for classification by effectively leaving the feature representation to be automated by learning while other forms require hand-coded representation (“manual feature engineering”).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21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 - 1</a:t>
            </a:r>
            <a:endParaRPr b="1"/>
          </a:p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63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“To evaluate the different data representations and pipelines based on model performance.”</a:t>
            </a:r>
            <a:endParaRPr i="1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081150"/>
            <a:ext cx="85206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Implementation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Different types of data representation mainly: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Spectrogram representation </a:t>
            </a:r>
            <a:r>
              <a:rPr lang="en"/>
              <a:t>= segmented epochs can be easily converted into spectrogram representation using MNE library’s methods or Scipy library’s methods for each channels</a:t>
            </a:r>
            <a:r>
              <a:rPr lang="en"/>
              <a:t>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Physiological Features </a:t>
            </a:r>
            <a:r>
              <a:rPr lang="en"/>
              <a:t>= features such as REM latency, WASO, AHI, ODI will be calculated using formulas from their raw signals, thus converting </a:t>
            </a:r>
            <a:r>
              <a:rPr lang="en"/>
              <a:t>multivariate </a:t>
            </a:r>
            <a:r>
              <a:rPr lang="en"/>
              <a:t>time-series representation to tabular data </a:t>
            </a:r>
            <a:r>
              <a:rPr lang="en"/>
              <a:t>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Embeddings </a:t>
            </a:r>
            <a:r>
              <a:rPr lang="en"/>
              <a:t>= Feature extractors such as CNN or transformer will be applied to </a:t>
            </a:r>
            <a:r>
              <a:rPr lang="en"/>
              <a:t>extract the embeddings which will be used by the classifier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206950"/>
            <a:ext cx="85206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Different pipelines can be executed to study the most optimal and performative method: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PSG </a:t>
            </a:r>
            <a:r>
              <a:rPr lang="en"/>
              <a:t>→ Sleep staging → physiological features → ML classifier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PSG → 30s epochs → Epoch encoder(CNN or Transformer) → Sequence model → Night level prediction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PSG → STFT/CWT per channel → 2D CNN / ViT encoder → Temporal pooling → Binary Classification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PSG → Encoder per channel → cross channel attention → Temporal aggregation → Binary Output</a:t>
            </a:r>
            <a:endParaRPr/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21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 - 2</a:t>
            </a:r>
            <a:endParaRPr b="1"/>
          </a:p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63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</a:t>
            </a:r>
            <a:r>
              <a:rPr i="1" lang="en" sz="1800">
                <a:solidFill>
                  <a:schemeClr val="dk2"/>
                </a:solidFill>
              </a:rPr>
              <a:t>To develop different ways to associate PSG signals with underlying sleep disorders and evaluate their performance.</a:t>
            </a:r>
            <a:r>
              <a:rPr i="1" lang="en" sz="1800">
                <a:solidFill>
                  <a:schemeClr val="dk2"/>
                </a:solidFill>
              </a:rPr>
              <a:t>”</a:t>
            </a:r>
            <a:endParaRPr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21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 - 3</a:t>
            </a:r>
            <a:endParaRPr b="1"/>
          </a:p>
        </p:txBody>
      </p:sp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63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</a:t>
            </a:r>
            <a:r>
              <a:rPr i="1" lang="en" sz="1800">
                <a:solidFill>
                  <a:schemeClr val="dk2"/>
                </a:solidFill>
              </a:rPr>
              <a:t>To provide clinician understandable inference on the results using various techniques.</a:t>
            </a:r>
            <a:r>
              <a:rPr i="1" lang="en" sz="1800">
                <a:solidFill>
                  <a:schemeClr val="dk2"/>
                </a:solidFill>
              </a:rPr>
              <a:t>”</a:t>
            </a:r>
            <a:endParaRPr i="1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081150"/>
            <a:ext cx="85206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Useful result inference for clinicians includes: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Channel wise influence:</a:t>
            </a:r>
            <a:r>
              <a:rPr lang="en"/>
              <a:t> Which signal contributed most to the prediction</a:t>
            </a:r>
            <a:r>
              <a:rPr lang="en"/>
              <a:t>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Physiological Features influence: </a:t>
            </a:r>
            <a:r>
              <a:rPr lang="en"/>
              <a:t>Due to which contributing factor was the result most influenced (“The decision was taken due to an AHI index of 7.3 and 40% oxygen desaturation slope”)</a:t>
            </a:r>
            <a:r>
              <a:rPr lang="en"/>
              <a:t>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Time Domain influence: </a:t>
            </a:r>
            <a:r>
              <a:rPr lang="en"/>
              <a:t>When </a:t>
            </a:r>
            <a:r>
              <a:rPr lang="en"/>
              <a:t>during</a:t>
            </a:r>
            <a:r>
              <a:rPr lang="en"/>
              <a:t> the sleep was most contributing to the result (“Epoch 35-59 had high influence with a score of 0.932”)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21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 - 3</a:t>
            </a:r>
            <a:endParaRPr b="1"/>
          </a:p>
        </p:txBody>
      </p:sp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63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</a:t>
            </a:r>
            <a:r>
              <a:rPr i="1" lang="en" sz="1800">
                <a:solidFill>
                  <a:schemeClr val="dk2"/>
                </a:solidFill>
              </a:rPr>
              <a:t>To provide easily understandable inference on the results using various techniques.</a:t>
            </a:r>
            <a:r>
              <a:rPr i="1" lang="en" sz="1800">
                <a:solidFill>
                  <a:schemeClr val="dk2"/>
                </a:solidFill>
              </a:rPr>
              <a:t>”</a:t>
            </a:r>
            <a:endParaRPr i="1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081150"/>
            <a:ext cx="85206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Implementation: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Tools and techniques that can be used to achieve the proposed: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Channel wise influence:</a:t>
            </a:r>
            <a:r>
              <a:rPr lang="en"/>
              <a:t> channel occlusion or SHAP DeepExplainer.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Physiological Features influence: </a:t>
            </a:r>
            <a:r>
              <a:rPr lang="en"/>
              <a:t>SHAP TreeExplainer or LIME TabularExplainer and Counterfactuals from DICE ML provides what-ifs explanations (“if the WASO was higher upto 8.5 the prediction will be changed to negative for Insomnia”).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Time Domain influence: </a:t>
            </a:r>
            <a:r>
              <a:rPr lang="en"/>
              <a:t>Temporal SHAP, Integrated Gradients by Captum and Attention weights from Epoch encoders will provide inference.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21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 - 4</a:t>
            </a:r>
            <a:endParaRPr b="1"/>
          </a:p>
        </p:txBody>
      </p:sp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63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</a:t>
            </a:r>
            <a:r>
              <a:rPr i="1" lang="en" sz="1800">
                <a:solidFill>
                  <a:schemeClr val="dk2"/>
                </a:solidFill>
              </a:rPr>
              <a:t>To provide patient understandable and personalized recommendations.</a:t>
            </a:r>
            <a:r>
              <a:rPr i="1" lang="en" sz="1800">
                <a:solidFill>
                  <a:schemeClr val="dk2"/>
                </a:solidFill>
              </a:rPr>
              <a:t>”</a:t>
            </a:r>
            <a:endParaRPr i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081150"/>
            <a:ext cx="85206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Understandable result inference for patients includes: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Personalized Recommendations</a:t>
            </a:r>
            <a:r>
              <a:rPr b="1" lang="en"/>
              <a:t>:</a:t>
            </a:r>
            <a:r>
              <a:rPr lang="en"/>
              <a:t> suggest remedies and recommendations based on the personal record of the patient such as age, gender, height, weight, diabetes, high BP, </a:t>
            </a:r>
            <a:r>
              <a:rPr lang="en"/>
              <a:t>cholesterol</a:t>
            </a:r>
            <a:r>
              <a:rPr lang="en"/>
              <a:t>, … etc.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Medical Chatbot</a:t>
            </a:r>
            <a:r>
              <a:rPr b="1" lang="en"/>
              <a:t>: </a:t>
            </a:r>
            <a:r>
              <a:rPr lang="en"/>
              <a:t>Provide an interactive environment for the patients to be able understand complex sleep disorders and promote awareness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081150"/>
            <a:ext cx="85206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Implementation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Understandable result inference for patients includes: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Personalized Recommendations:</a:t>
            </a:r>
            <a:r>
              <a:rPr lang="en"/>
              <a:t> An agentic AI framework is proposed with multiple task specific agents which can query for medical information, or read personal medical history, and one to generate remedies based on the information.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Medical Chatbot: </a:t>
            </a:r>
            <a:r>
              <a:rPr lang="en"/>
              <a:t>An experimental chatbot is proposed and measures taken based on the performance of the chatbot to answer queries</a:t>
            </a:r>
            <a:r>
              <a:rPr lang="en"/>
              <a:t>. Mainy; simple template based prompting, RAG, </a:t>
            </a:r>
            <a:r>
              <a:rPr lang="en"/>
              <a:t>contexted on medical textbooks, fine tuning. These evolutionary steps will be taken if the performance is not satisfiable.</a:t>
            </a:r>
            <a:endParaRPr/>
          </a:p>
        </p:txBody>
      </p:sp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21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 - 4</a:t>
            </a:r>
            <a:endParaRPr b="1"/>
          </a:p>
        </p:txBody>
      </p:sp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63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“To provide patient understandable and personalized recommendations.”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749125"/>
            <a:ext cx="8520600" cy="29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Plan: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and develop suitable interface for the frontend using Electron to create a portable browser-</a:t>
            </a:r>
            <a:r>
              <a:rPr lang="en"/>
              <a:t>independent</a:t>
            </a:r>
            <a:r>
              <a:rPr lang="en"/>
              <a:t> app.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the backend storage for storing the patient’s EMR records and caching the lookup data from the RAG framework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the model to the backend using API</a:t>
            </a:r>
            <a:endParaRPr/>
          </a:p>
        </p:txBody>
      </p:sp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38317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 - 5</a:t>
            </a:r>
            <a:endParaRPr b="1"/>
          </a:p>
        </p:txBody>
      </p:sp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95586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</a:t>
            </a:r>
            <a:r>
              <a:rPr i="1" lang="en" sz="1800">
                <a:solidFill>
                  <a:schemeClr val="dk2"/>
                </a:solidFill>
              </a:rPr>
              <a:t>To Design and develop a unified system to host the developed model and provide assistive features to the user base.</a:t>
            </a:r>
            <a:r>
              <a:rPr i="1" lang="en" sz="1800">
                <a:solidFill>
                  <a:schemeClr val="dk2"/>
                </a:solidFill>
              </a:rPr>
              <a:t>”</a:t>
            </a:r>
            <a:endParaRPr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37080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Minor Objective - 5</a:t>
            </a:r>
            <a:endParaRPr b="1"/>
          </a:p>
        </p:txBody>
      </p:sp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9434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“</a:t>
            </a:r>
            <a:r>
              <a:rPr i="1" lang="en" sz="1800">
                <a:solidFill>
                  <a:schemeClr val="dk2"/>
                </a:solidFill>
              </a:rPr>
              <a:t>To Design and develop a unified system to host the developed model and provide assistive features to the user base.</a:t>
            </a:r>
            <a:r>
              <a:rPr i="1" lang="en" sz="1800">
                <a:solidFill>
                  <a:schemeClr val="dk2"/>
                </a:solidFill>
              </a:rPr>
              <a:t>”</a:t>
            </a:r>
            <a:endParaRPr i="1"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575950"/>
            <a:ext cx="8520600" cy="3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Implementation: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Study the trade-off between developing in Electron, React, and HTML-JS Scripting for a web based deployment.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suitable databases in Chroma / FAISS / Vector DB for storing EMR of the patients and PostgreSQL for caching the medical information looked up by the RAG framework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 model using torch framework and connect to the backend using FastAPI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