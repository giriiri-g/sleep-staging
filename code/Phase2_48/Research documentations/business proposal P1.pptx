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5143500" cx="9144000"/>
  <p:notesSz cx="6858000" cy="9144000"/>
  <p:embeddedFontLst>
    <p:embeddedFont>
      <p:font typeface="Chakra Petch"/>
      <p:regular r:id="rId30"/>
      <p:bold r:id="rId31"/>
      <p:italic r:id="rId32"/>
      <p:boldItalic r:id="rId33"/>
    </p:embeddedFont>
    <p:embeddedFont>
      <p:font typeface="Chakra Petch SemiBold"/>
      <p:regular r:id="rId34"/>
      <p:bold r:id="rId35"/>
      <p:italic r:id="rId36"/>
      <p:boldItalic r:id="rId37"/>
    </p:embeddedFont>
    <p:embeddedFont>
      <p:font typeface="Red Hat Text"/>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A404940-E3EF-4C90-B839-184A4FD12D8A}">
  <a:tblStyle styleId="{EA404940-E3EF-4C90-B839-184A4FD12D8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edHatText-italic.fntdata"/><Relationship Id="rId20" Type="http://schemas.openxmlformats.org/officeDocument/2006/relationships/slide" Target="slides/slide14.xml"/><Relationship Id="rId41" Type="http://schemas.openxmlformats.org/officeDocument/2006/relationships/font" Target="fonts/RedHatText-boldItalic.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ChakraPetch-bold.fntdata"/><Relationship Id="rId30" Type="http://schemas.openxmlformats.org/officeDocument/2006/relationships/font" Target="fonts/ChakraPetch-regular.fntdata"/><Relationship Id="rId11" Type="http://schemas.openxmlformats.org/officeDocument/2006/relationships/slide" Target="slides/slide5.xml"/><Relationship Id="rId33" Type="http://schemas.openxmlformats.org/officeDocument/2006/relationships/font" Target="fonts/ChakraPetch-boldItalic.fntdata"/><Relationship Id="rId10" Type="http://schemas.openxmlformats.org/officeDocument/2006/relationships/slide" Target="slides/slide4.xml"/><Relationship Id="rId32" Type="http://schemas.openxmlformats.org/officeDocument/2006/relationships/font" Target="fonts/ChakraPetch-italic.fntdata"/><Relationship Id="rId13" Type="http://schemas.openxmlformats.org/officeDocument/2006/relationships/slide" Target="slides/slide7.xml"/><Relationship Id="rId35" Type="http://schemas.openxmlformats.org/officeDocument/2006/relationships/font" Target="fonts/ChakraPetchSemiBold-bold.fntdata"/><Relationship Id="rId12" Type="http://schemas.openxmlformats.org/officeDocument/2006/relationships/slide" Target="slides/slide6.xml"/><Relationship Id="rId34" Type="http://schemas.openxmlformats.org/officeDocument/2006/relationships/font" Target="fonts/ChakraPetchSemiBold-regular.fntdata"/><Relationship Id="rId15" Type="http://schemas.openxmlformats.org/officeDocument/2006/relationships/slide" Target="slides/slide9.xml"/><Relationship Id="rId37" Type="http://schemas.openxmlformats.org/officeDocument/2006/relationships/font" Target="fonts/ChakraPetchSemiBold-boldItalic.fntdata"/><Relationship Id="rId14" Type="http://schemas.openxmlformats.org/officeDocument/2006/relationships/slide" Target="slides/slide8.xml"/><Relationship Id="rId36" Type="http://schemas.openxmlformats.org/officeDocument/2006/relationships/font" Target="fonts/ChakraPetchSemiBold-italic.fntdata"/><Relationship Id="rId17" Type="http://schemas.openxmlformats.org/officeDocument/2006/relationships/slide" Target="slides/slide11.xml"/><Relationship Id="rId39" Type="http://schemas.openxmlformats.org/officeDocument/2006/relationships/font" Target="fonts/RedHatText-bold.fntdata"/><Relationship Id="rId16" Type="http://schemas.openxmlformats.org/officeDocument/2006/relationships/slide" Target="slides/slide10.xml"/><Relationship Id="rId38" Type="http://schemas.openxmlformats.org/officeDocument/2006/relationships/font" Target="fonts/RedHatText-regular.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a378429eb4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a378429eb4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a378429eb4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a378429eb4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a378429eb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a378429eb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a378429eb4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a378429eb4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a378429eb4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a378429eb4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a378429eb4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a378429eb4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a378429eb4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a378429eb4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a378429eb4_2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a378429eb4_2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a378429eb4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a378429eb4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a378429eb4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a378429eb4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a378429eb4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a378429eb4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a378429eb4_1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a378429eb4_1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a378429eb4_1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a378429eb4_1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a378429eb4_1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a378429eb4_1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a378429eb4_1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a378429eb4_1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a378429eb4_1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a378429eb4_1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a378429eb4_1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a378429eb4_1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a378429eb4_1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a378429eb4_1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a378429eb4_1_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a378429eb4_1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a3a1eb33d2_2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a3a1eb33d2_2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a378429eb4_1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a378429eb4_1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a3a1eb33d2_5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a3a1eb33d2_5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1200"/>
              </a:spcBef>
              <a:spcAft>
                <a:spcPts val="0"/>
              </a:spcAft>
              <a:buClr>
                <a:schemeClr val="dk1"/>
              </a:buClr>
              <a:buSzPts val="1400"/>
              <a:buChar char="○"/>
              <a:defRPr/>
            </a:lvl2pPr>
            <a:lvl3pPr indent="-317500" lvl="2" marL="1371600" algn="l">
              <a:lnSpc>
                <a:spcPct val="90000"/>
              </a:lnSpc>
              <a:spcBef>
                <a:spcPts val="1200"/>
              </a:spcBef>
              <a:spcAft>
                <a:spcPts val="0"/>
              </a:spcAft>
              <a:buClr>
                <a:schemeClr val="dk1"/>
              </a:buClr>
              <a:buSzPts val="1400"/>
              <a:buChar char="■"/>
              <a:defRPr/>
            </a:lvl3pPr>
            <a:lvl4pPr indent="-317500" lvl="3" marL="1828800" algn="l">
              <a:lnSpc>
                <a:spcPct val="90000"/>
              </a:lnSpc>
              <a:spcBef>
                <a:spcPts val="1200"/>
              </a:spcBef>
              <a:spcAft>
                <a:spcPts val="0"/>
              </a:spcAft>
              <a:buClr>
                <a:schemeClr val="dk1"/>
              </a:buClr>
              <a:buSzPts val="1400"/>
              <a:buChar char="●"/>
              <a:defRPr/>
            </a:lvl4pPr>
            <a:lvl5pPr indent="-317500" lvl="4" marL="2286000" algn="l">
              <a:lnSpc>
                <a:spcPct val="9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53" name="Google Shape;53;p1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4" name="Google Shape;54;p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5" name="Google Shape;55;p1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9" name="Shape 59"/>
        <p:cNvGrpSpPr/>
        <p:nvPr/>
      </p:nvGrpSpPr>
      <p:grpSpPr>
        <a:xfrm>
          <a:off x="0" y="0"/>
          <a:ext cx="0" cy="0"/>
          <a:chOff x="0" y="0"/>
          <a:chExt cx="0" cy="0"/>
        </a:xfrm>
      </p:grpSpPr>
      <p:sp>
        <p:nvSpPr>
          <p:cNvPr id="60" name="Google Shape;60;p14"/>
          <p:cNvSpPr txBox="1"/>
          <p:nvPr>
            <p:ph type="ctrTitle"/>
          </p:nvPr>
        </p:nvSpPr>
        <p:spPr>
          <a:xfrm>
            <a:off x="311708" y="451000"/>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A Lightweight Health Risk Analysis App for the Elderly using Sleep Studies</a:t>
            </a:r>
            <a:endParaRPr/>
          </a:p>
        </p:txBody>
      </p:sp>
      <p:sp>
        <p:nvSpPr>
          <p:cNvPr id="61" name="Google Shape;61;p14"/>
          <p:cNvSpPr txBox="1"/>
          <p:nvPr>
            <p:ph idx="1" type="subTitle"/>
          </p:nvPr>
        </p:nvSpPr>
        <p:spPr>
          <a:xfrm>
            <a:off x="311700" y="2571750"/>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
              <a:t>Mentored by: Prof. Simi Surendran</a:t>
            </a:r>
            <a:br>
              <a:rPr lang="en"/>
            </a:br>
            <a:r>
              <a:rPr lang="en"/>
              <a:t>Prof. Geetha Lekshmi</a:t>
            </a:r>
            <a:endParaRPr/>
          </a:p>
        </p:txBody>
      </p:sp>
      <p:graphicFrame>
        <p:nvGraphicFramePr>
          <p:cNvPr id="62" name="Google Shape;62;p14"/>
          <p:cNvGraphicFramePr/>
          <p:nvPr/>
        </p:nvGraphicFramePr>
        <p:xfrm>
          <a:off x="770450" y="3366875"/>
          <a:ext cx="3000000" cy="3000000"/>
        </p:xfrm>
        <a:graphic>
          <a:graphicData uri="http://schemas.openxmlformats.org/drawingml/2006/table">
            <a:tbl>
              <a:tblPr>
                <a:noFill/>
                <a:tableStyleId>{EA404940-E3EF-4C90-B839-184A4FD12D8A}</a:tableStyleId>
              </a:tblPr>
              <a:tblGrid>
                <a:gridCol w="3801550"/>
                <a:gridCol w="3801550"/>
              </a:tblGrid>
              <a:tr h="310425">
                <a:tc>
                  <a:txBody>
                    <a:bodyPr/>
                    <a:lstStyle/>
                    <a:p>
                      <a:pPr indent="0" lvl="0" marL="0" rtl="0" algn="l">
                        <a:spcBef>
                          <a:spcPts val="0"/>
                        </a:spcBef>
                        <a:spcAft>
                          <a:spcPts val="0"/>
                        </a:spcAft>
                        <a:buNone/>
                      </a:pPr>
                      <a:r>
                        <a:rPr lang="en"/>
                        <a:t>Girish S</a:t>
                      </a:r>
                      <a:endParaRPr/>
                    </a:p>
                  </a:txBody>
                  <a:tcPr marT="91425" marB="91425" marR="91425" marL="91425"/>
                </a:tc>
                <a:tc>
                  <a:txBody>
                    <a:bodyPr/>
                    <a:lstStyle/>
                    <a:p>
                      <a:pPr indent="0" lvl="0" marL="0" rtl="0" algn="l">
                        <a:spcBef>
                          <a:spcPts val="0"/>
                        </a:spcBef>
                        <a:spcAft>
                          <a:spcPts val="0"/>
                        </a:spcAft>
                        <a:buNone/>
                      </a:pPr>
                      <a:r>
                        <a:rPr lang="en"/>
                        <a:t>Research Architect</a:t>
                      </a:r>
                      <a:endParaRPr/>
                    </a:p>
                  </a:txBody>
                  <a:tcPr marT="91425" marB="91425" marR="91425" marL="91425"/>
                </a:tc>
              </a:tr>
              <a:tr h="310425">
                <a:tc>
                  <a:txBody>
                    <a:bodyPr/>
                    <a:lstStyle/>
                    <a:p>
                      <a:pPr indent="0" lvl="0" marL="0" rtl="0" algn="l">
                        <a:spcBef>
                          <a:spcPts val="0"/>
                        </a:spcBef>
                        <a:spcAft>
                          <a:spcPts val="0"/>
                        </a:spcAft>
                        <a:buNone/>
                      </a:pPr>
                      <a:r>
                        <a:rPr lang="en"/>
                        <a:t>Anuvind M P</a:t>
                      </a:r>
                      <a:endParaRPr/>
                    </a:p>
                  </a:txBody>
                  <a:tcPr marT="91425" marB="91425" marR="91425" marL="91425"/>
                </a:tc>
                <a:tc>
                  <a:txBody>
                    <a:bodyPr/>
                    <a:lstStyle/>
                    <a:p>
                      <a:pPr indent="0" lvl="0" marL="0" rtl="0" algn="l">
                        <a:spcBef>
                          <a:spcPts val="0"/>
                        </a:spcBef>
                        <a:spcAft>
                          <a:spcPts val="0"/>
                        </a:spcAft>
                        <a:buNone/>
                      </a:pPr>
                      <a:r>
                        <a:rPr lang="en"/>
                        <a:t>System Design/SDE</a:t>
                      </a:r>
                      <a:endParaRPr/>
                    </a:p>
                  </a:txBody>
                  <a:tcPr marT="91425" marB="91425" marR="91425" marL="91425"/>
                </a:tc>
              </a:tr>
              <a:tr h="310425">
                <a:tc>
                  <a:txBody>
                    <a:bodyPr/>
                    <a:lstStyle/>
                    <a:p>
                      <a:pPr indent="0" lvl="0" marL="0" rtl="0" algn="l">
                        <a:spcBef>
                          <a:spcPts val="0"/>
                        </a:spcBef>
                        <a:spcAft>
                          <a:spcPts val="0"/>
                        </a:spcAft>
                        <a:buNone/>
                      </a:pPr>
                      <a:r>
                        <a:rPr lang="en"/>
                        <a:t>R S Harish Kumar</a:t>
                      </a:r>
                      <a:endParaRPr/>
                    </a:p>
                  </a:txBody>
                  <a:tcPr marT="91425" marB="91425" marR="91425" marL="91425"/>
                </a:tc>
                <a:tc>
                  <a:txBody>
                    <a:bodyPr/>
                    <a:lstStyle/>
                    <a:p>
                      <a:pPr indent="0" lvl="0" marL="0" rtl="0" algn="l">
                        <a:spcBef>
                          <a:spcPts val="0"/>
                        </a:spcBef>
                        <a:spcAft>
                          <a:spcPts val="0"/>
                        </a:spcAft>
                        <a:buNone/>
                      </a:pPr>
                      <a:r>
                        <a:rPr lang="en"/>
                        <a:t>AI Lead</a:t>
                      </a:r>
                      <a:endParaRPr/>
                    </a:p>
                  </a:txBody>
                  <a:tcPr marT="91425" marB="91425" marR="91425" marL="91425"/>
                </a:tc>
              </a:tr>
              <a:tr h="343450">
                <a:tc>
                  <a:txBody>
                    <a:bodyPr/>
                    <a:lstStyle/>
                    <a:p>
                      <a:pPr indent="0" lvl="0" marL="0" rtl="0" algn="l">
                        <a:spcBef>
                          <a:spcPts val="0"/>
                        </a:spcBef>
                        <a:spcAft>
                          <a:spcPts val="0"/>
                        </a:spcAft>
                        <a:buNone/>
                      </a:pPr>
                      <a:r>
                        <a:rPr lang="en"/>
                        <a:t>Harishankar Binu Nair</a:t>
                      </a:r>
                      <a:endParaRPr/>
                    </a:p>
                  </a:txBody>
                  <a:tcPr marT="91425" marB="91425" marR="91425" marL="91425"/>
                </a:tc>
                <a:tc>
                  <a:txBody>
                    <a:bodyPr/>
                    <a:lstStyle/>
                    <a:p>
                      <a:pPr indent="0" lvl="0" marL="0" rtl="0" algn="l">
                        <a:spcBef>
                          <a:spcPts val="0"/>
                        </a:spcBef>
                        <a:spcAft>
                          <a:spcPts val="0"/>
                        </a:spcAft>
                        <a:buNone/>
                      </a:pPr>
                      <a:r>
                        <a:rPr lang="en"/>
                        <a:t>Data Analyst/SDE</a:t>
                      </a:r>
                      <a:endParaRPr/>
                    </a:p>
                  </a:txBody>
                  <a:tcPr marT="91425" marB="91425" marR="91425" marL="91425"/>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Business Pitch</a:t>
            </a:r>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457200" rtl="0" algn="l">
              <a:lnSpc>
                <a:spcPct val="150000"/>
              </a:lnSpc>
              <a:spcBef>
                <a:spcPts val="0"/>
              </a:spcBef>
              <a:spcAft>
                <a:spcPts val="0"/>
              </a:spcAft>
              <a:buNone/>
            </a:pPr>
            <a:r>
              <a:rPr i="1" lang="en" sz="1700"/>
              <a:t>Elderly people face increasing risks of cardiac, respiratory, and mental disorders, creating an untapped healthcare market. This software provides AI-based health risk analysis using non-invasive Polysomnography data.</a:t>
            </a:r>
            <a:endParaRPr i="1" sz="1700"/>
          </a:p>
          <a:p>
            <a:pPr indent="0" lvl="0" marL="457200" rtl="0" algn="l">
              <a:lnSpc>
                <a:spcPct val="150000"/>
              </a:lnSpc>
              <a:spcBef>
                <a:spcPts val="1200"/>
              </a:spcBef>
              <a:spcAft>
                <a:spcPts val="0"/>
              </a:spcAft>
              <a:buNone/>
            </a:pPr>
            <a:r>
              <a:rPr i="1" lang="en" sz="1700"/>
              <a:t>It removes social barriers by enabling private and stigma-free mental health risk detection without clinic visits or pressure. Using a custom lightweight AI model, it supports green AI and operates efficiently on low-end systems.</a:t>
            </a:r>
            <a:endParaRPr i="1" sz="1700"/>
          </a:p>
          <a:p>
            <a:pPr indent="0" lvl="0" marL="457200" rtl="0" algn="l">
              <a:lnSpc>
                <a:spcPct val="150000"/>
              </a:lnSpc>
              <a:spcBef>
                <a:spcPts val="1200"/>
              </a:spcBef>
              <a:spcAft>
                <a:spcPts val="1200"/>
              </a:spcAft>
              <a:buNone/>
            </a:pPr>
            <a:r>
              <a:rPr i="1" lang="en" sz="1700"/>
              <a:t>The solution is accessible, affordable, and scalable, shaping the future of sustainable elderly healthcare.</a:t>
            </a:r>
            <a:endParaRPr i="1" sz="17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Societal Impact</a:t>
            </a:r>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lnSpc>
                <a:spcPct val="150000"/>
              </a:lnSpc>
              <a:spcBef>
                <a:spcPts val="0"/>
              </a:spcBef>
              <a:spcAft>
                <a:spcPts val="0"/>
              </a:spcAft>
              <a:buSzPts val="1800"/>
              <a:buChar char="●"/>
            </a:pPr>
            <a:r>
              <a:rPr lang="en"/>
              <a:t>Early detection of diseases helps prevent complications in elderly individuals and reduces medical resource utilisation.</a:t>
            </a:r>
            <a:endParaRPr/>
          </a:p>
          <a:p>
            <a:pPr indent="-342900" lvl="0" marL="457200" rtl="0" algn="l">
              <a:lnSpc>
                <a:spcPct val="150000"/>
              </a:lnSpc>
              <a:spcBef>
                <a:spcPts val="0"/>
              </a:spcBef>
              <a:spcAft>
                <a:spcPts val="0"/>
              </a:spcAft>
              <a:buSzPts val="1800"/>
              <a:buChar char="●"/>
            </a:pPr>
            <a:r>
              <a:rPr lang="en"/>
              <a:t>Affordable and accessible monitoring, since the lightweight model can run on low-end devices, benefiting rural and low-income communities.</a:t>
            </a:r>
            <a:endParaRPr/>
          </a:p>
          <a:p>
            <a:pPr indent="-342900" lvl="0" marL="457200" rtl="0" algn="l">
              <a:lnSpc>
                <a:spcPct val="150000"/>
              </a:lnSpc>
              <a:spcBef>
                <a:spcPts val="0"/>
              </a:spcBef>
              <a:spcAft>
                <a:spcPts val="0"/>
              </a:spcAft>
              <a:buSzPts val="1800"/>
              <a:buChar char="●"/>
            </a:pPr>
            <a:r>
              <a:rPr lang="en"/>
              <a:t>Supports caregivers and families by providing continuous health insights without requiring frequent clinical visits.</a:t>
            </a:r>
            <a:endParaRPr/>
          </a:p>
          <a:p>
            <a:pPr indent="-342900" lvl="0" marL="457200" rtl="0" algn="l">
              <a:lnSpc>
                <a:spcPct val="150000"/>
              </a:lnSpc>
              <a:spcBef>
                <a:spcPts val="0"/>
              </a:spcBef>
              <a:spcAft>
                <a:spcPts val="0"/>
              </a:spcAft>
              <a:buSzPts val="1800"/>
              <a:buChar char="●"/>
            </a:pPr>
            <a:r>
              <a:rPr lang="en"/>
              <a:t>Reduces long-term healthcare costs by shifting from reactive treatment to preventive care.</a:t>
            </a:r>
            <a:endParaRPr/>
          </a:p>
          <a:p>
            <a:pPr indent="-342900" lvl="0" marL="457200" rtl="0" algn="l">
              <a:lnSpc>
                <a:spcPct val="150000"/>
              </a:lnSpc>
              <a:spcBef>
                <a:spcPts val="0"/>
              </a:spcBef>
              <a:spcAft>
                <a:spcPts val="0"/>
              </a:spcAft>
              <a:buSzPts val="1800"/>
              <a:buChar char="●"/>
            </a:pPr>
            <a:r>
              <a:rPr lang="en"/>
              <a:t>Promotes Green AI by using </a:t>
            </a:r>
            <a:r>
              <a:rPr lang="en"/>
              <a:t>efficient and lightweight architecture.</a:t>
            </a:r>
            <a:r>
              <a:rPr lang="en"/>
              <a:t>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Research </a:t>
            </a:r>
            <a:r>
              <a:rPr b="1" lang="en"/>
              <a:t>Abstract:</a:t>
            </a:r>
            <a:endParaRPr b="1"/>
          </a:p>
        </p:txBody>
      </p:sp>
      <p:sp>
        <p:nvSpPr>
          <p:cNvPr id="80" name="Google Shape;80;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i="1" lang="en"/>
              <a:t>This project develops software for health risk analysis in elderly individuals using Polysomnography trials. It applies a Neural Architecture Search (NAS) framework with a custom reinforcement learning based search strategy to design a lightweight multimodal fusion network. The NAS based search for an efficient and </a:t>
            </a:r>
            <a:r>
              <a:rPr i="1" lang="en"/>
              <a:t>lightweight</a:t>
            </a:r>
            <a:r>
              <a:rPr i="1" lang="en"/>
              <a:t> architecture is to be deployed on low-end customer systems. The model analyzes PSG-based physiological signals to provides health risk profiles for diseases and disorders on mainly cardiac, respiratory and mental related ailments.</a:t>
            </a:r>
            <a:endParaRPr i="1"/>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4" name="Shape 84"/>
        <p:cNvGrpSpPr/>
        <p:nvPr/>
      </p:nvGrpSpPr>
      <p:grpSpPr>
        <a:xfrm>
          <a:off x="0" y="0"/>
          <a:ext cx="0" cy="0"/>
          <a:chOff x="0" y="0"/>
          <a:chExt cx="0" cy="0"/>
        </a:xfrm>
      </p:grpSpPr>
      <p:sp>
        <p:nvSpPr>
          <p:cNvPr id="85" name="Google Shape;85;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Input</a:t>
            </a:r>
            <a:endParaRPr/>
          </a:p>
        </p:txBody>
      </p:sp>
      <p:sp>
        <p:nvSpPr>
          <p:cNvPr id="86" name="Google Shape;86;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u="sng"/>
              <a:t>Input</a:t>
            </a:r>
            <a:endParaRPr b="1" u="sng"/>
          </a:p>
          <a:p>
            <a:pPr indent="0" lvl="0" marL="0" rtl="0" algn="l">
              <a:spcBef>
                <a:spcPts val="1200"/>
              </a:spcBef>
              <a:spcAft>
                <a:spcPts val="0"/>
              </a:spcAft>
              <a:buNone/>
            </a:pPr>
            <a:r>
              <a:rPr lang="en"/>
              <a:t>Polysomnography Data (PSG) in the form of .edf files</a:t>
            </a:r>
            <a:endParaRPr/>
          </a:p>
          <a:p>
            <a:pPr indent="0" lvl="0" marL="0" rtl="0" algn="l">
              <a:spcBef>
                <a:spcPts val="1200"/>
              </a:spcBef>
              <a:spcAft>
                <a:spcPts val="0"/>
              </a:spcAft>
              <a:buNone/>
            </a:pPr>
            <a:r>
              <a:rPr b="1" lang="en" u="sng"/>
              <a:t>Channels in PSG</a:t>
            </a:r>
            <a:endParaRPr b="1" u="sng"/>
          </a:p>
          <a:p>
            <a:pPr indent="-342900" lvl="0" marL="457200" rtl="0" algn="l">
              <a:spcBef>
                <a:spcPts val="1200"/>
              </a:spcBef>
              <a:spcAft>
                <a:spcPts val="0"/>
              </a:spcAft>
              <a:buSzPts val="1800"/>
              <a:buChar char="●"/>
            </a:pPr>
            <a:r>
              <a:rPr lang="en"/>
              <a:t>Electroencephalogram (EEG) : Brain activity</a:t>
            </a:r>
            <a:endParaRPr/>
          </a:p>
          <a:p>
            <a:pPr indent="-342900" lvl="0" marL="457200" rtl="0" algn="l">
              <a:spcBef>
                <a:spcPts val="0"/>
              </a:spcBef>
              <a:spcAft>
                <a:spcPts val="0"/>
              </a:spcAft>
              <a:buSzPts val="1800"/>
              <a:buChar char="●"/>
            </a:pPr>
            <a:r>
              <a:rPr lang="en"/>
              <a:t>Electrooculogram (EOG) : Eye movements</a:t>
            </a:r>
            <a:endParaRPr/>
          </a:p>
          <a:p>
            <a:pPr indent="-342900" lvl="0" marL="457200" rtl="0" algn="l">
              <a:spcBef>
                <a:spcPts val="0"/>
              </a:spcBef>
              <a:spcAft>
                <a:spcPts val="0"/>
              </a:spcAft>
              <a:buSzPts val="1800"/>
              <a:buChar char="●"/>
            </a:pPr>
            <a:r>
              <a:rPr lang="en"/>
              <a:t>Electromyography (EMG) : Muscle movements</a:t>
            </a:r>
            <a:endParaRPr/>
          </a:p>
          <a:p>
            <a:pPr indent="-342900" lvl="0" marL="457200" rtl="0" algn="l">
              <a:spcBef>
                <a:spcPts val="0"/>
              </a:spcBef>
              <a:spcAft>
                <a:spcPts val="0"/>
              </a:spcAft>
              <a:buSzPts val="1800"/>
              <a:buChar char="●"/>
            </a:pPr>
            <a:r>
              <a:rPr lang="en"/>
              <a:t>Electrocardiogram (ECG) : Heart activity</a:t>
            </a:r>
            <a:endParaRPr/>
          </a:p>
          <a:p>
            <a:pPr indent="-342900" lvl="0" marL="457200" rtl="0" algn="l">
              <a:spcBef>
                <a:spcPts val="0"/>
              </a:spcBef>
              <a:spcAft>
                <a:spcPts val="0"/>
              </a:spcAft>
              <a:buSzPts val="1800"/>
              <a:buChar char="●"/>
            </a:pPr>
            <a:r>
              <a:rPr lang="en"/>
              <a:t>Thoracic movement</a:t>
            </a:r>
            <a:endParaRPr/>
          </a:p>
          <a:p>
            <a:pPr indent="-342900" lvl="0" marL="457200" rtl="0" algn="l">
              <a:spcBef>
                <a:spcPts val="0"/>
              </a:spcBef>
              <a:spcAft>
                <a:spcPts val="0"/>
              </a:spcAft>
              <a:buSzPts val="1800"/>
              <a:buChar char="●"/>
            </a:pPr>
            <a:r>
              <a:rPr lang="en"/>
              <a:t>Abdomen movement</a:t>
            </a:r>
            <a:endParaRPr/>
          </a:p>
          <a:p>
            <a:pPr indent="-342900" lvl="0" marL="457200" rtl="0" algn="l">
              <a:spcBef>
                <a:spcPts val="0"/>
              </a:spcBef>
              <a:spcAft>
                <a:spcPts val="0"/>
              </a:spcAft>
              <a:buSzPts val="1800"/>
              <a:buChar char="●"/>
            </a:pPr>
            <a:r>
              <a:rPr lang="en"/>
              <a:t>Peripheral Capillary Oxygen Saturation (SpO2) : Blood oxygen level</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0" name="Shape 90"/>
        <p:cNvGrpSpPr/>
        <p:nvPr/>
      </p:nvGrpSpPr>
      <p:grpSpPr>
        <a:xfrm>
          <a:off x="0" y="0"/>
          <a:ext cx="0" cy="0"/>
          <a:chOff x="0" y="0"/>
          <a:chExt cx="0" cy="0"/>
        </a:xfrm>
      </p:grpSpPr>
      <p:sp>
        <p:nvSpPr>
          <p:cNvPr id="91" name="Google Shape;91;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Desired output</a:t>
            </a:r>
            <a:endParaRPr/>
          </a:p>
        </p:txBody>
      </p:sp>
      <p:sp>
        <p:nvSpPr>
          <p:cNvPr id="92" name="Google Shape;92;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List of diseases the patient is at risk of based on the sleep data</a:t>
            </a:r>
            <a:endParaRPr/>
          </a:p>
          <a:p>
            <a:pPr indent="-342900" lvl="0" marL="457200" rtl="0" algn="l">
              <a:spcBef>
                <a:spcPts val="0"/>
              </a:spcBef>
              <a:spcAft>
                <a:spcPts val="0"/>
              </a:spcAft>
              <a:buSzPts val="1800"/>
              <a:buChar char="●"/>
            </a:pPr>
            <a:r>
              <a:rPr lang="en"/>
              <a:t>Risk score for each disease </a:t>
            </a:r>
            <a:endParaRPr/>
          </a:p>
          <a:p>
            <a:pPr indent="0" lvl="0" marL="0" rtl="0" algn="l">
              <a:spcBef>
                <a:spcPts val="1200"/>
              </a:spcBef>
              <a:spcAft>
                <a:spcPts val="0"/>
              </a:spcAft>
              <a:buNone/>
            </a:pPr>
            <a:r>
              <a:rPr b="1" lang="en" u="sng"/>
              <a:t>Key diseases</a:t>
            </a:r>
            <a:endParaRPr b="1" u="sng"/>
          </a:p>
          <a:p>
            <a:pPr indent="-342900" lvl="0" marL="457200" rtl="0" algn="l">
              <a:spcBef>
                <a:spcPts val="1200"/>
              </a:spcBef>
              <a:spcAft>
                <a:spcPts val="0"/>
              </a:spcAft>
              <a:buSzPts val="1800"/>
              <a:buChar char="●"/>
            </a:pPr>
            <a:r>
              <a:rPr b="1" lang="en"/>
              <a:t>Cardiac diseases : </a:t>
            </a:r>
            <a:r>
              <a:rPr lang="en"/>
              <a:t>Angina, chronic obstructive pulmonary disease, etc</a:t>
            </a:r>
            <a:endParaRPr/>
          </a:p>
          <a:p>
            <a:pPr indent="-342900" lvl="0" marL="457200" rtl="0" algn="l">
              <a:spcBef>
                <a:spcPts val="0"/>
              </a:spcBef>
              <a:spcAft>
                <a:spcPts val="0"/>
              </a:spcAft>
              <a:buSzPts val="1800"/>
              <a:buChar char="●"/>
            </a:pPr>
            <a:r>
              <a:rPr b="1" lang="en"/>
              <a:t>Respiratory conditions: </a:t>
            </a:r>
            <a:r>
              <a:rPr lang="en"/>
              <a:t>Asthma, Chronic Bronchitis, Thyroid disorder</a:t>
            </a:r>
            <a:endParaRPr/>
          </a:p>
          <a:p>
            <a:pPr indent="-342900" lvl="0" marL="457200" rtl="0" algn="l">
              <a:spcBef>
                <a:spcPts val="0"/>
              </a:spcBef>
              <a:spcAft>
                <a:spcPts val="0"/>
              </a:spcAft>
              <a:buSzPts val="1800"/>
              <a:buChar char="●"/>
            </a:pPr>
            <a:r>
              <a:rPr b="1" lang="en"/>
              <a:t>Mental disorders :</a:t>
            </a:r>
            <a:r>
              <a:rPr lang="en"/>
              <a:t> Hypertension, Depression, Anxiety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6" name="Shape 96"/>
        <p:cNvGrpSpPr/>
        <p:nvPr/>
      </p:nvGrpSpPr>
      <p:grpSpPr>
        <a:xfrm>
          <a:off x="0" y="0"/>
          <a:ext cx="0" cy="0"/>
          <a:chOff x="0" y="0"/>
          <a:chExt cx="0" cy="0"/>
        </a:xfrm>
      </p:grpSpPr>
      <p:sp>
        <p:nvSpPr>
          <p:cNvPr id="97" name="Google Shape;97;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Research Objectives</a:t>
            </a:r>
            <a:endParaRPr/>
          </a:p>
          <a:p>
            <a:pPr indent="0" lvl="0" marL="0" rtl="0" algn="l">
              <a:spcBef>
                <a:spcPts val="0"/>
              </a:spcBef>
              <a:spcAft>
                <a:spcPts val="0"/>
              </a:spcAft>
              <a:buNone/>
            </a:pPr>
            <a:r>
              <a:t/>
            </a:r>
            <a:endParaRPr/>
          </a:p>
        </p:txBody>
      </p:sp>
      <p:sp>
        <p:nvSpPr>
          <p:cNvPr id="98" name="Google Shape;98;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Generate an lightweight architecture to deploy on low-end systems and to promote green AI.</a:t>
            </a:r>
            <a:endParaRPr/>
          </a:p>
          <a:p>
            <a:pPr indent="-342900" lvl="0" marL="457200" rtl="0" algn="l">
              <a:spcBef>
                <a:spcPts val="0"/>
              </a:spcBef>
              <a:spcAft>
                <a:spcPts val="0"/>
              </a:spcAft>
              <a:buSzPts val="1800"/>
              <a:buChar char="●"/>
            </a:pPr>
            <a:r>
              <a:rPr lang="en"/>
              <a:t>Generalize the population representation by harmonizing multiple datasets from different cohorts.</a:t>
            </a:r>
            <a:endParaRPr/>
          </a:p>
          <a:p>
            <a:pPr indent="-342900" lvl="0" marL="457200" rtl="0" algn="l">
              <a:spcBef>
                <a:spcPts val="0"/>
              </a:spcBef>
              <a:spcAft>
                <a:spcPts val="0"/>
              </a:spcAft>
              <a:buSzPts val="1800"/>
              <a:buChar char="●"/>
            </a:pPr>
            <a:r>
              <a:rPr lang="en"/>
              <a:t>Provide </a:t>
            </a:r>
            <a:r>
              <a:rPr lang="en"/>
              <a:t>risk profiles for under represented ailments such as mental disorders which has a negative perception or social stigma for diagnosing in the Indian community.</a:t>
            </a:r>
            <a:endParaRPr/>
          </a:p>
          <a:p>
            <a:pPr indent="-342900" lvl="0" marL="457200" rtl="0" algn="l">
              <a:spcBef>
                <a:spcPts val="0"/>
              </a:spcBef>
              <a:spcAft>
                <a:spcPts val="0"/>
              </a:spcAft>
              <a:buSzPts val="1800"/>
              <a:buChar char="●"/>
            </a:pPr>
            <a:r>
              <a:rPr lang="en"/>
              <a:t>Experimentation between various search strategies for NAS such as DARTS, RL, Genetic/Hierarchical, Random search.</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2" name="Shape 102"/>
        <p:cNvGrpSpPr/>
        <p:nvPr/>
      </p:nvGrpSpPr>
      <p:grpSpPr>
        <a:xfrm>
          <a:off x="0" y="0"/>
          <a:ext cx="0" cy="0"/>
          <a:chOff x="0" y="0"/>
          <a:chExt cx="0" cy="0"/>
        </a:xfrm>
      </p:grpSpPr>
      <p:sp>
        <p:nvSpPr>
          <p:cNvPr id="103" name="Google Shape;103;p21"/>
          <p:cNvSpPr txBox="1"/>
          <p:nvPr>
            <p:ph type="title"/>
          </p:nvPr>
        </p:nvSpPr>
        <p:spPr>
          <a:xfrm>
            <a:off x="311700" y="2454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Project Outcomes</a:t>
            </a:r>
            <a:endParaRPr/>
          </a:p>
        </p:txBody>
      </p:sp>
      <p:sp>
        <p:nvSpPr>
          <p:cNvPr id="104" name="Google Shape;104;p21"/>
          <p:cNvSpPr txBox="1"/>
          <p:nvPr>
            <p:ph idx="1" type="body"/>
          </p:nvPr>
        </p:nvSpPr>
        <p:spPr>
          <a:xfrm>
            <a:off x="311700" y="818100"/>
            <a:ext cx="8520600" cy="4130700"/>
          </a:xfrm>
          <a:prstGeom prst="rect">
            <a:avLst/>
          </a:prstGeom>
        </p:spPr>
        <p:txBody>
          <a:bodyPr anchorCtr="0" anchor="t" bIns="91425" lIns="91425" spcFirstLastPara="1" rIns="91425" wrap="square" tIns="91425">
            <a:normAutofit fontScale="92500" lnSpcReduction="20000"/>
          </a:bodyPr>
          <a:lstStyle/>
          <a:p>
            <a:pPr indent="-334328" lvl="0" marL="457200" rtl="0" algn="l">
              <a:spcBef>
                <a:spcPts val="0"/>
              </a:spcBef>
              <a:spcAft>
                <a:spcPts val="0"/>
              </a:spcAft>
              <a:buSzPct val="100000"/>
              <a:buChar char="●"/>
            </a:pPr>
            <a:r>
              <a:rPr lang="en"/>
              <a:t>A functional software tool capable of analyzing health risks in elderly individuals using multidimensional PSG data.</a:t>
            </a:r>
            <a:br>
              <a:rPr lang="en"/>
            </a:br>
            <a:endParaRPr/>
          </a:p>
          <a:p>
            <a:pPr indent="-334328" lvl="0" marL="457200" rtl="0" algn="l">
              <a:spcBef>
                <a:spcPts val="0"/>
              </a:spcBef>
              <a:spcAft>
                <a:spcPts val="0"/>
              </a:spcAft>
              <a:buSzPct val="100000"/>
              <a:buChar char="●"/>
            </a:pPr>
            <a:r>
              <a:rPr lang="en"/>
              <a:t>A lightweight multimodal fusion model identified through a custom RL-based Neural Architecture Search framework.</a:t>
            </a:r>
            <a:br>
              <a:rPr lang="en"/>
            </a:br>
            <a:endParaRPr/>
          </a:p>
          <a:p>
            <a:pPr indent="-334328" lvl="0" marL="457200" rtl="0" algn="l">
              <a:spcBef>
                <a:spcPts val="0"/>
              </a:spcBef>
              <a:spcAft>
                <a:spcPts val="0"/>
              </a:spcAft>
              <a:buSzPct val="100000"/>
              <a:buChar char="●"/>
            </a:pPr>
            <a:r>
              <a:rPr lang="en"/>
              <a:t>Accurate prediction and profiling of health risks for various chronic diseases and disorders, including cardiovascular, respiratory, and mental health conditions.</a:t>
            </a:r>
            <a:br>
              <a:rPr lang="en"/>
            </a:br>
            <a:endParaRPr/>
          </a:p>
          <a:p>
            <a:pPr indent="-334328" lvl="0" marL="457200" rtl="0" algn="l">
              <a:spcBef>
                <a:spcPts val="0"/>
              </a:spcBef>
              <a:spcAft>
                <a:spcPts val="0"/>
              </a:spcAft>
              <a:buSzPct val="100000"/>
              <a:buChar char="●"/>
            </a:pPr>
            <a:r>
              <a:rPr lang="en"/>
              <a:t>Demonstrated capability for efficient deployment on low-end systems without loss of performance.</a:t>
            </a:r>
            <a:br>
              <a:rPr lang="en"/>
            </a:br>
            <a:endParaRPr/>
          </a:p>
          <a:p>
            <a:pPr indent="-334328" lvl="0" marL="457200" rtl="0" algn="l">
              <a:spcBef>
                <a:spcPts val="0"/>
              </a:spcBef>
              <a:spcAft>
                <a:spcPts val="0"/>
              </a:spcAft>
              <a:buSzPct val="100000"/>
              <a:buChar char="●"/>
            </a:pPr>
            <a:r>
              <a:rPr lang="en"/>
              <a:t>Contribution toward early detection and awareness of underrepresented conditions, including mental health risks.</a:t>
            </a:r>
            <a:br>
              <a:rPr lang="en"/>
            </a:br>
            <a:endParaRPr/>
          </a:p>
          <a:p>
            <a:pPr indent="-334328" lvl="0" marL="457200" rtl="0" algn="l">
              <a:spcBef>
                <a:spcPts val="0"/>
              </a:spcBef>
              <a:spcAft>
                <a:spcPts val="0"/>
              </a:spcAft>
              <a:buSzPct val="100000"/>
              <a:buChar char="●"/>
            </a:pPr>
            <a:r>
              <a:rPr lang="en"/>
              <a:t>A generalized AI model that is </a:t>
            </a:r>
            <a:r>
              <a:rPr lang="en"/>
              <a:t>underrepresented</a:t>
            </a:r>
            <a:r>
              <a:rPr lang="en"/>
              <a:t> by any demographic cohorts.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8" name="Shape 108"/>
        <p:cNvGrpSpPr/>
        <p:nvPr/>
      </p:nvGrpSpPr>
      <p:grpSpPr>
        <a:xfrm>
          <a:off x="0" y="0"/>
          <a:ext cx="0" cy="0"/>
          <a:chOff x="0" y="0"/>
          <a:chExt cx="0" cy="0"/>
        </a:xfrm>
      </p:grpSpPr>
      <p:sp>
        <p:nvSpPr>
          <p:cNvPr id="109" name="Google Shape;109;p22"/>
          <p:cNvSpPr txBox="1"/>
          <p:nvPr>
            <p:ph type="title"/>
          </p:nvPr>
        </p:nvSpPr>
        <p:spPr>
          <a:xfrm>
            <a:off x="793031" y="187931"/>
            <a:ext cx="2309400" cy="10173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a:t>Modules</a:t>
            </a:r>
            <a:endParaRPr/>
          </a:p>
        </p:txBody>
      </p:sp>
      <p:sp>
        <p:nvSpPr>
          <p:cNvPr id="110" name="Google Shape;110;p22"/>
          <p:cNvSpPr txBox="1"/>
          <p:nvPr>
            <p:ph idx="1" type="body"/>
          </p:nvPr>
        </p:nvSpPr>
        <p:spPr>
          <a:xfrm>
            <a:off x="199775" y="1205150"/>
            <a:ext cx="4106100" cy="3407700"/>
          </a:xfrm>
          <a:prstGeom prst="rect">
            <a:avLst/>
          </a:prstGeom>
          <a:ln>
            <a:noFill/>
          </a:ln>
        </p:spPr>
        <p:txBody>
          <a:bodyPr anchorCtr="0" anchor="t" bIns="34275" lIns="68575" spcFirstLastPara="1" rIns="68575" wrap="square" tIns="34275">
            <a:normAutofit/>
          </a:bodyPr>
          <a:lstStyle/>
          <a:p>
            <a:pPr indent="-254000" lvl="0" marL="342900" rtl="0" algn="l">
              <a:spcBef>
                <a:spcPts val="800"/>
              </a:spcBef>
              <a:spcAft>
                <a:spcPts val="0"/>
              </a:spcAft>
              <a:buSzPts val="1400"/>
              <a:buChar char="●"/>
            </a:pPr>
            <a:r>
              <a:rPr lang="en">
                <a:solidFill>
                  <a:schemeClr val="dk1"/>
                </a:solidFill>
                <a:highlight>
                  <a:srgbClr val="6AA84F"/>
                </a:highlight>
              </a:rPr>
              <a:t>Data Harmonization</a:t>
            </a:r>
            <a:endParaRPr>
              <a:solidFill>
                <a:schemeClr val="dk1"/>
              </a:solidFill>
              <a:highlight>
                <a:srgbClr val="6AA84F"/>
              </a:highlight>
            </a:endParaRPr>
          </a:p>
          <a:p>
            <a:pPr indent="-254000" lvl="0" marL="342900" rtl="0" algn="l">
              <a:spcBef>
                <a:spcPts val="0"/>
              </a:spcBef>
              <a:spcAft>
                <a:spcPts val="0"/>
              </a:spcAft>
              <a:buSzPts val="1400"/>
              <a:buChar char="●"/>
            </a:pPr>
            <a:r>
              <a:rPr lang="en">
                <a:solidFill>
                  <a:schemeClr val="dk1"/>
                </a:solidFill>
                <a:highlight>
                  <a:srgbClr val="6AA84F"/>
                </a:highlight>
              </a:rPr>
              <a:t>Architecture and System Design</a:t>
            </a:r>
            <a:endParaRPr>
              <a:solidFill>
                <a:schemeClr val="dk1"/>
              </a:solidFill>
              <a:highlight>
                <a:srgbClr val="6AA84F"/>
              </a:highlight>
            </a:endParaRPr>
          </a:p>
          <a:p>
            <a:pPr indent="-254000" lvl="0" marL="342900" rtl="0" algn="l">
              <a:spcBef>
                <a:spcPts val="0"/>
              </a:spcBef>
              <a:spcAft>
                <a:spcPts val="0"/>
              </a:spcAft>
              <a:buSzPts val="1400"/>
              <a:buChar char="●"/>
            </a:pPr>
            <a:r>
              <a:rPr lang="en">
                <a:solidFill>
                  <a:schemeClr val="dk1"/>
                </a:solidFill>
                <a:highlight>
                  <a:srgbClr val="6AA84F"/>
                </a:highlight>
              </a:rPr>
              <a:t>Data Preprocessing</a:t>
            </a:r>
            <a:endParaRPr>
              <a:solidFill>
                <a:schemeClr val="dk1"/>
              </a:solidFill>
              <a:highlight>
                <a:srgbClr val="6AA84F"/>
              </a:highlight>
            </a:endParaRPr>
          </a:p>
          <a:p>
            <a:pPr indent="-254000" lvl="0" marL="342900" rtl="0" algn="l">
              <a:spcBef>
                <a:spcPts val="0"/>
              </a:spcBef>
              <a:spcAft>
                <a:spcPts val="0"/>
              </a:spcAft>
              <a:buSzPts val="1400"/>
              <a:buChar char="●"/>
            </a:pPr>
            <a:r>
              <a:rPr lang="en">
                <a:solidFill>
                  <a:schemeClr val="dk1"/>
                </a:solidFill>
                <a:highlight>
                  <a:srgbClr val="D9EAD3"/>
                </a:highlight>
              </a:rPr>
              <a:t>Feature Extraction</a:t>
            </a:r>
            <a:endParaRPr>
              <a:solidFill>
                <a:schemeClr val="dk1"/>
              </a:solidFill>
              <a:highlight>
                <a:srgbClr val="D9EAD3"/>
              </a:highlight>
            </a:endParaRPr>
          </a:p>
          <a:p>
            <a:pPr indent="-254000" lvl="0" marL="342900" rtl="0" algn="l">
              <a:spcBef>
                <a:spcPts val="0"/>
              </a:spcBef>
              <a:spcAft>
                <a:spcPts val="0"/>
              </a:spcAft>
              <a:buSzPts val="1400"/>
              <a:buChar char="●"/>
            </a:pPr>
            <a:r>
              <a:rPr lang="en">
                <a:solidFill>
                  <a:schemeClr val="dk1"/>
                </a:solidFill>
                <a:highlight>
                  <a:srgbClr val="6AA84F"/>
                </a:highlight>
              </a:rPr>
              <a:t>ENAS Optimization</a:t>
            </a:r>
            <a:endParaRPr>
              <a:solidFill>
                <a:schemeClr val="dk1"/>
              </a:solidFill>
              <a:highlight>
                <a:srgbClr val="6AA84F"/>
              </a:highlight>
            </a:endParaRPr>
          </a:p>
          <a:p>
            <a:pPr indent="-254000" lvl="0" marL="342900" rtl="0" algn="l">
              <a:spcBef>
                <a:spcPts val="0"/>
              </a:spcBef>
              <a:spcAft>
                <a:spcPts val="0"/>
              </a:spcAft>
              <a:buSzPts val="1400"/>
              <a:buChar char="●"/>
            </a:pPr>
            <a:r>
              <a:rPr lang="en">
                <a:solidFill>
                  <a:schemeClr val="dk1"/>
                </a:solidFill>
                <a:highlight>
                  <a:srgbClr val="D9EAD3"/>
                </a:highlight>
              </a:rPr>
              <a:t>Model Training and Evaluation</a:t>
            </a:r>
            <a:endParaRPr>
              <a:solidFill>
                <a:schemeClr val="dk1"/>
              </a:solidFill>
              <a:highlight>
                <a:srgbClr val="D9EAD3"/>
              </a:highlight>
            </a:endParaRPr>
          </a:p>
          <a:p>
            <a:pPr indent="-254000" lvl="0" marL="342900" rtl="0" algn="l">
              <a:spcBef>
                <a:spcPts val="0"/>
              </a:spcBef>
              <a:spcAft>
                <a:spcPts val="0"/>
              </a:spcAft>
              <a:buSzPts val="1400"/>
              <a:buChar char="●"/>
            </a:pPr>
            <a:r>
              <a:rPr lang="en">
                <a:solidFill>
                  <a:schemeClr val="dk1"/>
                </a:solidFill>
              </a:rPr>
              <a:t>Electron </a:t>
            </a:r>
            <a:r>
              <a:rPr lang="en">
                <a:solidFill>
                  <a:schemeClr val="dk1"/>
                </a:solidFill>
              </a:rPr>
              <a:t>Development</a:t>
            </a:r>
            <a:endParaRPr>
              <a:solidFill>
                <a:schemeClr val="dk1"/>
              </a:solidFill>
            </a:endParaRPr>
          </a:p>
          <a:p>
            <a:pPr indent="-254000" lvl="0" marL="342900" rtl="0" algn="l">
              <a:spcBef>
                <a:spcPts val="0"/>
              </a:spcBef>
              <a:spcAft>
                <a:spcPts val="0"/>
              </a:spcAft>
              <a:buSzPts val="1400"/>
              <a:buChar char="●"/>
            </a:pPr>
            <a:r>
              <a:rPr lang="en">
                <a:solidFill>
                  <a:schemeClr val="dk1"/>
                </a:solidFill>
              </a:rPr>
              <a:t>Model Integration</a:t>
            </a:r>
            <a:endParaRPr>
              <a:solidFill>
                <a:schemeClr val="dk1"/>
              </a:solidFill>
            </a:endParaRPr>
          </a:p>
          <a:p>
            <a:pPr indent="-254000" lvl="0" marL="342900" rtl="0" algn="l">
              <a:spcBef>
                <a:spcPts val="0"/>
              </a:spcBef>
              <a:spcAft>
                <a:spcPts val="0"/>
              </a:spcAft>
              <a:buSzPts val="1400"/>
              <a:buChar char="●"/>
            </a:pPr>
            <a:r>
              <a:rPr lang="en">
                <a:solidFill>
                  <a:schemeClr val="dk1"/>
                </a:solidFill>
              </a:rPr>
              <a:t>Deployment and benchmark testing</a:t>
            </a:r>
            <a:endParaRPr>
              <a:solidFill>
                <a:schemeClr val="dk1"/>
              </a:solidFill>
            </a:endParaRPr>
          </a:p>
        </p:txBody>
      </p:sp>
      <p:sp>
        <p:nvSpPr>
          <p:cNvPr id="111" name="Google Shape;111;p22"/>
          <p:cNvSpPr/>
          <p:nvPr/>
        </p:nvSpPr>
        <p:spPr>
          <a:xfrm>
            <a:off x="4599375" y="287531"/>
            <a:ext cx="4462500" cy="469800"/>
          </a:xfrm>
          <a:prstGeom prst="rect">
            <a:avLst/>
          </a:prstGeom>
          <a:solidFill>
            <a:schemeClr val="lt2"/>
          </a:solidFill>
          <a:ln cap="flat" cmpd="sng" w="7150">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1100"/>
              <a:t>Channel Aggregation, Feature selections</a:t>
            </a:r>
            <a:endParaRPr sz="1100"/>
          </a:p>
        </p:txBody>
      </p:sp>
      <p:sp>
        <p:nvSpPr>
          <p:cNvPr id="112" name="Google Shape;112;p22"/>
          <p:cNvSpPr/>
          <p:nvPr/>
        </p:nvSpPr>
        <p:spPr>
          <a:xfrm>
            <a:off x="4599375" y="865181"/>
            <a:ext cx="4462500" cy="469800"/>
          </a:xfrm>
          <a:prstGeom prst="rect">
            <a:avLst/>
          </a:prstGeom>
          <a:solidFill>
            <a:schemeClr val="lt2"/>
          </a:solidFill>
          <a:ln cap="flat" cmpd="sng" w="7150">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1100"/>
              <a:t>Functional and non functional requirements, module specifications, database in system, frontend design, HLD and LLD</a:t>
            </a:r>
            <a:endParaRPr sz="1100"/>
          </a:p>
        </p:txBody>
      </p:sp>
      <p:sp>
        <p:nvSpPr>
          <p:cNvPr id="113" name="Google Shape;113;p22"/>
          <p:cNvSpPr/>
          <p:nvPr/>
        </p:nvSpPr>
        <p:spPr>
          <a:xfrm>
            <a:off x="4599375" y="1442831"/>
            <a:ext cx="4462500" cy="469800"/>
          </a:xfrm>
          <a:prstGeom prst="rect">
            <a:avLst/>
          </a:prstGeom>
          <a:solidFill>
            <a:schemeClr val="lt2"/>
          </a:solidFill>
          <a:ln cap="flat" cmpd="sng" w="7150">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1100"/>
              <a:t>channel resampling, artifact removal, bandpass filtering, interpolation</a:t>
            </a:r>
            <a:endParaRPr sz="1100"/>
          </a:p>
        </p:txBody>
      </p:sp>
      <p:sp>
        <p:nvSpPr>
          <p:cNvPr id="114" name="Google Shape;114;p22"/>
          <p:cNvSpPr/>
          <p:nvPr/>
        </p:nvSpPr>
        <p:spPr>
          <a:xfrm>
            <a:off x="4599375" y="2020481"/>
            <a:ext cx="4462500" cy="469800"/>
          </a:xfrm>
          <a:prstGeom prst="rect">
            <a:avLst/>
          </a:prstGeom>
          <a:solidFill>
            <a:schemeClr val="lt2"/>
          </a:solidFill>
          <a:ln cap="flat" cmpd="sng" w="7150">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1100"/>
              <a:t>channel merging, segment level feature extraction, concatenation, full night feature extraction, VAE, embeddings generation</a:t>
            </a:r>
            <a:endParaRPr sz="1100"/>
          </a:p>
        </p:txBody>
      </p:sp>
      <p:sp>
        <p:nvSpPr>
          <p:cNvPr id="115" name="Google Shape;115;p22"/>
          <p:cNvSpPr/>
          <p:nvPr/>
        </p:nvSpPr>
        <p:spPr>
          <a:xfrm>
            <a:off x="4599375" y="3144413"/>
            <a:ext cx="4462500" cy="1165200"/>
          </a:xfrm>
          <a:prstGeom prst="rect">
            <a:avLst/>
          </a:prstGeom>
          <a:solidFill>
            <a:schemeClr val="lt2"/>
          </a:solidFill>
          <a:ln cap="flat" cmpd="sng" w="7150">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1100"/>
              <a:t>search space with convs, dilated convs, lstm, pooling, attention etc.</a:t>
            </a:r>
            <a:endParaRPr sz="1100"/>
          </a:p>
          <a:p>
            <a:pPr indent="0" lvl="0" marL="0" rtl="0" algn="ctr">
              <a:spcBef>
                <a:spcPts val="0"/>
              </a:spcBef>
              <a:spcAft>
                <a:spcPts val="0"/>
              </a:spcAft>
              <a:buNone/>
            </a:pPr>
            <a:r>
              <a:rPr lang="en" sz="1100"/>
              <a:t>search strategy: mainly DART and RL based is explored</a:t>
            </a:r>
            <a:endParaRPr sz="1100"/>
          </a:p>
          <a:p>
            <a:pPr indent="0" lvl="0" marL="0" rtl="0" algn="ctr">
              <a:spcBef>
                <a:spcPts val="0"/>
              </a:spcBef>
              <a:spcAft>
                <a:spcPts val="0"/>
              </a:spcAft>
              <a:buNone/>
            </a:pPr>
            <a:r>
              <a:rPr lang="en" sz="1100"/>
              <a:t>Estimation strategy: full evaluation and partial evaluation is tested</a:t>
            </a:r>
            <a:endParaRPr sz="1100"/>
          </a:p>
          <a:p>
            <a:pPr indent="0" lvl="0" marL="0" rtl="0" algn="l">
              <a:spcBef>
                <a:spcPts val="0"/>
              </a:spcBef>
              <a:spcAft>
                <a:spcPts val="0"/>
              </a:spcAft>
              <a:buNone/>
            </a:pPr>
            <a:r>
              <a:rPr lang="en" sz="1100"/>
              <a:t>performance estimation: parameter count and flops estimation, zero-cost proxies are used</a:t>
            </a:r>
            <a:endParaRPr sz="1100"/>
          </a:p>
          <a:p>
            <a:pPr indent="0" lvl="0" marL="0" rtl="0" algn="l">
              <a:spcBef>
                <a:spcPts val="0"/>
              </a:spcBef>
              <a:spcAft>
                <a:spcPts val="0"/>
              </a:spcAft>
              <a:buNone/>
            </a:pPr>
            <a:r>
              <a:rPr lang="en" sz="1100"/>
              <a:t>RL based search uses REINFORCE</a:t>
            </a:r>
            <a:endParaRPr sz="1100"/>
          </a:p>
        </p:txBody>
      </p:sp>
      <p:sp>
        <p:nvSpPr>
          <p:cNvPr id="116" name="Google Shape;116;p22"/>
          <p:cNvSpPr/>
          <p:nvPr/>
        </p:nvSpPr>
        <p:spPr>
          <a:xfrm>
            <a:off x="4599375" y="2598131"/>
            <a:ext cx="4462500" cy="469800"/>
          </a:xfrm>
          <a:prstGeom prst="rect">
            <a:avLst/>
          </a:prstGeom>
          <a:solidFill>
            <a:schemeClr val="lt2"/>
          </a:solidFill>
          <a:ln cap="flat" cmpd="sng" w="7150">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1100"/>
              <a:t>Electron</a:t>
            </a:r>
            <a:r>
              <a:rPr lang="en" sz="1100"/>
              <a:t> is used to develop the browserless application, it will use js based coding for frontend, the optimized model will run locally on the gpu, backend is also kept locally</a:t>
            </a:r>
            <a:endParaRPr sz="1100"/>
          </a:p>
        </p:txBody>
      </p:sp>
      <p:sp>
        <p:nvSpPr>
          <p:cNvPr id="117" name="Google Shape;117;p22"/>
          <p:cNvSpPr/>
          <p:nvPr/>
        </p:nvSpPr>
        <p:spPr>
          <a:xfrm>
            <a:off x="4599375" y="4386169"/>
            <a:ext cx="4462500" cy="469800"/>
          </a:xfrm>
          <a:prstGeom prst="rect">
            <a:avLst/>
          </a:prstGeom>
          <a:solidFill>
            <a:schemeClr val="lt2"/>
          </a:solidFill>
          <a:ln cap="flat" cmpd="sng" w="7150">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1100"/>
              <a:t>need to make the application portable, package requirements, gpu-less environment is also considered, setup file</a:t>
            </a:r>
            <a:endParaRPr sz="11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1" name="Shape 121"/>
        <p:cNvGrpSpPr/>
        <p:nvPr/>
      </p:nvGrpSpPr>
      <p:grpSpPr>
        <a:xfrm>
          <a:off x="0" y="0"/>
          <a:ext cx="0" cy="0"/>
          <a:chOff x="0" y="0"/>
          <a:chExt cx="0" cy="0"/>
        </a:xfrm>
      </p:grpSpPr>
      <p:sp>
        <p:nvSpPr>
          <p:cNvPr id="122" name="Google Shape;122;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Expected Milestones and Timeline</a:t>
            </a:r>
            <a:endParaRPr/>
          </a:p>
        </p:txBody>
      </p:sp>
      <p:grpSp>
        <p:nvGrpSpPr>
          <p:cNvPr id="123" name="Google Shape;123;p23"/>
          <p:cNvGrpSpPr/>
          <p:nvPr/>
        </p:nvGrpSpPr>
        <p:grpSpPr>
          <a:xfrm>
            <a:off x="311677" y="1307213"/>
            <a:ext cx="8391015" cy="2948346"/>
            <a:chOff x="1134675" y="1391276"/>
            <a:chExt cx="6719262" cy="2360943"/>
          </a:xfrm>
        </p:grpSpPr>
        <p:sp>
          <p:nvSpPr>
            <p:cNvPr id="124" name="Google Shape;124;p23"/>
            <p:cNvSpPr txBox="1"/>
            <p:nvPr/>
          </p:nvSpPr>
          <p:spPr>
            <a:xfrm>
              <a:off x="1224063" y="1391276"/>
              <a:ext cx="1318500" cy="985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992">
                  <a:solidFill>
                    <a:srgbClr val="4F4B5F"/>
                  </a:solidFill>
                  <a:latin typeface="Chakra Petch"/>
                  <a:ea typeface="Chakra Petch"/>
                  <a:cs typeface="Chakra Petch"/>
                  <a:sym typeface="Chakra Petch"/>
                </a:rPr>
                <a:t>01</a:t>
              </a:r>
              <a:endParaRPr b="1" sz="7992">
                <a:solidFill>
                  <a:srgbClr val="4F4B5F"/>
                </a:solidFill>
                <a:latin typeface="Chakra Petch"/>
                <a:ea typeface="Chakra Petch"/>
                <a:cs typeface="Chakra Petch"/>
                <a:sym typeface="Chakra Petch"/>
              </a:endParaRPr>
            </a:p>
          </p:txBody>
        </p:sp>
        <p:cxnSp>
          <p:nvCxnSpPr>
            <p:cNvPr id="125" name="Google Shape;125;p23"/>
            <p:cNvCxnSpPr/>
            <p:nvPr/>
          </p:nvCxnSpPr>
          <p:spPr>
            <a:xfrm>
              <a:off x="1134675" y="1528325"/>
              <a:ext cx="0" cy="2129100"/>
            </a:xfrm>
            <a:prstGeom prst="straightConnector1">
              <a:avLst/>
            </a:prstGeom>
            <a:noFill/>
            <a:ln cap="flat" cmpd="sng" w="23800">
              <a:solidFill>
                <a:srgbClr val="D9D9D9"/>
              </a:solidFill>
              <a:prstDash val="solid"/>
              <a:round/>
              <a:headEnd len="med" w="med" type="none"/>
              <a:tailEnd len="med" w="med" type="none"/>
            </a:ln>
          </p:spPr>
        </p:cxnSp>
        <p:sp>
          <p:nvSpPr>
            <p:cNvPr id="126" name="Google Shape;126;p23"/>
            <p:cNvSpPr txBox="1"/>
            <p:nvPr/>
          </p:nvSpPr>
          <p:spPr>
            <a:xfrm>
              <a:off x="1224050" y="2896550"/>
              <a:ext cx="1318500" cy="492600"/>
            </a:xfrm>
            <a:prstGeom prst="rect">
              <a:avLst/>
            </a:prstGeom>
            <a:noFill/>
            <a:ln>
              <a:noFill/>
            </a:ln>
          </p:spPr>
          <p:txBody>
            <a:bodyPr anchorCtr="0" anchor="t" bIns="0" lIns="0" spcFirstLastPara="1" rIns="114175" wrap="square" tIns="0">
              <a:noAutofit/>
            </a:bodyPr>
            <a:lstStyle/>
            <a:p>
              <a:pPr indent="0" lvl="0" marL="0" rtl="0" algn="l">
                <a:spcBef>
                  <a:spcPts val="0"/>
                </a:spcBef>
                <a:spcAft>
                  <a:spcPts val="0"/>
                </a:spcAft>
                <a:buNone/>
              </a:pPr>
              <a:r>
                <a:rPr lang="en" sz="999">
                  <a:solidFill>
                    <a:srgbClr val="4F4B5F"/>
                  </a:solidFill>
                  <a:latin typeface="Red Hat Text"/>
                  <a:ea typeface="Red Hat Text"/>
                  <a:cs typeface="Red Hat Text"/>
                  <a:sym typeface="Red Hat Text"/>
                </a:rPr>
                <a:t>Merged diverse datasets by identifying shared channels</a:t>
              </a:r>
              <a:endParaRPr sz="999">
                <a:solidFill>
                  <a:srgbClr val="4F4B5F"/>
                </a:solidFill>
                <a:latin typeface="Red Hat Text"/>
                <a:ea typeface="Red Hat Text"/>
                <a:cs typeface="Red Hat Text"/>
                <a:sym typeface="Red Hat Text"/>
              </a:endParaRPr>
            </a:p>
          </p:txBody>
        </p:sp>
        <p:sp>
          <p:nvSpPr>
            <p:cNvPr id="127" name="Google Shape;127;p23"/>
            <p:cNvSpPr txBox="1"/>
            <p:nvPr/>
          </p:nvSpPr>
          <p:spPr>
            <a:xfrm>
              <a:off x="1224076" y="2403463"/>
              <a:ext cx="1491600" cy="3693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 sz="1499">
                  <a:solidFill>
                    <a:srgbClr val="4F4B5F"/>
                  </a:solidFill>
                  <a:latin typeface="Chakra Petch SemiBold"/>
                  <a:ea typeface="Chakra Petch SemiBold"/>
                  <a:cs typeface="Chakra Petch SemiBold"/>
                  <a:sym typeface="Chakra Petch SemiBold"/>
                </a:rPr>
                <a:t>DATA HARMONISATION</a:t>
              </a:r>
              <a:endParaRPr sz="1499">
                <a:solidFill>
                  <a:srgbClr val="4F4B5F"/>
                </a:solidFill>
                <a:latin typeface="Chakra Petch SemiBold"/>
                <a:ea typeface="Chakra Petch SemiBold"/>
                <a:cs typeface="Chakra Petch SemiBold"/>
                <a:sym typeface="Chakra Petch SemiBold"/>
              </a:endParaRPr>
            </a:p>
          </p:txBody>
        </p:sp>
        <p:sp>
          <p:nvSpPr>
            <p:cNvPr id="128" name="Google Shape;128;p23"/>
            <p:cNvSpPr txBox="1"/>
            <p:nvPr/>
          </p:nvSpPr>
          <p:spPr>
            <a:xfrm>
              <a:off x="2990737" y="2767019"/>
              <a:ext cx="1318500" cy="985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992">
                  <a:solidFill>
                    <a:srgbClr val="1D5930"/>
                  </a:solidFill>
                  <a:latin typeface="Chakra Petch"/>
                  <a:ea typeface="Chakra Petch"/>
                  <a:cs typeface="Chakra Petch"/>
                  <a:sym typeface="Chakra Petch"/>
                </a:rPr>
                <a:t>02</a:t>
              </a:r>
              <a:endParaRPr b="1" sz="7992">
                <a:solidFill>
                  <a:srgbClr val="1D5930"/>
                </a:solidFill>
                <a:latin typeface="Chakra Petch"/>
                <a:ea typeface="Chakra Petch"/>
                <a:cs typeface="Chakra Petch"/>
                <a:sym typeface="Chakra Petch"/>
              </a:endParaRPr>
            </a:p>
          </p:txBody>
        </p:sp>
        <p:cxnSp>
          <p:nvCxnSpPr>
            <p:cNvPr id="129" name="Google Shape;129;p23"/>
            <p:cNvCxnSpPr/>
            <p:nvPr/>
          </p:nvCxnSpPr>
          <p:spPr>
            <a:xfrm>
              <a:off x="2912688" y="1504780"/>
              <a:ext cx="0" cy="2163300"/>
            </a:xfrm>
            <a:prstGeom prst="straightConnector1">
              <a:avLst/>
            </a:prstGeom>
            <a:noFill/>
            <a:ln cap="flat" cmpd="sng" w="23800">
              <a:solidFill>
                <a:srgbClr val="D9D9D9"/>
              </a:solidFill>
              <a:prstDash val="solid"/>
              <a:round/>
              <a:headEnd len="med" w="med" type="none"/>
              <a:tailEnd len="med" w="med" type="none"/>
            </a:ln>
          </p:spPr>
        </p:cxnSp>
        <p:sp>
          <p:nvSpPr>
            <p:cNvPr id="130" name="Google Shape;130;p23"/>
            <p:cNvSpPr txBox="1"/>
            <p:nvPr/>
          </p:nvSpPr>
          <p:spPr>
            <a:xfrm>
              <a:off x="2951717" y="2222238"/>
              <a:ext cx="1318500" cy="369300"/>
            </a:xfrm>
            <a:prstGeom prst="rect">
              <a:avLst/>
            </a:prstGeom>
            <a:noFill/>
            <a:ln>
              <a:noFill/>
            </a:ln>
          </p:spPr>
          <p:txBody>
            <a:bodyPr anchorCtr="0" anchor="t" bIns="0" lIns="0" spcFirstLastPara="1" rIns="114175" wrap="square" tIns="0">
              <a:noAutofit/>
            </a:bodyPr>
            <a:lstStyle/>
            <a:p>
              <a:pPr indent="0" lvl="0" marL="0" rtl="0" algn="l">
                <a:spcBef>
                  <a:spcPts val="0"/>
                </a:spcBef>
                <a:spcAft>
                  <a:spcPts val="0"/>
                </a:spcAft>
                <a:buNone/>
              </a:pPr>
              <a:r>
                <a:rPr lang="en" sz="999">
                  <a:solidFill>
                    <a:srgbClr val="4F4B5F"/>
                  </a:solidFill>
                  <a:latin typeface="Red Hat Text"/>
                  <a:ea typeface="Red Hat Text"/>
                  <a:cs typeface="Red Hat Text"/>
                  <a:sym typeface="Red Hat Text"/>
                </a:rPr>
                <a:t>Created the high-level system architecture to structure modules, workflows, and integration points</a:t>
              </a:r>
              <a:endParaRPr sz="999">
                <a:solidFill>
                  <a:srgbClr val="4F4B5F"/>
                </a:solidFill>
                <a:latin typeface="Red Hat Text"/>
                <a:ea typeface="Red Hat Text"/>
                <a:cs typeface="Red Hat Text"/>
                <a:sym typeface="Red Hat Text"/>
              </a:endParaRPr>
            </a:p>
          </p:txBody>
        </p:sp>
        <p:sp>
          <p:nvSpPr>
            <p:cNvPr id="131" name="Google Shape;131;p23"/>
            <p:cNvSpPr txBox="1"/>
            <p:nvPr/>
          </p:nvSpPr>
          <p:spPr>
            <a:xfrm>
              <a:off x="2990711" y="1677450"/>
              <a:ext cx="1515600" cy="3693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 sz="1499">
                  <a:solidFill>
                    <a:srgbClr val="1D5930"/>
                  </a:solidFill>
                  <a:latin typeface="Chakra Petch SemiBold"/>
                  <a:ea typeface="Chakra Petch SemiBold"/>
                  <a:cs typeface="Chakra Petch SemiBold"/>
                  <a:sym typeface="Chakra Petch SemiBold"/>
                </a:rPr>
                <a:t>SYSTEM ARCHITECTURE DESIGN</a:t>
              </a:r>
              <a:endParaRPr sz="1499">
                <a:solidFill>
                  <a:srgbClr val="1D5930"/>
                </a:solidFill>
                <a:latin typeface="Chakra Petch SemiBold"/>
                <a:ea typeface="Chakra Petch SemiBold"/>
                <a:cs typeface="Chakra Petch SemiBold"/>
                <a:sym typeface="Chakra Petch SemiBold"/>
              </a:endParaRPr>
            </a:p>
          </p:txBody>
        </p:sp>
        <p:sp>
          <p:nvSpPr>
            <p:cNvPr id="132" name="Google Shape;132;p23"/>
            <p:cNvSpPr txBox="1"/>
            <p:nvPr/>
          </p:nvSpPr>
          <p:spPr>
            <a:xfrm>
              <a:off x="4768763" y="1391276"/>
              <a:ext cx="1318500" cy="985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992">
                  <a:solidFill>
                    <a:srgbClr val="E5622B"/>
                  </a:solidFill>
                  <a:latin typeface="Chakra Petch"/>
                  <a:ea typeface="Chakra Petch"/>
                  <a:cs typeface="Chakra Petch"/>
                  <a:sym typeface="Chakra Petch"/>
                </a:rPr>
                <a:t>03</a:t>
              </a:r>
              <a:endParaRPr b="1" sz="7992">
                <a:solidFill>
                  <a:srgbClr val="E5622B"/>
                </a:solidFill>
                <a:latin typeface="Chakra Petch"/>
                <a:ea typeface="Chakra Petch"/>
                <a:cs typeface="Chakra Petch"/>
                <a:sym typeface="Chakra Petch"/>
              </a:endParaRPr>
            </a:p>
          </p:txBody>
        </p:sp>
        <p:cxnSp>
          <p:nvCxnSpPr>
            <p:cNvPr id="133" name="Google Shape;133;p23"/>
            <p:cNvCxnSpPr/>
            <p:nvPr/>
          </p:nvCxnSpPr>
          <p:spPr>
            <a:xfrm>
              <a:off x="4679363" y="1597763"/>
              <a:ext cx="0" cy="2055000"/>
            </a:xfrm>
            <a:prstGeom prst="straightConnector1">
              <a:avLst/>
            </a:prstGeom>
            <a:noFill/>
            <a:ln cap="flat" cmpd="sng" w="23800">
              <a:solidFill>
                <a:srgbClr val="D9D9D9"/>
              </a:solidFill>
              <a:prstDash val="solid"/>
              <a:round/>
              <a:headEnd len="med" w="med" type="none"/>
              <a:tailEnd len="med" w="med" type="none"/>
            </a:ln>
          </p:spPr>
        </p:cxnSp>
        <p:sp>
          <p:nvSpPr>
            <p:cNvPr id="134" name="Google Shape;134;p23"/>
            <p:cNvSpPr txBox="1"/>
            <p:nvPr/>
          </p:nvSpPr>
          <p:spPr>
            <a:xfrm>
              <a:off x="4768775" y="2856475"/>
              <a:ext cx="1318500" cy="492600"/>
            </a:xfrm>
            <a:prstGeom prst="rect">
              <a:avLst/>
            </a:prstGeom>
            <a:noFill/>
            <a:ln>
              <a:noFill/>
            </a:ln>
          </p:spPr>
          <p:txBody>
            <a:bodyPr anchorCtr="0" anchor="t" bIns="0" lIns="0" spcFirstLastPara="1" rIns="114175" wrap="square" tIns="0">
              <a:noAutofit/>
            </a:bodyPr>
            <a:lstStyle/>
            <a:p>
              <a:pPr indent="0" lvl="0" marL="0" rtl="0" algn="l">
                <a:spcBef>
                  <a:spcPts val="0"/>
                </a:spcBef>
                <a:spcAft>
                  <a:spcPts val="0"/>
                </a:spcAft>
                <a:buNone/>
              </a:pPr>
              <a:r>
                <a:rPr lang="en" sz="999">
                  <a:solidFill>
                    <a:srgbClr val="4F4B5F"/>
                  </a:solidFill>
                  <a:latin typeface="Red Hat Text"/>
                  <a:ea typeface="Red Hat Text"/>
                  <a:cs typeface="Red Hat Text"/>
                  <a:sym typeface="Red Hat Text"/>
                </a:rPr>
                <a:t>Did artifact removal </a:t>
              </a:r>
              <a:r>
                <a:rPr lang="en" sz="999">
                  <a:solidFill>
                    <a:srgbClr val="4F4B5F"/>
                  </a:solidFill>
                  <a:latin typeface="Red Hat Text"/>
                  <a:ea typeface="Red Hat Text"/>
                  <a:cs typeface="Red Hat Text"/>
                  <a:sym typeface="Red Hat Text"/>
                </a:rPr>
                <a:t>and resampling everything to 128 Hz</a:t>
              </a:r>
              <a:endParaRPr sz="999">
                <a:solidFill>
                  <a:srgbClr val="4F4B5F"/>
                </a:solidFill>
                <a:latin typeface="Red Hat Text"/>
                <a:ea typeface="Red Hat Text"/>
                <a:cs typeface="Red Hat Text"/>
                <a:sym typeface="Red Hat Text"/>
              </a:endParaRPr>
            </a:p>
          </p:txBody>
        </p:sp>
        <p:sp>
          <p:nvSpPr>
            <p:cNvPr id="135" name="Google Shape;135;p23"/>
            <p:cNvSpPr txBox="1"/>
            <p:nvPr/>
          </p:nvSpPr>
          <p:spPr>
            <a:xfrm>
              <a:off x="4757425" y="2544898"/>
              <a:ext cx="1515600" cy="3693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lang="en" sz="1499">
                  <a:solidFill>
                    <a:srgbClr val="E5622B"/>
                  </a:solidFill>
                  <a:latin typeface="Chakra Petch SemiBold"/>
                  <a:ea typeface="Chakra Petch SemiBold"/>
                  <a:cs typeface="Chakra Petch SemiBold"/>
                  <a:sym typeface="Chakra Petch SemiBold"/>
                </a:rPr>
                <a:t>DATA</a:t>
              </a:r>
              <a:r>
                <a:rPr lang="en" sz="1499">
                  <a:solidFill>
                    <a:srgbClr val="1D5930"/>
                  </a:solidFill>
                  <a:latin typeface="Chakra Petch SemiBold"/>
                  <a:ea typeface="Chakra Petch SemiBold"/>
                  <a:cs typeface="Chakra Petch SemiBold"/>
                  <a:sym typeface="Chakra Petch SemiBold"/>
                </a:rPr>
                <a:t> </a:t>
              </a:r>
              <a:r>
                <a:rPr lang="en" sz="1499">
                  <a:solidFill>
                    <a:srgbClr val="E5622B"/>
                  </a:solidFill>
                  <a:latin typeface="Chakra Petch SemiBold"/>
                  <a:ea typeface="Chakra Petch SemiBold"/>
                  <a:cs typeface="Chakra Petch SemiBold"/>
                  <a:sym typeface="Chakra Petch SemiBold"/>
                </a:rPr>
                <a:t>PREPROCESSING</a:t>
              </a:r>
              <a:endParaRPr sz="1499">
                <a:solidFill>
                  <a:srgbClr val="1D5930"/>
                </a:solidFill>
                <a:latin typeface="Chakra Petch SemiBold"/>
                <a:ea typeface="Chakra Petch SemiBold"/>
                <a:cs typeface="Chakra Petch SemiBold"/>
                <a:sym typeface="Chakra Petch SemiBold"/>
              </a:endParaRPr>
            </a:p>
            <a:p>
              <a:pPr indent="0" lvl="0" marL="0" rtl="0" algn="l">
                <a:spcBef>
                  <a:spcPts val="0"/>
                </a:spcBef>
                <a:spcAft>
                  <a:spcPts val="0"/>
                </a:spcAft>
                <a:buNone/>
              </a:pPr>
              <a:r>
                <a:t/>
              </a:r>
              <a:endParaRPr sz="1499">
                <a:solidFill>
                  <a:srgbClr val="E5622B"/>
                </a:solidFill>
                <a:latin typeface="Chakra Petch SemiBold"/>
                <a:ea typeface="Chakra Petch SemiBold"/>
                <a:cs typeface="Chakra Petch SemiBold"/>
                <a:sym typeface="Chakra Petch SemiBold"/>
              </a:endParaRPr>
            </a:p>
          </p:txBody>
        </p:sp>
        <p:sp>
          <p:nvSpPr>
            <p:cNvPr id="136" name="Google Shape;136;p23"/>
            <p:cNvSpPr txBox="1"/>
            <p:nvPr/>
          </p:nvSpPr>
          <p:spPr>
            <a:xfrm>
              <a:off x="6535437" y="2767019"/>
              <a:ext cx="1318500" cy="985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992">
                  <a:solidFill>
                    <a:srgbClr val="684BA9"/>
                  </a:solidFill>
                  <a:latin typeface="Chakra Petch"/>
                  <a:ea typeface="Chakra Petch"/>
                  <a:cs typeface="Chakra Petch"/>
                  <a:sym typeface="Chakra Petch"/>
                </a:rPr>
                <a:t>04</a:t>
              </a:r>
              <a:endParaRPr b="1" sz="7992">
                <a:solidFill>
                  <a:srgbClr val="684BA9"/>
                </a:solidFill>
                <a:latin typeface="Chakra Petch"/>
                <a:ea typeface="Chakra Petch"/>
                <a:cs typeface="Chakra Petch"/>
                <a:sym typeface="Chakra Petch"/>
              </a:endParaRPr>
            </a:p>
          </p:txBody>
        </p:sp>
        <p:cxnSp>
          <p:nvCxnSpPr>
            <p:cNvPr id="137" name="Google Shape;137;p23"/>
            <p:cNvCxnSpPr/>
            <p:nvPr/>
          </p:nvCxnSpPr>
          <p:spPr>
            <a:xfrm>
              <a:off x="6457400" y="1504788"/>
              <a:ext cx="0" cy="2152500"/>
            </a:xfrm>
            <a:prstGeom prst="straightConnector1">
              <a:avLst/>
            </a:prstGeom>
            <a:noFill/>
            <a:ln cap="flat" cmpd="sng" w="23800">
              <a:solidFill>
                <a:srgbClr val="D9D9D9"/>
              </a:solidFill>
              <a:prstDash val="solid"/>
              <a:round/>
              <a:headEnd len="med" w="med" type="none"/>
              <a:tailEnd len="med" w="med" type="none"/>
            </a:ln>
          </p:spPr>
        </p:cxnSp>
        <p:sp>
          <p:nvSpPr>
            <p:cNvPr id="138" name="Google Shape;138;p23"/>
            <p:cNvSpPr txBox="1"/>
            <p:nvPr/>
          </p:nvSpPr>
          <p:spPr>
            <a:xfrm>
              <a:off x="6535425" y="2052300"/>
              <a:ext cx="1186800" cy="492600"/>
            </a:xfrm>
            <a:prstGeom prst="rect">
              <a:avLst/>
            </a:prstGeom>
            <a:noFill/>
            <a:ln>
              <a:noFill/>
            </a:ln>
          </p:spPr>
          <p:txBody>
            <a:bodyPr anchorCtr="0" anchor="t" bIns="0" lIns="0" spcFirstLastPara="1" rIns="114175" wrap="square" tIns="0">
              <a:noAutofit/>
            </a:bodyPr>
            <a:lstStyle/>
            <a:p>
              <a:pPr indent="0" lvl="0" marL="0" rtl="0" algn="l">
                <a:spcBef>
                  <a:spcPts val="0"/>
                </a:spcBef>
                <a:spcAft>
                  <a:spcPts val="0"/>
                </a:spcAft>
                <a:buNone/>
              </a:pPr>
              <a:r>
                <a:rPr lang="en" sz="999">
                  <a:solidFill>
                    <a:srgbClr val="4F4B5F"/>
                  </a:solidFill>
                  <a:latin typeface="Red Hat Text"/>
                  <a:ea typeface="Red Hat Text"/>
                  <a:cs typeface="Red Hat Text"/>
                  <a:sym typeface="Red Hat Text"/>
                </a:rPr>
                <a:t>Completed feature extraction for model-ready inputs</a:t>
              </a:r>
              <a:endParaRPr sz="999">
                <a:solidFill>
                  <a:srgbClr val="4F4B5F"/>
                </a:solidFill>
                <a:latin typeface="Red Hat Text"/>
                <a:ea typeface="Red Hat Text"/>
                <a:cs typeface="Red Hat Text"/>
                <a:sym typeface="Red Hat Text"/>
              </a:endParaRPr>
            </a:p>
          </p:txBody>
        </p:sp>
        <p:sp>
          <p:nvSpPr>
            <p:cNvPr id="139" name="Google Shape;139;p23"/>
            <p:cNvSpPr txBox="1"/>
            <p:nvPr/>
          </p:nvSpPr>
          <p:spPr>
            <a:xfrm>
              <a:off x="6535424" y="1570278"/>
              <a:ext cx="1318500" cy="3693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lang="en" sz="1499">
                  <a:solidFill>
                    <a:srgbClr val="684BA9"/>
                  </a:solidFill>
                  <a:latin typeface="Chakra Petch SemiBold"/>
                  <a:ea typeface="Chakra Petch SemiBold"/>
                  <a:cs typeface="Chakra Petch SemiBold"/>
                  <a:sym typeface="Chakra Petch SemiBold"/>
                </a:rPr>
                <a:t>FEATURE</a:t>
              </a:r>
              <a:r>
                <a:rPr lang="en" sz="1499">
                  <a:solidFill>
                    <a:srgbClr val="E5622B"/>
                  </a:solidFill>
                  <a:latin typeface="Chakra Petch SemiBold"/>
                  <a:ea typeface="Chakra Petch SemiBold"/>
                  <a:cs typeface="Chakra Petch SemiBold"/>
                  <a:sym typeface="Chakra Petch SemiBold"/>
                </a:rPr>
                <a:t> </a:t>
              </a:r>
              <a:r>
                <a:rPr lang="en" sz="1499">
                  <a:solidFill>
                    <a:srgbClr val="684BA9"/>
                  </a:solidFill>
                  <a:latin typeface="Chakra Petch SemiBold"/>
                  <a:ea typeface="Chakra Petch SemiBold"/>
                  <a:cs typeface="Chakra Petch SemiBold"/>
                  <a:sym typeface="Chakra Petch SemiBold"/>
                </a:rPr>
                <a:t>EXTRACTION</a:t>
              </a:r>
              <a:endParaRPr sz="1499">
                <a:solidFill>
                  <a:srgbClr val="684BA9"/>
                </a:solidFill>
                <a:latin typeface="Chakra Petch SemiBold"/>
                <a:ea typeface="Chakra Petch SemiBold"/>
                <a:cs typeface="Chakra Petch SemiBold"/>
                <a:sym typeface="Chakra Petch SemiBold"/>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3" name="Shape 143"/>
        <p:cNvGrpSpPr/>
        <p:nvPr/>
      </p:nvGrpSpPr>
      <p:grpSpPr>
        <a:xfrm>
          <a:off x="0" y="0"/>
          <a:ext cx="0" cy="0"/>
          <a:chOff x="0" y="0"/>
          <a:chExt cx="0" cy="0"/>
        </a:xfrm>
      </p:grpSpPr>
      <p:sp>
        <p:nvSpPr>
          <p:cNvPr id="144" name="Google Shape;144;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Expected Milestones and Timeline</a:t>
            </a:r>
            <a:endParaRPr/>
          </a:p>
        </p:txBody>
      </p:sp>
      <p:grpSp>
        <p:nvGrpSpPr>
          <p:cNvPr id="145" name="Google Shape;145;p24"/>
          <p:cNvGrpSpPr/>
          <p:nvPr/>
        </p:nvGrpSpPr>
        <p:grpSpPr>
          <a:xfrm>
            <a:off x="311677" y="1307213"/>
            <a:ext cx="8391015" cy="2948346"/>
            <a:chOff x="1134675" y="1391276"/>
            <a:chExt cx="6719262" cy="2360943"/>
          </a:xfrm>
        </p:grpSpPr>
        <p:sp>
          <p:nvSpPr>
            <p:cNvPr id="146" name="Google Shape;146;p24"/>
            <p:cNvSpPr txBox="1"/>
            <p:nvPr/>
          </p:nvSpPr>
          <p:spPr>
            <a:xfrm>
              <a:off x="1224063" y="1391276"/>
              <a:ext cx="1318500" cy="985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992">
                  <a:solidFill>
                    <a:srgbClr val="4F4B5F"/>
                  </a:solidFill>
                  <a:latin typeface="Chakra Petch"/>
                  <a:ea typeface="Chakra Petch"/>
                  <a:cs typeface="Chakra Petch"/>
                  <a:sym typeface="Chakra Petch"/>
                </a:rPr>
                <a:t>05</a:t>
              </a:r>
              <a:endParaRPr b="1" sz="7992">
                <a:solidFill>
                  <a:srgbClr val="4F4B5F"/>
                </a:solidFill>
                <a:latin typeface="Chakra Petch"/>
                <a:ea typeface="Chakra Petch"/>
                <a:cs typeface="Chakra Petch"/>
                <a:sym typeface="Chakra Petch"/>
              </a:endParaRPr>
            </a:p>
          </p:txBody>
        </p:sp>
        <p:cxnSp>
          <p:nvCxnSpPr>
            <p:cNvPr id="147" name="Google Shape;147;p24"/>
            <p:cNvCxnSpPr/>
            <p:nvPr/>
          </p:nvCxnSpPr>
          <p:spPr>
            <a:xfrm>
              <a:off x="1134675" y="1528325"/>
              <a:ext cx="0" cy="2129100"/>
            </a:xfrm>
            <a:prstGeom prst="straightConnector1">
              <a:avLst/>
            </a:prstGeom>
            <a:noFill/>
            <a:ln cap="flat" cmpd="sng" w="23800">
              <a:solidFill>
                <a:srgbClr val="D9D9D9"/>
              </a:solidFill>
              <a:prstDash val="solid"/>
              <a:round/>
              <a:headEnd len="med" w="med" type="none"/>
              <a:tailEnd len="med" w="med" type="none"/>
            </a:ln>
          </p:spPr>
        </p:cxnSp>
        <p:sp>
          <p:nvSpPr>
            <p:cNvPr id="148" name="Google Shape;148;p24"/>
            <p:cNvSpPr txBox="1"/>
            <p:nvPr/>
          </p:nvSpPr>
          <p:spPr>
            <a:xfrm>
              <a:off x="1224050" y="2896550"/>
              <a:ext cx="1318500" cy="492600"/>
            </a:xfrm>
            <a:prstGeom prst="rect">
              <a:avLst/>
            </a:prstGeom>
            <a:noFill/>
            <a:ln>
              <a:noFill/>
            </a:ln>
          </p:spPr>
          <p:txBody>
            <a:bodyPr anchorCtr="0" anchor="t" bIns="0" lIns="0" spcFirstLastPara="1" rIns="114175" wrap="square" tIns="0">
              <a:noAutofit/>
            </a:bodyPr>
            <a:lstStyle/>
            <a:p>
              <a:pPr indent="0" lvl="0" marL="0" rtl="0" algn="l">
                <a:spcBef>
                  <a:spcPts val="0"/>
                </a:spcBef>
                <a:spcAft>
                  <a:spcPts val="0"/>
                </a:spcAft>
                <a:buClr>
                  <a:schemeClr val="dk1"/>
                </a:buClr>
                <a:buSzPts val="1100"/>
                <a:buFont typeface="Arial"/>
                <a:buNone/>
              </a:pPr>
              <a:r>
                <a:rPr lang="en" sz="999">
                  <a:solidFill>
                    <a:srgbClr val="4F4B5F"/>
                  </a:solidFill>
                  <a:latin typeface="Red Hat Text"/>
                  <a:ea typeface="Red Hat Text"/>
                  <a:cs typeface="Red Hat Text"/>
                  <a:sym typeface="Red Hat Text"/>
                </a:rPr>
                <a:t>Implemented RL based NAS framework and obtained a lightweight model</a:t>
              </a:r>
              <a:endParaRPr sz="999">
                <a:solidFill>
                  <a:srgbClr val="4F4B5F"/>
                </a:solidFill>
                <a:latin typeface="Red Hat Text"/>
                <a:ea typeface="Red Hat Text"/>
                <a:cs typeface="Red Hat Text"/>
                <a:sym typeface="Red Hat Text"/>
              </a:endParaRPr>
            </a:p>
            <a:p>
              <a:pPr indent="0" lvl="0" marL="0" rtl="0" algn="l">
                <a:spcBef>
                  <a:spcPts val="0"/>
                </a:spcBef>
                <a:spcAft>
                  <a:spcPts val="0"/>
                </a:spcAft>
                <a:buNone/>
              </a:pPr>
              <a:r>
                <a:t/>
              </a:r>
              <a:endParaRPr sz="999">
                <a:solidFill>
                  <a:srgbClr val="4F4B5F"/>
                </a:solidFill>
                <a:latin typeface="Red Hat Text"/>
                <a:ea typeface="Red Hat Text"/>
                <a:cs typeface="Red Hat Text"/>
                <a:sym typeface="Red Hat Text"/>
              </a:endParaRPr>
            </a:p>
          </p:txBody>
        </p:sp>
        <p:sp>
          <p:nvSpPr>
            <p:cNvPr id="149" name="Google Shape;149;p24"/>
            <p:cNvSpPr txBox="1"/>
            <p:nvPr/>
          </p:nvSpPr>
          <p:spPr>
            <a:xfrm>
              <a:off x="1224056" y="2608299"/>
              <a:ext cx="1491600" cy="3693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1499">
                  <a:solidFill>
                    <a:srgbClr val="4F4B5F"/>
                  </a:solidFill>
                  <a:latin typeface="Chakra Petch SemiBold"/>
                  <a:ea typeface="Chakra Petch SemiBold"/>
                  <a:cs typeface="Chakra Petch SemiBold"/>
                  <a:sym typeface="Chakra Petch SemiBold"/>
                </a:rPr>
                <a:t>NEURAL</a:t>
              </a:r>
              <a:r>
                <a:rPr lang="en" sz="1499">
                  <a:solidFill>
                    <a:srgbClr val="684BA9"/>
                  </a:solidFill>
                  <a:latin typeface="Chakra Petch SemiBold"/>
                  <a:ea typeface="Chakra Petch SemiBold"/>
                  <a:cs typeface="Chakra Petch SemiBold"/>
                  <a:sym typeface="Chakra Petch SemiBold"/>
                </a:rPr>
                <a:t> </a:t>
              </a:r>
              <a:r>
                <a:rPr lang="en" sz="1499">
                  <a:solidFill>
                    <a:srgbClr val="4F4B5F"/>
                  </a:solidFill>
                  <a:latin typeface="Chakra Petch SemiBold"/>
                  <a:ea typeface="Chakra Petch SemiBold"/>
                  <a:cs typeface="Chakra Petch SemiBold"/>
                  <a:sym typeface="Chakra Petch SemiBold"/>
                </a:rPr>
                <a:t>ARCHITECTURE</a:t>
              </a:r>
              <a:r>
                <a:rPr lang="en" sz="1499">
                  <a:solidFill>
                    <a:srgbClr val="684BA9"/>
                  </a:solidFill>
                  <a:latin typeface="Chakra Petch SemiBold"/>
                  <a:ea typeface="Chakra Petch SemiBold"/>
                  <a:cs typeface="Chakra Petch SemiBold"/>
                  <a:sym typeface="Chakra Petch SemiBold"/>
                </a:rPr>
                <a:t> </a:t>
              </a:r>
              <a:r>
                <a:rPr lang="en" sz="1499">
                  <a:solidFill>
                    <a:srgbClr val="4F4B5F"/>
                  </a:solidFill>
                  <a:latin typeface="Chakra Petch SemiBold"/>
                  <a:ea typeface="Chakra Petch SemiBold"/>
                  <a:cs typeface="Chakra Petch SemiBold"/>
                  <a:sym typeface="Chakra Petch SemiBold"/>
                </a:rPr>
                <a:t>SEARCH</a:t>
              </a:r>
              <a:endParaRPr sz="1499">
                <a:solidFill>
                  <a:srgbClr val="684BA9"/>
                </a:solidFill>
                <a:latin typeface="Chakra Petch SemiBold"/>
                <a:ea typeface="Chakra Petch SemiBold"/>
                <a:cs typeface="Chakra Petch SemiBold"/>
                <a:sym typeface="Chakra Petch SemiBold"/>
              </a:endParaRPr>
            </a:p>
            <a:p>
              <a:pPr indent="0" lvl="0" marL="0" rtl="0" algn="l">
                <a:spcBef>
                  <a:spcPts val="0"/>
                </a:spcBef>
                <a:spcAft>
                  <a:spcPts val="0"/>
                </a:spcAft>
                <a:buNone/>
              </a:pPr>
              <a:r>
                <a:t/>
              </a:r>
              <a:endParaRPr sz="1499">
                <a:solidFill>
                  <a:srgbClr val="4F4B5F"/>
                </a:solidFill>
                <a:latin typeface="Chakra Petch SemiBold"/>
                <a:ea typeface="Chakra Petch SemiBold"/>
                <a:cs typeface="Chakra Petch SemiBold"/>
                <a:sym typeface="Chakra Petch SemiBold"/>
              </a:endParaRPr>
            </a:p>
          </p:txBody>
        </p:sp>
        <p:sp>
          <p:nvSpPr>
            <p:cNvPr id="150" name="Google Shape;150;p24"/>
            <p:cNvSpPr txBox="1"/>
            <p:nvPr/>
          </p:nvSpPr>
          <p:spPr>
            <a:xfrm>
              <a:off x="2990737" y="2767019"/>
              <a:ext cx="1318500" cy="985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992">
                  <a:solidFill>
                    <a:srgbClr val="1D5930"/>
                  </a:solidFill>
                  <a:latin typeface="Chakra Petch"/>
                  <a:ea typeface="Chakra Petch"/>
                  <a:cs typeface="Chakra Petch"/>
                  <a:sym typeface="Chakra Petch"/>
                </a:rPr>
                <a:t>06</a:t>
              </a:r>
              <a:endParaRPr b="1" sz="7992">
                <a:solidFill>
                  <a:srgbClr val="1D5930"/>
                </a:solidFill>
                <a:latin typeface="Chakra Petch"/>
                <a:ea typeface="Chakra Petch"/>
                <a:cs typeface="Chakra Petch"/>
                <a:sym typeface="Chakra Petch"/>
              </a:endParaRPr>
            </a:p>
          </p:txBody>
        </p:sp>
        <p:cxnSp>
          <p:nvCxnSpPr>
            <p:cNvPr id="151" name="Google Shape;151;p24"/>
            <p:cNvCxnSpPr/>
            <p:nvPr/>
          </p:nvCxnSpPr>
          <p:spPr>
            <a:xfrm>
              <a:off x="2912688" y="1504780"/>
              <a:ext cx="0" cy="2163300"/>
            </a:xfrm>
            <a:prstGeom prst="straightConnector1">
              <a:avLst/>
            </a:prstGeom>
            <a:noFill/>
            <a:ln cap="flat" cmpd="sng" w="23800">
              <a:solidFill>
                <a:srgbClr val="D9D9D9"/>
              </a:solidFill>
              <a:prstDash val="solid"/>
              <a:round/>
              <a:headEnd len="med" w="med" type="none"/>
              <a:tailEnd len="med" w="med" type="none"/>
            </a:ln>
          </p:spPr>
        </p:cxnSp>
        <p:sp>
          <p:nvSpPr>
            <p:cNvPr id="152" name="Google Shape;152;p24"/>
            <p:cNvSpPr txBox="1"/>
            <p:nvPr/>
          </p:nvSpPr>
          <p:spPr>
            <a:xfrm>
              <a:off x="2990717" y="2046755"/>
              <a:ext cx="1106700" cy="369300"/>
            </a:xfrm>
            <a:prstGeom prst="rect">
              <a:avLst/>
            </a:prstGeom>
            <a:noFill/>
            <a:ln>
              <a:noFill/>
            </a:ln>
          </p:spPr>
          <p:txBody>
            <a:bodyPr anchorCtr="0" anchor="t" bIns="0" lIns="0" spcFirstLastPara="1" rIns="114175" wrap="square" tIns="0">
              <a:noAutofit/>
            </a:bodyPr>
            <a:lstStyle/>
            <a:p>
              <a:pPr indent="0" lvl="0" marL="0" rtl="0" algn="l">
                <a:spcBef>
                  <a:spcPts val="0"/>
                </a:spcBef>
                <a:spcAft>
                  <a:spcPts val="0"/>
                </a:spcAft>
                <a:buNone/>
              </a:pPr>
              <a:r>
                <a:rPr lang="en" sz="999">
                  <a:solidFill>
                    <a:srgbClr val="4F4B5F"/>
                  </a:solidFill>
                  <a:latin typeface="Red Hat Text"/>
                  <a:ea typeface="Red Hat Text"/>
                  <a:cs typeface="Red Hat Text"/>
                  <a:sym typeface="Red Hat Text"/>
                </a:rPr>
                <a:t>Finished training the model for accurate predictions</a:t>
              </a:r>
              <a:endParaRPr sz="999">
                <a:solidFill>
                  <a:srgbClr val="4F4B5F"/>
                </a:solidFill>
                <a:latin typeface="Red Hat Text"/>
                <a:ea typeface="Red Hat Text"/>
                <a:cs typeface="Red Hat Text"/>
                <a:sym typeface="Red Hat Text"/>
              </a:endParaRPr>
            </a:p>
          </p:txBody>
        </p:sp>
        <p:sp>
          <p:nvSpPr>
            <p:cNvPr id="153" name="Google Shape;153;p24"/>
            <p:cNvSpPr txBox="1"/>
            <p:nvPr/>
          </p:nvSpPr>
          <p:spPr>
            <a:xfrm>
              <a:off x="2990711" y="1778597"/>
              <a:ext cx="1515600" cy="3693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1499">
                  <a:solidFill>
                    <a:srgbClr val="1D5930"/>
                  </a:solidFill>
                  <a:latin typeface="Chakra Petch SemiBold"/>
                  <a:ea typeface="Chakra Petch SemiBold"/>
                  <a:cs typeface="Chakra Petch SemiBold"/>
                  <a:sym typeface="Chakra Petch SemiBold"/>
                </a:rPr>
                <a:t>MODEL</a:t>
              </a:r>
              <a:endParaRPr sz="1499">
                <a:solidFill>
                  <a:srgbClr val="1D5930"/>
                </a:solidFill>
                <a:latin typeface="Chakra Petch SemiBold"/>
                <a:ea typeface="Chakra Petch SemiBold"/>
                <a:cs typeface="Chakra Petch SemiBold"/>
                <a:sym typeface="Chakra Petch SemiBold"/>
              </a:endParaRPr>
            </a:p>
            <a:p>
              <a:pPr indent="0" lvl="0" marL="0" rtl="0" algn="l">
                <a:spcBef>
                  <a:spcPts val="0"/>
                </a:spcBef>
                <a:spcAft>
                  <a:spcPts val="0"/>
                </a:spcAft>
                <a:buClr>
                  <a:schemeClr val="dk1"/>
                </a:buClr>
                <a:buSzPts val="1100"/>
                <a:buFont typeface="Arial"/>
                <a:buNone/>
              </a:pPr>
              <a:r>
                <a:rPr lang="en" sz="1499">
                  <a:solidFill>
                    <a:srgbClr val="1D5930"/>
                  </a:solidFill>
                  <a:latin typeface="Chakra Petch SemiBold"/>
                  <a:ea typeface="Chakra Petch SemiBold"/>
                  <a:cs typeface="Chakra Petch SemiBold"/>
                  <a:sym typeface="Chakra Petch SemiBold"/>
                </a:rPr>
                <a:t>TRAINING</a:t>
              </a:r>
              <a:endParaRPr sz="1499">
                <a:solidFill>
                  <a:srgbClr val="4F4B5F"/>
                </a:solidFill>
                <a:latin typeface="Chakra Petch SemiBold"/>
                <a:ea typeface="Chakra Petch SemiBold"/>
                <a:cs typeface="Chakra Petch SemiBold"/>
                <a:sym typeface="Chakra Petch SemiBold"/>
              </a:endParaRPr>
            </a:p>
            <a:p>
              <a:pPr indent="0" lvl="0" marL="0" rtl="0" algn="l">
                <a:spcBef>
                  <a:spcPts val="0"/>
                </a:spcBef>
                <a:spcAft>
                  <a:spcPts val="0"/>
                </a:spcAft>
                <a:buNone/>
              </a:pPr>
              <a:r>
                <a:t/>
              </a:r>
              <a:endParaRPr sz="1499">
                <a:solidFill>
                  <a:srgbClr val="1D5930"/>
                </a:solidFill>
                <a:latin typeface="Chakra Petch SemiBold"/>
                <a:ea typeface="Chakra Petch SemiBold"/>
                <a:cs typeface="Chakra Petch SemiBold"/>
                <a:sym typeface="Chakra Petch SemiBold"/>
              </a:endParaRPr>
            </a:p>
          </p:txBody>
        </p:sp>
        <p:sp>
          <p:nvSpPr>
            <p:cNvPr id="154" name="Google Shape;154;p24"/>
            <p:cNvSpPr txBox="1"/>
            <p:nvPr/>
          </p:nvSpPr>
          <p:spPr>
            <a:xfrm>
              <a:off x="4768763" y="1391276"/>
              <a:ext cx="1318500" cy="985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992">
                  <a:solidFill>
                    <a:srgbClr val="E5622B"/>
                  </a:solidFill>
                  <a:latin typeface="Chakra Petch"/>
                  <a:ea typeface="Chakra Petch"/>
                  <a:cs typeface="Chakra Petch"/>
                  <a:sym typeface="Chakra Petch"/>
                </a:rPr>
                <a:t>07</a:t>
              </a:r>
              <a:endParaRPr b="1" sz="7992">
                <a:solidFill>
                  <a:srgbClr val="E5622B"/>
                </a:solidFill>
                <a:latin typeface="Chakra Petch"/>
                <a:ea typeface="Chakra Petch"/>
                <a:cs typeface="Chakra Petch"/>
                <a:sym typeface="Chakra Petch"/>
              </a:endParaRPr>
            </a:p>
          </p:txBody>
        </p:sp>
        <p:cxnSp>
          <p:nvCxnSpPr>
            <p:cNvPr id="155" name="Google Shape;155;p24"/>
            <p:cNvCxnSpPr/>
            <p:nvPr/>
          </p:nvCxnSpPr>
          <p:spPr>
            <a:xfrm>
              <a:off x="4679363" y="1597763"/>
              <a:ext cx="0" cy="2055000"/>
            </a:xfrm>
            <a:prstGeom prst="straightConnector1">
              <a:avLst/>
            </a:prstGeom>
            <a:noFill/>
            <a:ln cap="flat" cmpd="sng" w="23800">
              <a:solidFill>
                <a:srgbClr val="D9D9D9"/>
              </a:solidFill>
              <a:prstDash val="solid"/>
              <a:round/>
              <a:headEnd len="med" w="med" type="none"/>
              <a:tailEnd len="med" w="med" type="none"/>
            </a:ln>
          </p:spPr>
        </p:cxnSp>
        <p:sp>
          <p:nvSpPr>
            <p:cNvPr id="156" name="Google Shape;156;p24"/>
            <p:cNvSpPr txBox="1"/>
            <p:nvPr/>
          </p:nvSpPr>
          <p:spPr>
            <a:xfrm>
              <a:off x="4768775" y="2856475"/>
              <a:ext cx="1318500" cy="492600"/>
            </a:xfrm>
            <a:prstGeom prst="rect">
              <a:avLst/>
            </a:prstGeom>
            <a:noFill/>
            <a:ln>
              <a:noFill/>
            </a:ln>
          </p:spPr>
          <p:txBody>
            <a:bodyPr anchorCtr="0" anchor="t" bIns="0" lIns="0" spcFirstLastPara="1" rIns="114175" wrap="square" tIns="0">
              <a:noAutofit/>
            </a:bodyPr>
            <a:lstStyle/>
            <a:p>
              <a:pPr indent="0" lvl="0" marL="0" rtl="0" algn="l">
                <a:spcBef>
                  <a:spcPts val="0"/>
                </a:spcBef>
                <a:spcAft>
                  <a:spcPts val="0"/>
                </a:spcAft>
                <a:buNone/>
              </a:pPr>
              <a:r>
                <a:rPr lang="en" sz="999">
                  <a:solidFill>
                    <a:srgbClr val="4F4B5F"/>
                  </a:solidFill>
                  <a:latin typeface="Red Hat Text"/>
                  <a:ea typeface="Red Hat Text"/>
                  <a:cs typeface="Red Hat Text"/>
                  <a:sym typeface="Red Hat Text"/>
                </a:rPr>
                <a:t>Developed the application with all core features integrated</a:t>
              </a:r>
              <a:endParaRPr sz="999">
                <a:solidFill>
                  <a:srgbClr val="4F4B5F"/>
                </a:solidFill>
                <a:latin typeface="Red Hat Text"/>
                <a:ea typeface="Red Hat Text"/>
                <a:cs typeface="Red Hat Text"/>
                <a:sym typeface="Red Hat Text"/>
              </a:endParaRPr>
            </a:p>
          </p:txBody>
        </p:sp>
        <p:sp>
          <p:nvSpPr>
            <p:cNvPr id="157" name="Google Shape;157;p24"/>
            <p:cNvSpPr txBox="1"/>
            <p:nvPr/>
          </p:nvSpPr>
          <p:spPr>
            <a:xfrm>
              <a:off x="6535437" y="2767019"/>
              <a:ext cx="1318500" cy="985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992">
                  <a:solidFill>
                    <a:srgbClr val="684BA9"/>
                  </a:solidFill>
                  <a:latin typeface="Chakra Petch"/>
                  <a:ea typeface="Chakra Petch"/>
                  <a:cs typeface="Chakra Petch"/>
                  <a:sym typeface="Chakra Petch"/>
                </a:rPr>
                <a:t>08</a:t>
              </a:r>
              <a:endParaRPr b="1" sz="7992">
                <a:solidFill>
                  <a:srgbClr val="684BA9"/>
                </a:solidFill>
                <a:latin typeface="Chakra Petch"/>
                <a:ea typeface="Chakra Petch"/>
                <a:cs typeface="Chakra Petch"/>
                <a:sym typeface="Chakra Petch"/>
              </a:endParaRPr>
            </a:p>
          </p:txBody>
        </p:sp>
        <p:cxnSp>
          <p:nvCxnSpPr>
            <p:cNvPr id="158" name="Google Shape;158;p24"/>
            <p:cNvCxnSpPr/>
            <p:nvPr/>
          </p:nvCxnSpPr>
          <p:spPr>
            <a:xfrm>
              <a:off x="6457400" y="1504788"/>
              <a:ext cx="0" cy="2152500"/>
            </a:xfrm>
            <a:prstGeom prst="straightConnector1">
              <a:avLst/>
            </a:prstGeom>
            <a:noFill/>
            <a:ln cap="flat" cmpd="sng" w="23800">
              <a:solidFill>
                <a:srgbClr val="D9D9D9"/>
              </a:solidFill>
              <a:prstDash val="solid"/>
              <a:round/>
              <a:headEnd len="med" w="med" type="none"/>
              <a:tailEnd len="med" w="med" type="none"/>
            </a:ln>
          </p:spPr>
        </p:cxnSp>
        <p:sp>
          <p:nvSpPr>
            <p:cNvPr id="159" name="Google Shape;159;p24"/>
            <p:cNvSpPr txBox="1"/>
            <p:nvPr/>
          </p:nvSpPr>
          <p:spPr>
            <a:xfrm>
              <a:off x="6535425" y="2052300"/>
              <a:ext cx="1186800" cy="492600"/>
            </a:xfrm>
            <a:prstGeom prst="rect">
              <a:avLst/>
            </a:prstGeom>
            <a:noFill/>
            <a:ln>
              <a:noFill/>
            </a:ln>
          </p:spPr>
          <p:txBody>
            <a:bodyPr anchorCtr="0" anchor="t" bIns="0" lIns="0" spcFirstLastPara="1" rIns="114175" wrap="square" tIns="0">
              <a:noAutofit/>
            </a:bodyPr>
            <a:lstStyle/>
            <a:p>
              <a:pPr indent="0" lvl="0" marL="0" rtl="0" algn="l">
                <a:spcBef>
                  <a:spcPts val="0"/>
                </a:spcBef>
                <a:spcAft>
                  <a:spcPts val="0"/>
                </a:spcAft>
                <a:buNone/>
              </a:pPr>
              <a:r>
                <a:rPr lang="en" sz="999">
                  <a:solidFill>
                    <a:srgbClr val="4F4B5F"/>
                  </a:solidFill>
                  <a:latin typeface="Red Hat Text"/>
                  <a:ea typeface="Red Hat Text"/>
                  <a:cs typeface="Red Hat Text"/>
                  <a:sym typeface="Red Hat Text"/>
                </a:rPr>
                <a:t>Packaged the model and completed deployment for end-user use</a:t>
              </a:r>
              <a:endParaRPr sz="999">
                <a:solidFill>
                  <a:srgbClr val="4F4B5F"/>
                </a:solidFill>
                <a:latin typeface="Red Hat Text"/>
                <a:ea typeface="Red Hat Text"/>
                <a:cs typeface="Red Hat Text"/>
                <a:sym typeface="Red Hat Text"/>
              </a:endParaRPr>
            </a:p>
          </p:txBody>
        </p:sp>
        <p:sp>
          <p:nvSpPr>
            <p:cNvPr id="160" name="Google Shape;160;p24"/>
            <p:cNvSpPr txBox="1"/>
            <p:nvPr/>
          </p:nvSpPr>
          <p:spPr>
            <a:xfrm>
              <a:off x="6535424" y="1570278"/>
              <a:ext cx="1318500" cy="3693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 sz="1499">
                  <a:solidFill>
                    <a:srgbClr val="684BA9"/>
                  </a:solidFill>
                  <a:latin typeface="Chakra Petch SemiBold"/>
                  <a:ea typeface="Chakra Petch SemiBold"/>
                  <a:cs typeface="Chakra Petch SemiBold"/>
                  <a:sym typeface="Chakra Petch SemiBold"/>
                </a:rPr>
                <a:t>PACKAGING AND DEPLOYMENT</a:t>
              </a:r>
              <a:endParaRPr sz="1499">
                <a:solidFill>
                  <a:srgbClr val="684BA9"/>
                </a:solidFill>
                <a:latin typeface="Chakra Petch SemiBold"/>
                <a:ea typeface="Chakra Petch SemiBold"/>
                <a:cs typeface="Chakra Petch SemiBold"/>
                <a:sym typeface="Chakra Petch SemiBold"/>
              </a:endParaRPr>
            </a:p>
          </p:txBody>
        </p:sp>
        <p:sp>
          <p:nvSpPr>
            <p:cNvPr id="161" name="Google Shape;161;p24"/>
            <p:cNvSpPr txBox="1"/>
            <p:nvPr/>
          </p:nvSpPr>
          <p:spPr>
            <a:xfrm>
              <a:off x="4757365" y="2387097"/>
              <a:ext cx="1515600" cy="3693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 sz="1499">
                  <a:solidFill>
                    <a:srgbClr val="E5622B"/>
                  </a:solidFill>
                  <a:latin typeface="Chakra Petch SemiBold"/>
                  <a:ea typeface="Chakra Petch SemiBold"/>
                  <a:cs typeface="Chakra Petch SemiBold"/>
                  <a:sym typeface="Chakra Petch SemiBold"/>
                </a:rPr>
                <a:t>APP </a:t>
              </a:r>
              <a:endParaRPr sz="1499">
                <a:solidFill>
                  <a:srgbClr val="E5622B"/>
                </a:solidFill>
                <a:latin typeface="Chakra Petch SemiBold"/>
                <a:ea typeface="Chakra Petch SemiBold"/>
                <a:cs typeface="Chakra Petch SemiBold"/>
                <a:sym typeface="Chakra Petch SemiBold"/>
              </a:endParaRPr>
            </a:p>
            <a:p>
              <a:pPr indent="0" lvl="0" marL="0" rtl="0" algn="l">
                <a:spcBef>
                  <a:spcPts val="0"/>
                </a:spcBef>
                <a:spcAft>
                  <a:spcPts val="0"/>
                </a:spcAft>
                <a:buNone/>
              </a:pPr>
              <a:r>
                <a:rPr lang="en" sz="1499">
                  <a:solidFill>
                    <a:srgbClr val="E5622B"/>
                  </a:solidFill>
                  <a:latin typeface="Chakra Petch SemiBold"/>
                  <a:ea typeface="Chakra Petch SemiBold"/>
                  <a:cs typeface="Chakra Petch SemiBold"/>
                  <a:sym typeface="Chakra Petch SemiBold"/>
                </a:rPr>
                <a:t>DEVELOPMENT</a:t>
              </a:r>
              <a:endParaRPr sz="1499">
                <a:solidFill>
                  <a:srgbClr val="E5622B"/>
                </a:solidFill>
                <a:latin typeface="Chakra Petch SemiBold"/>
                <a:ea typeface="Chakra Petch SemiBold"/>
                <a:cs typeface="Chakra Petch SemiBold"/>
                <a:sym typeface="Chakra Petch SemiBold"/>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5"/>
          <p:cNvSpPr txBox="1"/>
          <p:nvPr>
            <p:ph type="ctrTitle"/>
          </p:nvPr>
        </p:nvSpPr>
        <p:spPr>
          <a:xfrm>
            <a:off x="311708" y="451000"/>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3580"/>
              <a:t>Sleep Disorder Detection from Polysomnography data and lifestyle changes </a:t>
            </a:r>
            <a:r>
              <a:rPr lang="en" sz="3580"/>
              <a:t>recommendations</a:t>
            </a:r>
            <a:r>
              <a:rPr lang="en" sz="3580"/>
              <a:t> for actionable insights</a:t>
            </a:r>
            <a:endParaRPr sz="3580"/>
          </a:p>
        </p:txBody>
      </p:sp>
      <p:sp>
        <p:nvSpPr>
          <p:cNvPr id="167" name="Google Shape;167;p25"/>
          <p:cNvSpPr txBox="1"/>
          <p:nvPr>
            <p:ph idx="1" type="subTitle"/>
          </p:nvPr>
        </p:nvSpPr>
        <p:spPr>
          <a:xfrm>
            <a:off x="311700" y="2571750"/>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
              <a:t>Mentored by: Prof. Simi Surendran</a:t>
            </a:r>
            <a:br>
              <a:rPr lang="en"/>
            </a:br>
            <a:r>
              <a:rPr lang="en"/>
              <a:t>Prof. Geetha Lekshmi</a:t>
            </a:r>
            <a:endParaRPr/>
          </a:p>
        </p:txBody>
      </p:sp>
      <p:graphicFrame>
        <p:nvGraphicFramePr>
          <p:cNvPr id="168" name="Google Shape;168;p25"/>
          <p:cNvGraphicFramePr/>
          <p:nvPr/>
        </p:nvGraphicFramePr>
        <p:xfrm>
          <a:off x="770450" y="3366875"/>
          <a:ext cx="3000000" cy="3000000"/>
        </p:xfrm>
        <a:graphic>
          <a:graphicData uri="http://schemas.openxmlformats.org/drawingml/2006/table">
            <a:tbl>
              <a:tblPr>
                <a:noFill/>
                <a:tableStyleId>{EA404940-E3EF-4C90-B839-184A4FD12D8A}</a:tableStyleId>
              </a:tblPr>
              <a:tblGrid>
                <a:gridCol w="3801550"/>
                <a:gridCol w="3801550"/>
              </a:tblGrid>
              <a:tr h="310425">
                <a:tc>
                  <a:txBody>
                    <a:bodyPr/>
                    <a:lstStyle/>
                    <a:p>
                      <a:pPr indent="0" lvl="0" marL="0" rtl="0" algn="l">
                        <a:spcBef>
                          <a:spcPts val="0"/>
                        </a:spcBef>
                        <a:spcAft>
                          <a:spcPts val="0"/>
                        </a:spcAft>
                        <a:buNone/>
                      </a:pPr>
                      <a:r>
                        <a:rPr lang="en"/>
                        <a:t>Girish S</a:t>
                      </a:r>
                      <a:endParaRPr/>
                    </a:p>
                  </a:txBody>
                  <a:tcPr marT="91425" marB="91425" marR="91425" marL="91425"/>
                </a:tc>
                <a:tc>
                  <a:txBody>
                    <a:bodyPr/>
                    <a:lstStyle/>
                    <a:p>
                      <a:pPr indent="0" lvl="0" marL="0" rtl="0" algn="l">
                        <a:spcBef>
                          <a:spcPts val="0"/>
                        </a:spcBef>
                        <a:spcAft>
                          <a:spcPts val="0"/>
                        </a:spcAft>
                        <a:buNone/>
                      </a:pPr>
                      <a:r>
                        <a:rPr lang="en"/>
                        <a:t>Research Architect</a:t>
                      </a:r>
                      <a:endParaRPr/>
                    </a:p>
                  </a:txBody>
                  <a:tcPr marT="91425" marB="91425" marR="91425" marL="91425"/>
                </a:tc>
              </a:tr>
              <a:tr h="310425">
                <a:tc>
                  <a:txBody>
                    <a:bodyPr/>
                    <a:lstStyle/>
                    <a:p>
                      <a:pPr indent="0" lvl="0" marL="0" rtl="0" algn="l">
                        <a:spcBef>
                          <a:spcPts val="0"/>
                        </a:spcBef>
                        <a:spcAft>
                          <a:spcPts val="0"/>
                        </a:spcAft>
                        <a:buNone/>
                      </a:pPr>
                      <a:r>
                        <a:rPr lang="en"/>
                        <a:t>Anuvind M P</a:t>
                      </a:r>
                      <a:endParaRPr/>
                    </a:p>
                  </a:txBody>
                  <a:tcPr marT="91425" marB="91425" marR="91425" marL="91425"/>
                </a:tc>
                <a:tc>
                  <a:txBody>
                    <a:bodyPr/>
                    <a:lstStyle/>
                    <a:p>
                      <a:pPr indent="0" lvl="0" marL="0" rtl="0" algn="l">
                        <a:spcBef>
                          <a:spcPts val="0"/>
                        </a:spcBef>
                        <a:spcAft>
                          <a:spcPts val="0"/>
                        </a:spcAft>
                        <a:buNone/>
                      </a:pPr>
                      <a:r>
                        <a:rPr lang="en"/>
                        <a:t>System Design/SDE</a:t>
                      </a:r>
                      <a:endParaRPr/>
                    </a:p>
                  </a:txBody>
                  <a:tcPr marT="91425" marB="91425" marR="91425" marL="91425"/>
                </a:tc>
              </a:tr>
              <a:tr h="310425">
                <a:tc>
                  <a:txBody>
                    <a:bodyPr/>
                    <a:lstStyle/>
                    <a:p>
                      <a:pPr indent="0" lvl="0" marL="0" rtl="0" algn="l">
                        <a:spcBef>
                          <a:spcPts val="0"/>
                        </a:spcBef>
                        <a:spcAft>
                          <a:spcPts val="0"/>
                        </a:spcAft>
                        <a:buNone/>
                      </a:pPr>
                      <a:r>
                        <a:rPr lang="en"/>
                        <a:t>R S Harish Kumar</a:t>
                      </a:r>
                      <a:endParaRPr/>
                    </a:p>
                  </a:txBody>
                  <a:tcPr marT="91425" marB="91425" marR="91425" marL="91425"/>
                </a:tc>
                <a:tc>
                  <a:txBody>
                    <a:bodyPr/>
                    <a:lstStyle/>
                    <a:p>
                      <a:pPr indent="0" lvl="0" marL="0" rtl="0" algn="l">
                        <a:spcBef>
                          <a:spcPts val="0"/>
                        </a:spcBef>
                        <a:spcAft>
                          <a:spcPts val="0"/>
                        </a:spcAft>
                        <a:buNone/>
                      </a:pPr>
                      <a:r>
                        <a:rPr lang="en"/>
                        <a:t>AI Lead</a:t>
                      </a:r>
                      <a:endParaRPr/>
                    </a:p>
                  </a:txBody>
                  <a:tcPr marT="91425" marB="91425" marR="91425" marL="91425"/>
                </a:tc>
              </a:tr>
              <a:tr h="343450">
                <a:tc>
                  <a:txBody>
                    <a:bodyPr/>
                    <a:lstStyle/>
                    <a:p>
                      <a:pPr indent="0" lvl="0" marL="0" rtl="0" algn="l">
                        <a:spcBef>
                          <a:spcPts val="0"/>
                        </a:spcBef>
                        <a:spcAft>
                          <a:spcPts val="0"/>
                        </a:spcAft>
                        <a:buNone/>
                      </a:pPr>
                      <a:r>
                        <a:rPr lang="en"/>
                        <a:t>Harishankar Binu Nair</a:t>
                      </a:r>
                      <a:endParaRPr/>
                    </a:p>
                  </a:txBody>
                  <a:tcPr marT="91425" marB="91425" marR="91425" marL="91425"/>
                </a:tc>
                <a:tc>
                  <a:txBody>
                    <a:bodyPr/>
                    <a:lstStyle/>
                    <a:p>
                      <a:pPr indent="0" lvl="0" marL="0" rtl="0" algn="l">
                        <a:spcBef>
                          <a:spcPts val="0"/>
                        </a:spcBef>
                        <a:spcAft>
                          <a:spcPts val="0"/>
                        </a:spcAft>
                        <a:buNone/>
                      </a:pPr>
                      <a:r>
                        <a:rPr lang="en"/>
                        <a:t>Data Analyst/SDE</a:t>
                      </a:r>
                      <a:endParaRPr/>
                    </a:p>
                  </a:txBody>
                  <a:tcPr marT="91425" marB="91425" marR="91425" marL="91425"/>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Business Pitch</a:t>
            </a:r>
            <a:endParaRPr/>
          </a:p>
        </p:txBody>
      </p:sp>
      <p:sp>
        <p:nvSpPr>
          <p:cNvPr id="174" name="Google Shape;174;p26"/>
          <p:cNvSpPr txBox="1"/>
          <p:nvPr>
            <p:ph idx="1" type="body"/>
          </p:nvPr>
        </p:nvSpPr>
        <p:spPr>
          <a:xfrm>
            <a:off x="212750" y="1152475"/>
            <a:ext cx="8520600" cy="3416400"/>
          </a:xfrm>
          <a:prstGeom prst="rect">
            <a:avLst/>
          </a:prstGeom>
        </p:spPr>
        <p:txBody>
          <a:bodyPr anchorCtr="0" anchor="t" bIns="91425" lIns="91425" spcFirstLastPara="1" rIns="91425" wrap="square" tIns="91425">
            <a:noAutofit/>
          </a:bodyPr>
          <a:lstStyle/>
          <a:p>
            <a:pPr indent="0" lvl="0" marL="457200" rtl="0" algn="l">
              <a:lnSpc>
                <a:spcPct val="150000"/>
              </a:lnSpc>
              <a:spcBef>
                <a:spcPts val="0"/>
              </a:spcBef>
              <a:spcAft>
                <a:spcPts val="0"/>
              </a:spcAft>
              <a:buNone/>
            </a:pPr>
            <a:r>
              <a:rPr i="1" lang="en" sz="1200"/>
              <a:t>Sleep disorders such as insomnia, apnea, and restless leg syndrome are on the rise, affecting millions yet often going undiagnosed. In India, social stigma and limited clinical access leave a large segment of the population untreated, creating a significant unmet demand for accessible sleep health solutions.</a:t>
            </a:r>
            <a:endParaRPr i="1" sz="1300"/>
          </a:p>
          <a:p>
            <a:pPr indent="0" lvl="0" marL="457200" rtl="0" algn="l">
              <a:lnSpc>
                <a:spcPct val="150000"/>
              </a:lnSpc>
              <a:spcBef>
                <a:spcPts val="1200"/>
              </a:spcBef>
              <a:spcAft>
                <a:spcPts val="0"/>
              </a:spcAft>
              <a:buNone/>
            </a:pPr>
            <a:r>
              <a:rPr i="1" lang="en" sz="1200"/>
              <a:t>This platform targets both clinicians and patients. Clinicians will have a separate system that provides interpretability through visualizations and detailed reports, reducing the black-box nature of AI, while patients often lack a clear understanding of their disorders, so the platform offers an interactive system with lifestyle recommendations, actionable insights, and clear explanations of complex medical information. It bridges the gap between medical expertise and public usability through an interactive, interpretation-friendly interface.</a:t>
            </a:r>
            <a:endParaRPr i="1" sz="1200"/>
          </a:p>
          <a:p>
            <a:pPr indent="0" lvl="0" marL="457200" rtl="0" algn="l">
              <a:lnSpc>
                <a:spcPct val="150000"/>
              </a:lnSpc>
              <a:spcBef>
                <a:spcPts val="1200"/>
              </a:spcBef>
              <a:spcAft>
                <a:spcPts val="0"/>
              </a:spcAft>
              <a:buNone/>
            </a:pPr>
            <a:r>
              <a:rPr i="1" lang="en" sz="1200"/>
              <a:t>The outcome is clear: increased early diagnosis, improved sleep health awareness, and a scalable solution that empowers users through transparency and accessibility. With growing public concern for sleep quality and well-being, this solution is positioned to meet a rapidly expanding market need and establish a strong foothold in digital health services.</a:t>
            </a:r>
            <a:endParaRPr i="1" sz="1200"/>
          </a:p>
          <a:p>
            <a:pPr indent="0" lvl="0" marL="457200" rtl="0" algn="l">
              <a:lnSpc>
                <a:spcPct val="150000"/>
              </a:lnSpc>
              <a:spcBef>
                <a:spcPts val="1200"/>
              </a:spcBef>
              <a:spcAft>
                <a:spcPts val="1200"/>
              </a:spcAft>
              <a:buNone/>
            </a:pPr>
            <a:r>
              <a:t/>
            </a:r>
            <a:endParaRPr i="1" sz="12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Motivation</a:t>
            </a:r>
            <a:endParaRPr/>
          </a:p>
        </p:txBody>
      </p:sp>
      <p:sp>
        <p:nvSpPr>
          <p:cNvPr id="180" name="Google Shape;180;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334328" lvl="0" marL="457200" rtl="0" algn="l">
              <a:lnSpc>
                <a:spcPct val="150000"/>
              </a:lnSpc>
              <a:spcBef>
                <a:spcPts val="0"/>
              </a:spcBef>
              <a:spcAft>
                <a:spcPts val="0"/>
              </a:spcAft>
              <a:buSzPct val="100000"/>
              <a:buChar char="●"/>
            </a:pPr>
            <a:r>
              <a:rPr lang="en"/>
              <a:t>Increases public awareness and understanding of sleep disorders, helping reduce social stigma in Indian communities.</a:t>
            </a:r>
            <a:endParaRPr/>
          </a:p>
          <a:p>
            <a:pPr indent="-334328" lvl="0" marL="457200" rtl="0" algn="l">
              <a:lnSpc>
                <a:spcPct val="150000"/>
              </a:lnSpc>
              <a:spcBef>
                <a:spcPts val="0"/>
              </a:spcBef>
              <a:spcAft>
                <a:spcPts val="0"/>
              </a:spcAft>
              <a:buSzPct val="100000"/>
              <a:buChar char="●"/>
            </a:pPr>
            <a:r>
              <a:rPr lang="en"/>
              <a:t>Enables early detection and management of sleep-related conditions, improving overall public health outcomes.</a:t>
            </a:r>
            <a:endParaRPr/>
          </a:p>
          <a:p>
            <a:pPr indent="-334328" lvl="0" marL="457200" rtl="0" algn="l">
              <a:lnSpc>
                <a:spcPct val="150000"/>
              </a:lnSpc>
              <a:spcBef>
                <a:spcPts val="0"/>
              </a:spcBef>
              <a:spcAft>
                <a:spcPts val="0"/>
              </a:spcAft>
              <a:buSzPct val="100000"/>
              <a:buChar char="●"/>
            </a:pPr>
            <a:r>
              <a:rPr lang="en"/>
              <a:t>Expands access to sleep analysis and guidance for populations with limited or no clinical availability.</a:t>
            </a:r>
            <a:endParaRPr/>
          </a:p>
          <a:p>
            <a:pPr indent="-334328" lvl="0" marL="457200" rtl="0" algn="l">
              <a:lnSpc>
                <a:spcPct val="150000"/>
              </a:lnSpc>
              <a:spcBef>
                <a:spcPts val="0"/>
              </a:spcBef>
              <a:spcAft>
                <a:spcPts val="0"/>
              </a:spcAft>
              <a:buSzPct val="100000"/>
              <a:buChar char="●"/>
            </a:pPr>
            <a:r>
              <a:rPr lang="en"/>
              <a:t>Empowers individuals with personalized lifestyle recommendations, promoting </a:t>
            </a:r>
            <a:r>
              <a:rPr lang="en"/>
              <a:t>healthy</a:t>
            </a:r>
            <a:r>
              <a:rPr lang="en"/>
              <a:t> sleep habits and well-being.</a:t>
            </a:r>
            <a:endParaRPr/>
          </a:p>
          <a:p>
            <a:pPr indent="-334328" lvl="0" marL="457200" rtl="0" algn="l">
              <a:lnSpc>
                <a:spcPct val="150000"/>
              </a:lnSpc>
              <a:spcBef>
                <a:spcPts val="0"/>
              </a:spcBef>
              <a:spcAft>
                <a:spcPts val="0"/>
              </a:spcAft>
              <a:buSzPct val="100000"/>
              <a:buChar char="●"/>
            </a:pPr>
            <a:r>
              <a:rPr lang="en"/>
              <a:t>Supports clinicians with transparent and interpretable insights, building greater trust in AI-assisted healthcare.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Research Abstract:</a:t>
            </a:r>
            <a:endParaRPr b="1"/>
          </a:p>
        </p:txBody>
      </p:sp>
      <p:sp>
        <p:nvSpPr>
          <p:cNvPr id="186" name="Google Shape;186;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i="1" lang="en"/>
              <a:t>This project introduces a web-based framework for automated sleep disorder detection using Polysomnography (PSG) data. The system segments signals into epochs and uses a transformer model for sleep stage classification. Based on these results, relevant sleep metrics are extracted and used by a lightweight classifier to identify potential disorders.</a:t>
            </a:r>
            <a:endParaRPr i="1"/>
          </a:p>
          <a:p>
            <a:pPr indent="0" lvl="0" marL="0" rtl="0" algn="l">
              <a:spcBef>
                <a:spcPts val="1200"/>
              </a:spcBef>
              <a:spcAft>
                <a:spcPts val="1200"/>
              </a:spcAft>
              <a:buNone/>
            </a:pPr>
            <a:r>
              <a:rPr i="1" lang="en"/>
              <a:t>The framework integrates explainable AI (XAI) for clinical interpretability through visual reports and saliency visualizations that reveal model reasoning. A multi-agentic orchestration powers an intelligent RAG-based system that manages medical explanations, personalized lifestyle recommendations, and remedy suggestions, supported by trusted medical sources. This combination of AI-driven analysis, interpretability, and interactivity enables both clinicians and patients to engage with actionable insights while maintaining transparency. The platform addresses limited awareness and social stigma around sleep disorders in India by offering an accessible, privacy-focused solution for early screening and education.</a:t>
            </a:r>
            <a:endParaRPr i="1"/>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Input</a:t>
            </a:r>
            <a:endParaRPr/>
          </a:p>
        </p:txBody>
      </p:sp>
      <p:sp>
        <p:nvSpPr>
          <p:cNvPr id="192" name="Google Shape;192;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u="sng"/>
              <a:t>Input</a:t>
            </a:r>
            <a:endParaRPr b="1" u="sng"/>
          </a:p>
          <a:p>
            <a:pPr indent="-342900" lvl="0" marL="457200" rtl="0" algn="l">
              <a:spcBef>
                <a:spcPts val="1200"/>
              </a:spcBef>
              <a:spcAft>
                <a:spcPts val="0"/>
              </a:spcAft>
              <a:buSzPts val="1800"/>
              <a:buChar char="●"/>
            </a:pPr>
            <a:r>
              <a:rPr lang="en"/>
              <a:t>Polysomnography Data (PSG) in the form of .edf files</a:t>
            </a:r>
            <a:endParaRPr/>
          </a:p>
          <a:p>
            <a:pPr indent="-342900" lvl="0" marL="457200" rtl="0" algn="l">
              <a:spcBef>
                <a:spcPts val="0"/>
              </a:spcBef>
              <a:spcAft>
                <a:spcPts val="0"/>
              </a:spcAft>
              <a:buSzPts val="1800"/>
              <a:buChar char="●"/>
            </a:pPr>
            <a:r>
              <a:rPr lang="en"/>
              <a:t>Lifestyle questionnaire which consists of the patient’s medical history, medications, their current lifestyle choices</a:t>
            </a:r>
            <a:endParaRPr/>
          </a:p>
          <a:p>
            <a:pPr indent="0" lvl="0" marL="0" rtl="0" algn="l">
              <a:spcBef>
                <a:spcPts val="1200"/>
              </a:spcBef>
              <a:spcAft>
                <a:spcPts val="0"/>
              </a:spcAft>
              <a:buNone/>
            </a:pPr>
            <a:r>
              <a:rPr b="1" lang="en" u="sng"/>
              <a:t>Channels in PSG</a:t>
            </a:r>
            <a:endParaRPr b="1" u="sng"/>
          </a:p>
          <a:p>
            <a:pPr indent="-342900" lvl="0" marL="457200" rtl="0" algn="l">
              <a:spcBef>
                <a:spcPts val="1200"/>
              </a:spcBef>
              <a:spcAft>
                <a:spcPts val="0"/>
              </a:spcAft>
              <a:buSzPts val="1800"/>
              <a:buChar char="●"/>
            </a:pPr>
            <a:r>
              <a:rPr lang="en"/>
              <a:t>Electroencephalogram (EEG) : Brain activity</a:t>
            </a:r>
            <a:endParaRPr/>
          </a:p>
          <a:p>
            <a:pPr indent="-342900" lvl="0" marL="457200" rtl="0" algn="l">
              <a:spcBef>
                <a:spcPts val="0"/>
              </a:spcBef>
              <a:spcAft>
                <a:spcPts val="0"/>
              </a:spcAft>
              <a:buSzPts val="1800"/>
              <a:buChar char="●"/>
            </a:pPr>
            <a:r>
              <a:rPr lang="en"/>
              <a:t>Electrooculogram (EOG) : Eye movements</a:t>
            </a:r>
            <a:endParaRPr/>
          </a:p>
          <a:p>
            <a:pPr indent="-342900" lvl="0" marL="457200" rtl="0" algn="l">
              <a:spcBef>
                <a:spcPts val="0"/>
              </a:spcBef>
              <a:spcAft>
                <a:spcPts val="0"/>
              </a:spcAft>
              <a:buSzPts val="1800"/>
              <a:buChar char="●"/>
            </a:pPr>
            <a:r>
              <a:rPr lang="en"/>
              <a:t>Electromyography (EMG) : Muscle movements</a:t>
            </a:r>
            <a:endParaRPr/>
          </a:p>
          <a:p>
            <a:pPr indent="-342900" lvl="0" marL="457200" rtl="0" algn="l">
              <a:spcBef>
                <a:spcPts val="0"/>
              </a:spcBef>
              <a:spcAft>
                <a:spcPts val="0"/>
              </a:spcAft>
              <a:buSzPts val="1800"/>
              <a:buChar char="●"/>
            </a:pPr>
            <a:r>
              <a:rPr lang="en"/>
              <a:t>Electrocardiogram (ECG) : Heart activity</a:t>
            </a:r>
            <a:endParaRPr/>
          </a:p>
          <a:p>
            <a:pPr indent="-342900" lvl="0" marL="457200" rtl="0" algn="l">
              <a:spcBef>
                <a:spcPts val="0"/>
              </a:spcBef>
              <a:spcAft>
                <a:spcPts val="0"/>
              </a:spcAft>
              <a:buSzPts val="1800"/>
              <a:buChar char="●"/>
            </a:pPr>
            <a:r>
              <a:rPr lang="en"/>
              <a:t>Thoracic movement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Desired output</a:t>
            </a:r>
            <a:endParaRPr/>
          </a:p>
        </p:txBody>
      </p:sp>
      <p:sp>
        <p:nvSpPr>
          <p:cNvPr id="198" name="Google Shape;198;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u="sng"/>
              <a:t>User : </a:t>
            </a:r>
            <a:r>
              <a:rPr b="1" lang="en" u="sng"/>
              <a:t>Patient</a:t>
            </a:r>
            <a:endParaRPr/>
          </a:p>
          <a:p>
            <a:pPr indent="-342900" lvl="0" marL="457200" rtl="0" algn="l">
              <a:spcBef>
                <a:spcPts val="1200"/>
              </a:spcBef>
              <a:spcAft>
                <a:spcPts val="0"/>
              </a:spcAft>
              <a:buSzPts val="1800"/>
              <a:buChar char="●"/>
            </a:pPr>
            <a:r>
              <a:rPr lang="en"/>
              <a:t>List of sleep disorders the patient is at risk of based on the sleep data</a:t>
            </a:r>
            <a:endParaRPr/>
          </a:p>
          <a:p>
            <a:pPr indent="-342900" lvl="0" marL="457200" rtl="0" algn="l">
              <a:spcBef>
                <a:spcPts val="0"/>
              </a:spcBef>
              <a:spcAft>
                <a:spcPts val="0"/>
              </a:spcAft>
              <a:buSzPts val="1800"/>
              <a:buChar char="●"/>
            </a:pPr>
            <a:r>
              <a:rPr lang="en"/>
              <a:t>Risk score for each disorder</a:t>
            </a:r>
            <a:endParaRPr/>
          </a:p>
          <a:p>
            <a:pPr indent="-342900" lvl="0" marL="457200" rtl="0" algn="l">
              <a:spcBef>
                <a:spcPts val="0"/>
              </a:spcBef>
              <a:spcAft>
                <a:spcPts val="0"/>
              </a:spcAft>
              <a:buSzPts val="1800"/>
              <a:buChar char="●"/>
            </a:pPr>
            <a:r>
              <a:rPr lang="en"/>
              <a:t>Lifestyle recommendations to help improve their sleep</a:t>
            </a:r>
            <a:endParaRPr/>
          </a:p>
          <a:p>
            <a:pPr indent="-342900" lvl="0" marL="457200" rtl="0" algn="l">
              <a:spcBef>
                <a:spcPts val="0"/>
              </a:spcBef>
              <a:spcAft>
                <a:spcPts val="0"/>
              </a:spcAft>
              <a:buSzPts val="1800"/>
              <a:buChar char="●"/>
            </a:pPr>
            <a:r>
              <a:rPr lang="en"/>
              <a:t>Queryable</a:t>
            </a:r>
            <a:r>
              <a:rPr lang="en"/>
              <a:t> medical chatbot</a:t>
            </a:r>
            <a:endParaRPr/>
          </a:p>
          <a:p>
            <a:pPr indent="0" lvl="0" marL="0" rtl="0" algn="l">
              <a:spcBef>
                <a:spcPts val="1200"/>
              </a:spcBef>
              <a:spcAft>
                <a:spcPts val="0"/>
              </a:spcAft>
              <a:buNone/>
            </a:pPr>
            <a:r>
              <a:rPr b="1" lang="en" u="sng"/>
              <a:t>User : Clinician</a:t>
            </a:r>
            <a:endParaRPr b="1" u="sng"/>
          </a:p>
          <a:p>
            <a:pPr indent="-342900" lvl="0" marL="457200" rtl="0" algn="l">
              <a:spcBef>
                <a:spcPts val="1200"/>
              </a:spcBef>
              <a:spcAft>
                <a:spcPts val="0"/>
              </a:spcAft>
              <a:buSzPts val="1800"/>
              <a:buChar char="●"/>
            </a:pPr>
            <a:r>
              <a:rPr lang="en"/>
              <a:t>Visualised saliency heat maps</a:t>
            </a:r>
            <a:endParaRPr/>
          </a:p>
          <a:p>
            <a:pPr indent="-342900" lvl="0" marL="457200" rtl="0" algn="l">
              <a:spcBef>
                <a:spcPts val="0"/>
              </a:spcBef>
              <a:spcAft>
                <a:spcPts val="0"/>
              </a:spcAft>
              <a:buSzPts val="1800"/>
              <a:buChar char="●"/>
            </a:pPr>
            <a:r>
              <a:rPr lang="en"/>
              <a:t>Detailed reports on the patients</a:t>
            </a:r>
            <a:endParaRPr/>
          </a:p>
          <a:p>
            <a:pPr indent="-342900" lvl="0" marL="457200" rtl="0" algn="l">
              <a:spcBef>
                <a:spcPts val="0"/>
              </a:spcBef>
              <a:spcAft>
                <a:spcPts val="0"/>
              </a:spcAft>
              <a:buSzPts val="1800"/>
              <a:buChar char="●"/>
            </a:pPr>
            <a:r>
              <a:rPr lang="en"/>
              <a:t>Anomaly detection</a:t>
            </a:r>
            <a:endParaRPr/>
          </a:p>
          <a:p>
            <a:pPr indent="-342900" lvl="0" marL="457200" rtl="0" algn="l">
              <a:spcBef>
                <a:spcPts val="0"/>
              </a:spcBef>
              <a:spcAft>
                <a:spcPts val="0"/>
              </a:spcAft>
              <a:buSzPts val="1800"/>
              <a:buChar char="●"/>
            </a:pPr>
            <a:r>
              <a:rPr lang="en"/>
              <a:t>Feature importance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Research Objectives</a:t>
            </a:r>
            <a:endParaRPr/>
          </a:p>
          <a:p>
            <a:pPr indent="0" lvl="0" marL="0" rtl="0" algn="l">
              <a:spcBef>
                <a:spcPts val="0"/>
              </a:spcBef>
              <a:spcAft>
                <a:spcPts val="0"/>
              </a:spcAft>
              <a:buNone/>
            </a:pPr>
            <a:r>
              <a:t/>
            </a:r>
            <a:endParaRPr/>
          </a:p>
        </p:txBody>
      </p:sp>
      <p:sp>
        <p:nvSpPr>
          <p:cNvPr id="204" name="Google Shape;204;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To develop an automated framework for detecting sleep disorders using Polysomnography (PSG) data and sleep stage classification.</a:t>
            </a:r>
            <a:endParaRPr/>
          </a:p>
          <a:p>
            <a:pPr indent="-342900" lvl="0" marL="457200" rtl="0" algn="l">
              <a:spcBef>
                <a:spcPts val="0"/>
              </a:spcBef>
              <a:spcAft>
                <a:spcPts val="0"/>
              </a:spcAft>
              <a:buSzPts val="1800"/>
              <a:buChar char="●"/>
            </a:pPr>
            <a:r>
              <a:rPr lang="en"/>
              <a:t>To extract and analyze sleep-related metrics that contribute to accurate and interpretable disorder prediction.</a:t>
            </a:r>
            <a:endParaRPr/>
          </a:p>
          <a:p>
            <a:pPr indent="-342900" lvl="0" marL="457200" rtl="0" algn="l">
              <a:spcBef>
                <a:spcPts val="0"/>
              </a:spcBef>
              <a:spcAft>
                <a:spcPts val="0"/>
              </a:spcAft>
              <a:buSzPts val="1800"/>
              <a:buChar char="●"/>
            </a:pPr>
            <a:r>
              <a:rPr lang="en"/>
              <a:t>To integrate explainable AI methods for transparent visualization and improved clinical trust.</a:t>
            </a:r>
            <a:endParaRPr/>
          </a:p>
          <a:p>
            <a:pPr indent="-342900" lvl="0" marL="457200" rtl="0" algn="l">
              <a:spcBef>
                <a:spcPts val="0"/>
              </a:spcBef>
              <a:spcAft>
                <a:spcPts val="0"/>
              </a:spcAft>
              <a:buSzPts val="1800"/>
              <a:buChar char="●"/>
            </a:pPr>
            <a:r>
              <a:rPr lang="en"/>
              <a:t>To design a multi-agentic orchestration system using RAG for delivering medical explanations, lifestyle recommendations, and personalized remedies.</a:t>
            </a:r>
            <a:endParaRPr/>
          </a:p>
          <a:p>
            <a:pPr indent="-342900" lvl="0" marL="457200" rtl="0" algn="l">
              <a:spcBef>
                <a:spcPts val="0"/>
              </a:spcBef>
              <a:spcAft>
                <a:spcPts val="0"/>
              </a:spcAft>
              <a:buSzPts val="1800"/>
              <a:buChar char="●"/>
            </a:pPr>
            <a:r>
              <a:rPr lang="en"/>
              <a:t>To promote accessible, stigma-free sleep health awareness in the Indian population through an interactive and interpretable web platform.</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2"/>
          <p:cNvSpPr txBox="1"/>
          <p:nvPr>
            <p:ph type="title"/>
          </p:nvPr>
        </p:nvSpPr>
        <p:spPr>
          <a:xfrm>
            <a:off x="311700" y="2454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Project Outcomes</a:t>
            </a:r>
            <a:endParaRPr/>
          </a:p>
        </p:txBody>
      </p:sp>
      <p:sp>
        <p:nvSpPr>
          <p:cNvPr id="210" name="Google Shape;210;p32"/>
          <p:cNvSpPr txBox="1"/>
          <p:nvPr>
            <p:ph idx="1" type="body"/>
          </p:nvPr>
        </p:nvSpPr>
        <p:spPr>
          <a:xfrm>
            <a:off x="311700" y="818100"/>
            <a:ext cx="8520600" cy="4130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Successful development of a working web platform that accurately detects and classifies sleep disorders using PSG data.</a:t>
            </a:r>
            <a:br>
              <a:rPr lang="en"/>
            </a:br>
            <a:endParaRPr/>
          </a:p>
          <a:p>
            <a:pPr indent="-342900" lvl="0" marL="457200" rtl="0" algn="l">
              <a:spcBef>
                <a:spcPts val="0"/>
              </a:spcBef>
              <a:spcAft>
                <a:spcPts val="0"/>
              </a:spcAft>
              <a:buSzPts val="1800"/>
              <a:buChar char="●"/>
            </a:pPr>
            <a:r>
              <a:rPr lang="en"/>
              <a:t>Validation of the system’s detection accuracy against clinical benchmarks, showing reliable performance across multiple disorder types.</a:t>
            </a:r>
            <a:br>
              <a:rPr lang="en"/>
            </a:br>
            <a:endParaRPr/>
          </a:p>
          <a:p>
            <a:pPr indent="-342900" lvl="0" marL="457200" rtl="0" algn="l">
              <a:spcBef>
                <a:spcPts val="0"/>
              </a:spcBef>
              <a:spcAft>
                <a:spcPts val="0"/>
              </a:spcAft>
              <a:buSzPts val="1800"/>
              <a:buChar char="●"/>
            </a:pPr>
            <a:r>
              <a:rPr lang="en"/>
              <a:t>Generation of clear and interpretable visual reports that enhance clinician understanding and trust in AI-based results.</a:t>
            </a:r>
            <a:br>
              <a:rPr lang="en"/>
            </a:br>
            <a:endParaRPr/>
          </a:p>
          <a:p>
            <a:pPr indent="-342900" lvl="0" marL="457200" rtl="0" algn="l">
              <a:spcBef>
                <a:spcPts val="0"/>
              </a:spcBef>
              <a:spcAft>
                <a:spcPts val="0"/>
              </a:spcAft>
              <a:buSzPts val="1800"/>
              <a:buChar char="●"/>
            </a:pPr>
            <a:r>
              <a:rPr lang="en"/>
              <a:t>Integration of a fully operational multi-agent system delivering personalized recommendations, lifestyle insights, and educational content to users.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3"/>
          <p:cNvSpPr txBox="1"/>
          <p:nvPr>
            <p:ph type="title"/>
          </p:nvPr>
        </p:nvSpPr>
        <p:spPr>
          <a:xfrm>
            <a:off x="755900" y="-153824"/>
            <a:ext cx="2309400" cy="799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a:t>Modules</a:t>
            </a:r>
            <a:endParaRPr/>
          </a:p>
        </p:txBody>
      </p:sp>
      <p:sp>
        <p:nvSpPr>
          <p:cNvPr id="216" name="Google Shape;216;p33"/>
          <p:cNvSpPr txBox="1"/>
          <p:nvPr>
            <p:ph idx="1" type="body"/>
          </p:nvPr>
        </p:nvSpPr>
        <p:spPr>
          <a:xfrm>
            <a:off x="199800" y="459875"/>
            <a:ext cx="4106100" cy="3407700"/>
          </a:xfrm>
          <a:prstGeom prst="rect">
            <a:avLst/>
          </a:prstGeom>
          <a:ln>
            <a:noFill/>
          </a:ln>
        </p:spPr>
        <p:txBody>
          <a:bodyPr anchorCtr="0" anchor="t" bIns="34275" lIns="68575" spcFirstLastPara="1" rIns="68575" wrap="square" tIns="34275">
            <a:normAutofit fontScale="47500"/>
          </a:bodyPr>
          <a:lstStyle/>
          <a:p>
            <a:pPr indent="-249555" lvl="0" marL="342900" rtl="0" algn="l">
              <a:lnSpc>
                <a:spcPct val="150000"/>
              </a:lnSpc>
              <a:spcBef>
                <a:spcPts val="1000"/>
              </a:spcBef>
              <a:spcAft>
                <a:spcPts val="0"/>
              </a:spcAft>
              <a:buClr>
                <a:schemeClr val="dk1"/>
              </a:buClr>
              <a:buSzPct val="100000"/>
              <a:buChar char="●"/>
            </a:pPr>
            <a:r>
              <a:rPr lang="en" sz="2800">
                <a:solidFill>
                  <a:schemeClr val="dk1"/>
                </a:solidFill>
                <a:highlight>
                  <a:srgbClr val="6AA84F"/>
                </a:highlight>
              </a:rPr>
              <a:t>Data Harmonization</a:t>
            </a:r>
            <a:endParaRPr sz="2800">
              <a:solidFill>
                <a:schemeClr val="dk1"/>
              </a:solidFill>
              <a:highlight>
                <a:srgbClr val="6AA84F"/>
              </a:highlight>
            </a:endParaRPr>
          </a:p>
          <a:p>
            <a:pPr indent="-249555" lvl="0" marL="342900" rtl="0" algn="l">
              <a:lnSpc>
                <a:spcPct val="150000"/>
              </a:lnSpc>
              <a:spcBef>
                <a:spcPts val="0"/>
              </a:spcBef>
              <a:spcAft>
                <a:spcPts val="0"/>
              </a:spcAft>
              <a:buClr>
                <a:schemeClr val="dk1"/>
              </a:buClr>
              <a:buSzPct val="100000"/>
              <a:buChar char="●"/>
            </a:pPr>
            <a:r>
              <a:rPr lang="en" sz="2800">
                <a:solidFill>
                  <a:schemeClr val="dk1"/>
                </a:solidFill>
                <a:highlight>
                  <a:srgbClr val="6AA84F"/>
                </a:highlight>
              </a:rPr>
              <a:t>Architecture and System Design</a:t>
            </a:r>
            <a:endParaRPr sz="2800">
              <a:solidFill>
                <a:schemeClr val="dk1"/>
              </a:solidFill>
              <a:highlight>
                <a:srgbClr val="6AA84F"/>
              </a:highlight>
            </a:endParaRPr>
          </a:p>
          <a:p>
            <a:pPr indent="-249555" lvl="0" marL="342900" rtl="0" algn="l">
              <a:lnSpc>
                <a:spcPct val="150000"/>
              </a:lnSpc>
              <a:spcBef>
                <a:spcPts val="0"/>
              </a:spcBef>
              <a:spcAft>
                <a:spcPts val="0"/>
              </a:spcAft>
              <a:buClr>
                <a:schemeClr val="dk1"/>
              </a:buClr>
              <a:buSzPct val="100000"/>
              <a:buChar char="●"/>
            </a:pPr>
            <a:r>
              <a:rPr lang="en" sz="2800">
                <a:solidFill>
                  <a:schemeClr val="dk1"/>
                </a:solidFill>
                <a:highlight>
                  <a:srgbClr val="6AA84F"/>
                </a:highlight>
              </a:rPr>
              <a:t>Data Preprocessing</a:t>
            </a:r>
            <a:endParaRPr sz="2800">
              <a:solidFill>
                <a:schemeClr val="dk1"/>
              </a:solidFill>
              <a:highlight>
                <a:srgbClr val="6AA84F"/>
              </a:highlight>
            </a:endParaRPr>
          </a:p>
          <a:p>
            <a:pPr indent="-249555" lvl="0" marL="342900" rtl="0" algn="l">
              <a:lnSpc>
                <a:spcPct val="150000"/>
              </a:lnSpc>
              <a:spcBef>
                <a:spcPts val="0"/>
              </a:spcBef>
              <a:spcAft>
                <a:spcPts val="0"/>
              </a:spcAft>
              <a:buClr>
                <a:schemeClr val="dk1"/>
              </a:buClr>
              <a:buSzPct val="100000"/>
              <a:buChar char="●"/>
            </a:pPr>
            <a:r>
              <a:rPr lang="en" sz="2800">
                <a:solidFill>
                  <a:schemeClr val="dk1"/>
                </a:solidFill>
                <a:highlight>
                  <a:srgbClr val="6AA84F"/>
                </a:highlight>
              </a:rPr>
              <a:t>Transformer Architecture for Sleep staging</a:t>
            </a:r>
            <a:endParaRPr sz="2800">
              <a:solidFill>
                <a:schemeClr val="dk1"/>
              </a:solidFill>
              <a:highlight>
                <a:srgbClr val="6AA84F"/>
              </a:highlight>
            </a:endParaRPr>
          </a:p>
          <a:p>
            <a:pPr indent="-249555" lvl="0" marL="342900" rtl="0" algn="l">
              <a:lnSpc>
                <a:spcPct val="150000"/>
              </a:lnSpc>
              <a:spcBef>
                <a:spcPts val="0"/>
              </a:spcBef>
              <a:spcAft>
                <a:spcPts val="0"/>
              </a:spcAft>
              <a:buClr>
                <a:schemeClr val="dk1"/>
              </a:buClr>
              <a:buSzPct val="100000"/>
              <a:buChar char="●"/>
            </a:pPr>
            <a:r>
              <a:rPr lang="en" sz="2800">
                <a:solidFill>
                  <a:schemeClr val="dk1"/>
                </a:solidFill>
                <a:highlight>
                  <a:srgbClr val="38761D"/>
                </a:highlight>
              </a:rPr>
              <a:t>Sleep metrics extraction</a:t>
            </a:r>
            <a:endParaRPr sz="2800">
              <a:solidFill>
                <a:schemeClr val="dk1"/>
              </a:solidFill>
              <a:highlight>
                <a:srgbClr val="38761D"/>
              </a:highlight>
            </a:endParaRPr>
          </a:p>
          <a:p>
            <a:pPr indent="-249555" lvl="0" marL="342900" rtl="0" algn="l">
              <a:lnSpc>
                <a:spcPct val="150000"/>
              </a:lnSpc>
              <a:spcBef>
                <a:spcPts val="0"/>
              </a:spcBef>
              <a:spcAft>
                <a:spcPts val="0"/>
              </a:spcAft>
              <a:buClr>
                <a:schemeClr val="dk1"/>
              </a:buClr>
              <a:buSzPct val="100000"/>
              <a:buChar char="●"/>
            </a:pPr>
            <a:r>
              <a:rPr lang="en" sz="2800">
                <a:solidFill>
                  <a:schemeClr val="dk1"/>
                </a:solidFill>
              </a:rPr>
              <a:t>Classification backbone for disorders</a:t>
            </a:r>
            <a:endParaRPr sz="2800">
              <a:solidFill>
                <a:schemeClr val="dk1"/>
              </a:solidFill>
            </a:endParaRPr>
          </a:p>
          <a:p>
            <a:pPr indent="-249555" lvl="0" marL="342900" rtl="0" algn="l">
              <a:lnSpc>
                <a:spcPct val="150000"/>
              </a:lnSpc>
              <a:spcBef>
                <a:spcPts val="0"/>
              </a:spcBef>
              <a:spcAft>
                <a:spcPts val="0"/>
              </a:spcAft>
              <a:buClr>
                <a:schemeClr val="dk1"/>
              </a:buClr>
              <a:buSzPct val="100000"/>
              <a:buChar char="●"/>
            </a:pPr>
            <a:r>
              <a:rPr lang="en" sz="2800">
                <a:solidFill>
                  <a:schemeClr val="dk1"/>
                </a:solidFill>
              </a:rPr>
              <a:t>Model Training and Evaluation</a:t>
            </a:r>
            <a:endParaRPr sz="2800">
              <a:solidFill>
                <a:schemeClr val="dk1"/>
              </a:solidFill>
            </a:endParaRPr>
          </a:p>
          <a:p>
            <a:pPr indent="-249555" lvl="0" marL="342900" rtl="0" algn="l">
              <a:lnSpc>
                <a:spcPct val="150000"/>
              </a:lnSpc>
              <a:spcBef>
                <a:spcPts val="0"/>
              </a:spcBef>
              <a:spcAft>
                <a:spcPts val="0"/>
              </a:spcAft>
              <a:buClr>
                <a:schemeClr val="dk1"/>
              </a:buClr>
              <a:buSzPct val="100000"/>
              <a:buChar char="●"/>
            </a:pPr>
            <a:r>
              <a:rPr lang="en" sz="2800">
                <a:solidFill>
                  <a:schemeClr val="dk1"/>
                </a:solidFill>
                <a:highlight>
                  <a:srgbClr val="D9EAD3"/>
                </a:highlight>
              </a:rPr>
              <a:t>Inference Generation using XAI methods</a:t>
            </a:r>
            <a:endParaRPr sz="2800">
              <a:solidFill>
                <a:schemeClr val="dk1"/>
              </a:solidFill>
              <a:highlight>
                <a:srgbClr val="D9EAD3"/>
              </a:highlight>
            </a:endParaRPr>
          </a:p>
          <a:p>
            <a:pPr indent="-249555" lvl="0" marL="342900" rtl="0" algn="l">
              <a:lnSpc>
                <a:spcPct val="150000"/>
              </a:lnSpc>
              <a:spcBef>
                <a:spcPts val="0"/>
              </a:spcBef>
              <a:spcAft>
                <a:spcPts val="0"/>
              </a:spcAft>
              <a:buClr>
                <a:schemeClr val="dk1"/>
              </a:buClr>
              <a:buSzPct val="100000"/>
              <a:buChar char="●"/>
            </a:pPr>
            <a:r>
              <a:rPr lang="en" sz="2800">
                <a:solidFill>
                  <a:schemeClr val="dk1"/>
                </a:solidFill>
                <a:highlight>
                  <a:srgbClr val="D9EAD3"/>
                </a:highlight>
              </a:rPr>
              <a:t>Agentic AI with RAG for remedy generation</a:t>
            </a:r>
            <a:endParaRPr sz="2800">
              <a:solidFill>
                <a:schemeClr val="dk1"/>
              </a:solidFill>
              <a:highlight>
                <a:srgbClr val="D9EAD3"/>
              </a:highlight>
            </a:endParaRPr>
          </a:p>
          <a:p>
            <a:pPr indent="-249555" lvl="0" marL="342900" rtl="0" algn="l">
              <a:lnSpc>
                <a:spcPct val="150000"/>
              </a:lnSpc>
              <a:spcBef>
                <a:spcPts val="0"/>
              </a:spcBef>
              <a:spcAft>
                <a:spcPts val="0"/>
              </a:spcAft>
              <a:buClr>
                <a:schemeClr val="dk1"/>
              </a:buClr>
              <a:buSzPct val="100000"/>
              <a:buChar char="●"/>
            </a:pPr>
            <a:r>
              <a:rPr lang="en" sz="2800">
                <a:solidFill>
                  <a:schemeClr val="dk1"/>
                </a:solidFill>
                <a:highlight>
                  <a:srgbClr val="D9EAD3"/>
                </a:highlight>
              </a:rPr>
              <a:t>Medical Chatbot</a:t>
            </a:r>
            <a:endParaRPr sz="2800">
              <a:solidFill>
                <a:schemeClr val="dk1"/>
              </a:solidFill>
              <a:highlight>
                <a:srgbClr val="D9EAD3"/>
              </a:highlight>
            </a:endParaRPr>
          </a:p>
          <a:p>
            <a:pPr indent="-249555" lvl="0" marL="342900" rtl="0" algn="l">
              <a:lnSpc>
                <a:spcPct val="150000"/>
              </a:lnSpc>
              <a:spcBef>
                <a:spcPts val="0"/>
              </a:spcBef>
              <a:spcAft>
                <a:spcPts val="0"/>
              </a:spcAft>
              <a:buClr>
                <a:schemeClr val="dk1"/>
              </a:buClr>
              <a:buSzPct val="100000"/>
              <a:buChar char="●"/>
            </a:pPr>
            <a:r>
              <a:rPr lang="en" sz="2800">
                <a:solidFill>
                  <a:schemeClr val="dk1"/>
                </a:solidFill>
                <a:highlight>
                  <a:srgbClr val="6AA84F"/>
                </a:highlight>
              </a:rPr>
              <a:t>WebApp Development - Frontend</a:t>
            </a:r>
            <a:endParaRPr sz="2800">
              <a:solidFill>
                <a:schemeClr val="dk1"/>
              </a:solidFill>
              <a:highlight>
                <a:srgbClr val="6AA84F"/>
              </a:highlight>
            </a:endParaRPr>
          </a:p>
        </p:txBody>
      </p:sp>
      <p:sp>
        <p:nvSpPr>
          <p:cNvPr id="217" name="Google Shape;217;p33"/>
          <p:cNvSpPr/>
          <p:nvPr/>
        </p:nvSpPr>
        <p:spPr>
          <a:xfrm>
            <a:off x="4485425" y="260000"/>
            <a:ext cx="4572000" cy="481200"/>
          </a:xfrm>
          <a:prstGeom prst="rect">
            <a:avLst/>
          </a:prstGeom>
          <a:solidFill>
            <a:srgbClr val="E8E8E8"/>
          </a:solidFill>
          <a:ln cap="flat" cmpd="sng" w="7350">
            <a:solidFill>
              <a:srgbClr val="0E2841"/>
            </a:solidFill>
            <a:prstDash val="solid"/>
            <a:round/>
            <a:headEnd len="sm" w="sm" type="none"/>
            <a:tailEnd len="sm" w="sm" type="none"/>
          </a:ln>
        </p:spPr>
        <p:txBody>
          <a:bodyPr anchorCtr="0" anchor="ctr" bIns="70250" lIns="70250" spcFirstLastPara="1" rIns="70250" wrap="square" tIns="70250">
            <a:noAutofit/>
          </a:bodyPr>
          <a:lstStyle/>
          <a:p>
            <a:pPr indent="0" lvl="0" marL="0" rtl="0" algn="ctr">
              <a:spcBef>
                <a:spcPts val="0"/>
              </a:spcBef>
              <a:spcAft>
                <a:spcPts val="0"/>
              </a:spcAft>
              <a:buNone/>
            </a:pPr>
            <a:r>
              <a:rPr lang="en" sz="1076"/>
              <a:t>Channel Aggregation, Feature selections</a:t>
            </a:r>
            <a:endParaRPr sz="1076"/>
          </a:p>
        </p:txBody>
      </p:sp>
      <p:sp>
        <p:nvSpPr>
          <p:cNvPr id="218" name="Google Shape;218;p33"/>
          <p:cNvSpPr/>
          <p:nvPr/>
        </p:nvSpPr>
        <p:spPr>
          <a:xfrm>
            <a:off x="4485425" y="851833"/>
            <a:ext cx="4572000" cy="481200"/>
          </a:xfrm>
          <a:prstGeom prst="rect">
            <a:avLst/>
          </a:prstGeom>
          <a:solidFill>
            <a:srgbClr val="E8E8E8"/>
          </a:solidFill>
          <a:ln cap="flat" cmpd="sng" w="7350">
            <a:solidFill>
              <a:srgbClr val="0E2841"/>
            </a:solidFill>
            <a:prstDash val="solid"/>
            <a:round/>
            <a:headEnd len="sm" w="sm" type="none"/>
            <a:tailEnd len="sm" w="sm" type="none"/>
          </a:ln>
        </p:spPr>
        <p:txBody>
          <a:bodyPr anchorCtr="0" anchor="ctr" bIns="70250" lIns="70250" spcFirstLastPara="1" rIns="70250" wrap="square" tIns="70250">
            <a:noAutofit/>
          </a:bodyPr>
          <a:lstStyle/>
          <a:p>
            <a:pPr indent="0" lvl="0" marL="0" rtl="0" algn="ctr">
              <a:spcBef>
                <a:spcPts val="0"/>
              </a:spcBef>
              <a:spcAft>
                <a:spcPts val="0"/>
              </a:spcAft>
              <a:buNone/>
            </a:pPr>
            <a:r>
              <a:rPr lang="en" sz="1076"/>
              <a:t>Functional and non functional requirements, module specifications, database in system, frontend design, HLD and LLD</a:t>
            </a:r>
            <a:endParaRPr sz="1076"/>
          </a:p>
        </p:txBody>
      </p:sp>
      <p:sp>
        <p:nvSpPr>
          <p:cNvPr id="219" name="Google Shape;219;p33"/>
          <p:cNvSpPr/>
          <p:nvPr/>
        </p:nvSpPr>
        <p:spPr>
          <a:xfrm>
            <a:off x="4485425" y="1443665"/>
            <a:ext cx="4572000" cy="481200"/>
          </a:xfrm>
          <a:prstGeom prst="rect">
            <a:avLst/>
          </a:prstGeom>
          <a:solidFill>
            <a:srgbClr val="E8E8E8"/>
          </a:solidFill>
          <a:ln cap="flat" cmpd="sng" w="7350">
            <a:solidFill>
              <a:srgbClr val="0E2841"/>
            </a:solidFill>
            <a:prstDash val="solid"/>
            <a:round/>
            <a:headEnd len="sm" w="sm" type="none"/>
            <a:tailEnd len="sm" w="sm" type="none"/>
          </a:ln>
        </p:spPr>
        <p:txBody>
          <a:bodyPr anchorCtr="0" anchor="ctr" bIns="70250" lIns="70250" spcFirstLastPara="1" rIns="70250" wrap="square" tIns="70250">
            <a:noAutofit/>
          </a:bodyPr>
          <a:lstStyle/>
          <a:p>
            <a:pPr indent="0" lvl="0" marL="0" rtl="0" algn="ctr">
              <a:spcBef>
                <a:spcPts val="0"/>
              </a:spcBef>
              <a:spcAft>
                <a:spcPts val="0"/>
              </a:spcAft>
              <a:buNone/>
            </a:pPr>
            <a:r>
              <a:rPr lang="en" sz="1076"/>
              <a:t>channel resampling, artifact removal, bandpass filtering, interpolation</a:t>
            </a:r>
            <a:endParaRPr sz="1076"/>
          </a:p>
        </p:txBody>
      </p:sp>
      <p:sp>
        <p:nvSpPr>
          <p:cNvPr id="220" name="Google Shape;220;p33"/>
          <p:cNvSpPr/>
          <p:nvPr/>
        </p:nvSpPr>
        <p:spPr>
          <a:xfrm>
            <a:off x="4485425" y="2035498"/>
            <a:ext cx="4572000" cy="481200"/>
          </a:xfrm>
          <a:prstGeom prst="rect">
            <a:avLst/>
          </a:prstGeom>
          <a:solidFill>
            <a:srgbClr val="E8E8E8"/>
          </a:solidFill>
          <a:ln cap="flat" cmpd="sng" w="7350">
            <a:solidFill>
              <a:srgbClr val="0E2841"/>
            </a:solidFill>
            <a:prstDash val="solid"/>
            <a:round/>
            <a:headEnd len="sm" w="sm" type="none"/>
            <a:tailEnd len="sm" w="sm" type="none"/>
          </a:ln>
        </p:spPr>
        <p:txBody>
          <a:bodyPr anchorCtr="0" anchor="ctr" bIns="70250" lIns="70250" spcFirstLastPara="1" rIns="70250" wrap="square" tIns="70250">
            <a:noAutofit/>
          </a:bodyPr>
          <a:lstStyle/>
          <a:p>
            <a:pPr indent="0" lvl="0" marL="0" rtl="0" algn="ctr">
              <a:spcBef>
                <a:spcPts val="0"/>
              </a:spcBef>
              <a:spcAft>
                <a:spcPts val="0"/>
              </a:spcAft>
              <a:buNone/>
            </a:pPr>
            <a:r>
              <a:rPr lang="en" sz="1076"/>
              <a:t>segmentation, VIT based model, spectrogram conversion, sleep staging with 7 class</a:t>
            </a:r>
            <a:endParaRPr sz="1076"/>
          </a:p>
        </p:txBody>
      </p:sp>
      <p:sp>
        <p:nvSpPr>
          <p:cNvPr id="221" name="Google Shape;221;p33"/>
          <p:cNvSpPr/>
          <p:nvPr/>
        </p:nvSpPr>
        <p:spPr>
          <a:xfrm>
            <a:off x="4485425" y="3187024"/>
            <a:ext cx="4572000" cy="762900"/>
          </a:xfrm>
          <a:prstGeom prst="rect">
            <a:avLst/>
          </a:prstGeom>
          <a:solidFill>
            <a:srgbClr val="E8E8E8"/>
          </a:solidFill>
          <a:ln cap="flat" cmpd="sng" w="7350">
            <a:solidFill>
              <a:srgbClr val="0E2841"/>
            </a:solidFill>
            <a:prstDash val="solid"/>
            <a:round/>
            <a:headEnd len="sm" w="sm" type="none"/>
            <a:tailEnd len="sm" w="sm" type="none"/>
          </a:ln>
        </p:spPr>
        <p:txBody>
          <a:bodyPr anchorCtr="0" anchor="ctr" bIns="70250" lIns="70250" spcFirstLastPara="1" rIns="70250" wrap="square" tIns="70250">
            <a:noAutofit/>
          </a:bodyPr>
          <a:lstStyle/>
          <a:p>
            <a:pPr indent="0" lvl="0" marL="0" rtl="0" algn="ctr">
              <a:spcBef>
                <a:spcPts val="0"/>
              </a:spcBef>
              <a:spcAft>
                <a:spcPts val="0"/>
              </a:spcAft>
              <a:buNone/>
            </a:pPr>
            <a:r>
              <a:rPr lang="en" sz="1383">
                <a:solidFill>
                  <a:srgbClr val="000000"/>
                </a:solidFill>
              </a:rPr>
              <a:t>clinician inference and layman inference generation; Clinician:Signal importance, Anomaly detection. Patient: Health chat bot, risk analysis report- actionable insights</a:t>
            </a:r>
            <a:endParaRPr sz="1383"/>
          </a:p>
        </p:txBody>
      </p:sp>
      <p:sp>
        <p:nvSpPr>
          <p:cNvPr id="222" name="Google Shape;222;p33"/>
          <p:cNvSpPr/>
          <p:nvPr/>
        </p:nvSpPr>
        <p:spPr>
          <a:xfrm>
            <a:off x="4485425" y="2627330"/>
            <a:ext cx="4572000" cy="481200"/>
          </a:xfrm>
          <a:prstGeom prst="rect">
            <a:avLst/>
          </a:prstGeom>
          <a:solidFill>
            <a:srgbClr val="E8E8E8"/>
          </a:solidFill>
          <a:ln cap="flat" cmpd="sng" w="7350">
            <a:solidFill>
              <a:srgbClr val="0E2841"/>
            </a:solidFill>
            <a:prstDash val="solid"/>
            <a:round/>
            <a:headEnd len="sm" w="sm" type="none"/>
            <a:tailEnd len="sm" w="sm" type="none"/>
          </a:ln>
        </p:spPr>
        <p:txBody>
          <a:bodyPr anchorCtr="0" anchor="ctr" bIns="70250" lIns="70250" spcFirstLastPara="1" rIns="70250" wrap="square" tIns="70250">
            <a:noAutofit/>
          </a:bodyPr>
          <a:lstStyle/>
          <a:p>
            <a:pPr indent="0" lvl="0" marL="0" rtl="0" algn="ctr">
              <a:spcBef>
                <a:spcPts val="0"/>
              </a:spcBef>
              <a:spcAft>
                <a:spcPts val="0"/>
              </a:spcAft>
              <a:buNone/>
            </a:pPr>
            <a:r>
              <a:rPr lang="en" sz="1076"/>
              <a:t>sleep metric extraction like sleep efficiency, latent sleep, stage ratios, Arousal index, WASO, AHI, </a:t>
            </a:r>
            <a:endParaRPr sz="1076"/>
          </a:p>
        </p:txBody>
      </p:sp>
      <p:sp>
        <p:nvSpPr>
          <p:cNvPr id="223" name="Google Shape;223;p33"/>
          <p:cNvSpPr/>
          <p:nvPr/>
        </p:nvSpPr>
        <p:spPr>
          <a:xfrm>
            <a:off x="4485425" y="4028188"/>
            <a:ext cx="4572000" cy="481200"/>
          </a:xfrm>
          <a:prstGeom prst="rect">
            <a:avLst/>
          </a:prstGeom>
          <a:solidFill>
            <a:srgbClr val="E8E8E8"/>
          </a:solidFill>
          <a:ln cap="flat" cmpd="sng" w="7350">
            <a:solidFill>
              <a:srgbClr val="0E2841"/>
            </a:solidFill>
            <a:prstDash val="solid"/>
            <a:round/>
            <a:headEnd len="sm" w="sm" type="none"/>
            <a:tailEnd len="sm" w="sm" type="none"/>
          </a:ln>
        </p:spPr>
        <p:txBody>
          <a:bodyPr anchorCtr="0" anchor="ctr" bIns="70250" lIns="70250" spcFirstLastPara="1" rIns="70250" wrap="square" tIns="70250">
            <a:noAutofit/>
          </a:bodyPr>
          <a:lstStyle/>
          <a:p>
            <a:pPr indent="0" lvl="0" marL="0" rtl="0" algn="ctr">
              <a:spcBef>
                <a:spcPts val="0"/>
              </a:spcBef>
              <a:spcAft>
                <a:spcPts val="0"/>
              </a:spcAft>
              <a:buNone/>
            </a:pPr>
            <a:r>
              <a:rPr lang="en" sz="1076"/>
              <a:t>baseline disorder classifier based on the metrics and sleep stages</a:t>
            </a:r>
            <a:endParaRPr sz="1076"/>
          </a:p>
        </p:txBody>
      </p:sp>
      <p:sp>
        <p:nvSpPr>
          <p:cNvPr id="224" name="Google Shape;224;p33"/>
          <p:cNvSpPr/>
          <p:nvPr/>
        </p:nvSpPr>
        <p:spPr>
          <a:xfrm>
            <a:off x="4485425" y="4587881"/>
            <a:ext cx="4572000" cy="419400"/>
          </a:xfrm>
          <a:prstGeom prst="rect">
            <a:avLst/>
          </a:prstGeom>
          <a:solidFill>
            <a:srgbClr val="E8E8E8"/>
          </a:solidFill>
          <a:ln cap="flat" cmpd="sng" w="7350">
            <a:solidFill>
              <a:srgbClr val="0E2841"/>
            </a:solidFill>
            <a:prstDash val="solid"/>
            <a:round/>
            <a:headEnd len="sm" w="sm" type="none"/>
            <a:tailEnd len="sm" w="sm" type="none"/>
          </a:ln>
        </p:spPr>
        <p:txBody>
          <a:bodyPr anchorCtr="0" anchor="ctr" bIns="70250" lIns="70250" spcFirstLastPara="1" rIns="70250" wrap="square" tIns="70250">
            <a:noAutofit/>
          </a:bodyPr>
          <a:lstStyle/>
          <a:p>
            <a:pPr indent="0" lvl="0" marL="0" rtl="0" algn="ctr">
              <a:spcBef>
                <a:spcPts val="0"/>
              </a:spcBef>
              <a:spcAft>
                <a:spcPts val="0"/>
              </a:spcAft>
              <a:buNone/>
            </a:pPr>
            <a:r>
              <a:rPr lang="en" sz="1076"/>
              <a:t>Web based frontend development, Cloud deployment, query-able system</a:t>
            </a:r>
            <a:endParaRPr sz="1076"/>
          </a:p>
        </p:txBody>
      </p:sp>
      <p:sp>
        <p:nvSpPr>
          <p:cNvPr id="225" name="Google Shape;225;p33"/>
          <p:cNvSpPr/>
          <p:nvPr/>
        </p:nvSpPr>
        <p:spPr>
          <a:xfrm>
            <a:off x="356525" y="3867576"/>
            <a:ext cx="4012500" cy="589800"/>
          </a:xfrm>
          <a:prstGeom prst="rect">
            <a:avLst/>
          </a:prstGeom>
          <a:solidFill>
            <a:srgbClr val="E8E8E8"/>
          </a:solidFill>
          <a:ln cap="flat" cmpd="sng" w="6425">
            <a:solidFill>
              <a:srgbClr val="0E2841"/>
            </a:solidFill>
            <a:prstDash val="solid"/>
            <a:round/>
            <a:headEnd len="sm" w="sm" type="none"/>
            <a:tailEnd len="sm" w="sm" type="none"/>
          </a:ln>
        </p:spPr>
        <p:txBody>
          <a:bodyPr anchorCtr="0" anchor="ctr" bIns="61675" lIns="61675" spcFirstLastPara="1" rIns="61675" wrap="square" tIns="61675">
            <a:noAutofit/>
          </a:bodyPr>
          <a:lstStyle/>
          <a:p>
            <a:pPr indent="0" lvl="0" marL="0" rtl="0" algn="ctr">
              <a:spcBef>
                <a:spcPts val="0"/>
              </a:spcBef>
              <a:spcAft>
                <a:spcPts val="0"/>
              </a:spcAft>
              <a:buNone/>
            </a:pPr>
            <a:r>
              <a:rPr lang="en" sz="944"/>
              <a:t>Multi agentic system for remedy generation - web scraper agent, content gen agent, fact validation agent, context based agent; RAG is used to store relevant articles relating to sleep changes from lifestyle</a:t>
            </a:r>
            <a:endParaRPr sz="944"/>
          </a:p>
        </p:txBody>
      </p:sp>
      <p:sp>
        <p:nvSpPr>
          <p:cNvPr id="226" name="Google Shape;226;p33"/>
          <p:cNvSpPr/>
          <p:nvPr/>
        </p:nvSpPr>
        <p:spPr>
          <a:xfrm>
            <a:off x="356525" y="4534177"/>
            <a:ext cx="4012500" cy="473100"/>
          </a:xfrm>
          <a:prstGeom prst="rect">
            <a:avLst/>
          </a:prstGeom>
          <a:solidFill>
            <a:srgbClr val="E8E8E8"/>
          </a:solidFill>
          <a:ln cap="flat" cmpd="sng" w="6425">
            <a:solidFill>
              <a:srgbClr val="0E2841"/>
            </a:solidFill>
            <a:prstDash val="solid"/>
            <a:round/>
            <a:headEnd len="sm" w="sm" type="none"/>
            <a:tailEnd len="sm" w="sm" type="none"/>
          </a:ln>
        </p:spPr>
        <p:txBody>
          <a:bodyPr anchorCtr="0" anchor="ctr" bIns="61675" lIns="61675" spcFirstLastPara="1" rIns="61675" wrap="square" tIns="61675">
            <a:noAutofit/>
          </a:bodyPr>
          <a:lstStyle/>
          <a:p>
            <a:pPr indent="0" lvl="0" marL="0" rtl="0" algn="ctr">
              <a:spcBef>
                <a:spcPts val="0"/>
              </a:spcBef>
              <a:spcAft>
                <a:spcPts val="0"/>
              </a:spcAft>
              <a:buNone/>
            </a:pPr>
            <a:r>
              <a:rPr lang="en" sz="944"/>
              <a:t>Medical chatbot able to answer medical query, use multi-hop question answering and reranking algorithms for RAG</a:t>
            </a:r>
            <a:endParaRPr sz="944"/>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Expected Milestones and Timeline</a:t>
            </a:r>
            <a:endParaRPr/>
          </a:p>
        </p:txBody>
      </p:sp>
      <p:grpSp>
        <p:nvGrpSpPr>
          <p:cNvPr id="232" name="Google Shape;232;p34"/>
          <p:cNvGrpSpPr/>
          <p:nvPr/>
        </p:nvGrpSpPr>
        <p:grpSpPr>
          <a:xfrm>
            <a:off x="311677" y="1307213"/>
            <a:ext cx="8391015" cy="2948346"/>
            <a:chOff x="1134675" y="1391276"/>
            <a:chExt cx="6719262" cy="2360943"/>
          </a:xfrm>
        </p:grpSpPr>
        <p:sp>
          <p:nvSpPr>
            <p:cNvPr id="233" name="Google Shape;233;p34"/>
            <p:cNvSpPr txBox="1"/>
            <p:nvPr/>
          </p:nvSpPr>
          <p:spPr>
            <a:xfrm>
              <a:off x="1224063" y="1391276"/>
              <a:ext cx="1318500" cy="985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992">
                  <a:solidFill>
                    <a:srgbClr val="4F4B5F"/>
                  </a:solidFill>
                  <a:latin typeface="Chakra Petch"/>
                  <a:ea typeface="Chakra Petch"/>
                  <a:cs typeface="Chakra Petch"/>
                  <a:sym typeface="Chakra Petch"/>
                </a:rPr>
                <a:t>01</a:t>
              </a:r>
              <a:endParaRPr b="1" sz="7992">
                <a:solidFill>
                  <a:srgbClr val="4F4B5F"/>
                </a:solidFill>
                <a:latin typeface="Chakra Petch"/>
                <a:ea typeface="Chakra Petch"/>
                <a:cs typeface="Chakra Petch"/>
                <a:sym typeface="Chakra Petch"/>
              </a:endParaRPr>
            </a:p>
          </p:txBody>
        </p:sp>
        <p:cxnSp>
          <p:nvCxnSpPr>
            <p:cNvPr id="234" name="Google Shape;234;p34"/>
            <p:cNvCxnSpPr/>
            <p:nvPr/>
          </p:nvCxnSpPr>
          <p:spPr>
            <a:xfrm>
              <a:off x="1134675" y="1528325"/>
              <a:ext cx="0" cy="2129100"/>
            </a:xfrm>
            <a:prstGeom prst="straightConnector1">
              <a:avLst/>
            </a:prstGeom>
            <a:noFill/>
            <a:ln cap="flat" cmpd="sng" w="23800">
              <a:solidFill>
                <a:srgbClr val="D9D9D9"/>
              </a:solidFill>
              <a:prstDash val="solid"/>
              <a:round/>
              <a:headEnd len="med" w="med" type="none"/>
              <a:tailEnd len="med" w="med" type="none"/>
            </a:ln>
          </p:spPr>
        </p:cxnSp>
        <p:sp>
          <p:nvSpPr>
            <p:cNvPr id="235" name="Google Shape;235;p34"/>
            <p:cNvSpPr txBox="1"/>
            <p:nvPr/>
          </p:nvSpPr>
          <p:spPr>
            <a:xfrm>
              <a:off x="1224050" y="2896550"/>
              <a:ext cx="1318500" cy="492600"/>
            </a:xfrm>
            <a:prstGeom prst="rect">
              <a:avLst/>
            </a:prstGeom>
            <a:noFill/>
            <a:ln>
              <a:noFill/>
            </a:ln>
          </p:spPr>
          <p:txBody>
            <a:bodyPr anchorCtr="0" anchor="t" bIns="0" lIns="0" spcFirstLastPara="1" rIns="114175" wrap="square" tIns="0">
              <a:noAutofit/>
            </a:bodyPr>
            <a:lstStyle/>
            <a:p>
              <a:pPr indent="0" lvl="0" marL="0" rtl="0" algn="l">
                <a:spcBef>
                  <a:spcPts val="0"/>
                </a:spcBef>
                <a:spcAft>
                  <a:spcPts val="0"/>
                </a:spcAft>
                <a:buNone/>
              </a:pPr>
              <a:r>
                <a:rPr lang="en" sz="999">
                  <a:solidFill>
                    <a:srgbClr val="4F4B5F"/>
                  </a:solidFill>
                  <a:latin typeface="Red Hat Text"/>
                  <a:ea typeface="Red Hat Text"/>
                  <a:cs typeface="Red Hat Text"/>
                  <a:sym typeface="Red Hat Text"/>
                </a:rPr>
                <a:t>Merged diverse datasets by identifying shared channels</a:t>
              </a:r>
              <a:endParaRPr sz="999">
                <a:solidFill>
                  <a:srgbClr val="4F4B5F"/>
                </a:solidFill>
                <a:latin typeface="Red Hat Text"/>
                <a:ea typeface="Red Hat Text"/>
                <a:cs typeface="Red Hat Text"/>
                <a:sym typeface="Red Hat Text"/>
              </a:endParaRPr>
            </a:p>
          </p:txBody>
        </p:sp>
        <p:sp>
          <p:nvSpPr>
            <p:cNvPr id="236" name="Google Shape;236;p34"/>
            <p:cNvSpPr txBox="1"/>
            <p:nvPr/>
          </p:nvSpPr>
          <p:spPr>
            <a:xfrm>
              <a:off x="1224076" y="2403463"/>
              <a:ext cx="1491600" cy="3693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 sz="1499">
                  <a:solidFill>
                    <a:srgbClr val="4F4B5F"/>
                  </a:solidFill>
                  <a:latin typeface="Chakra Petch SemiBold"/>
                  <a:ea typeface="Chakra Petch SemiBold"/>
                  <a:cs typeface="Chakra Petch SemiBold"/>
                  <a:sym typeface="Chakra Petch SemiBold"/>
                </a:rPr>
                <a:t>DATA HARMONISATION</a:t>
              </a:r>
              <a:endParaRPr sz="1499">
                <a:solidFill>
                  <a:srgbClr val="4F4B5F"/>
                </a:solidFill>
                <a:latin typeface="Chakra Petch SemiBold"/>
                <a:ea typeface="Chakra Petch SemiBold"/>
                <a:cs typeface="Chakra Petch SemiBold"/>
                <a:sym typeface="Chakra Petch SemiBold"/>
              </a:endParaRPr>
            </a:p>
          </p:txBody>
        </p:sp>
        <p:sp>
          <p:nvSpPr>
            <p:cNvPr id="237" name="Google Shape;237;p34"/>
            <p:cNvSpPr txBox="1"/>
            <p:nvPr/>
          </p:nvSpPr>
          <p:spPr>
            <a:xfrm>
              <a:off x="2990737" y="2767019"/>
              <a:ext cx="1318500" cy="985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992">
                  <a:solidFill>
                    <a:srgbClr val="1D5930"/>
                  </a:solidFill>
                  <a:latin typeface="Chakra Petch"/>
                  <a:ea typeface="Chakra Petch"/>
                  <a:cs typeface="Chakra Petch"/>
                  <a:sym typeface="Chakra Petch"/>
                </a:rPr>
                <a:t>02</a:t>
              </a:r>
              <a:endParaRPr b="1" sz="7992">
                <a:solidFill>
                  <a:srgbClr val="1D5930"/>
                </a:solidFill>
                <a:latin typeface="Chakra Petch"/>
                <a:ea typeface="Chakra Petch"/>
                <a:cs typeface="Chakra Petch"/>
                <a:sym typeface="Chakra Petch"/>
              </a:endParaRPr>
            </a:p>
          </p:txBody>
        </p:sp>
        <p:cxnSp>
          <p:nvCxnSpPr>
            <p:cNvPr id="238" name="Google Shape;238;p34"/>
            <p:cNvCxnSpPr/>
            <p:nvPr/>
          </p:nvCxnSpPr>
          <p:spPr>
            <a:xfrm>
              <a:off x="2912688" y="1504780"/>
              <a:ext cx="0" cy="2163300"/>
            </a:xfrm>
            <a:prstGeom prst="straightConnector1">
              <a:avLst/>
            </a:prstGeom>
            <a:noFill/>
            <a:ln cap="flat" cmpd="sng" w="23800">
              <a:solidFill>
                <a:srgbClr val="D9D9D9"/>
              </a:solidFill>
              <a:prstDash val="solid"/>
              <a:round/>
              <a:headEnd len="med" w="med" type="none"/>
              <a:tailEnd len="med" w="med" type="none"/>
            </a:ln>
          </p:spPr>
        </p:cxnSp>
        <p:sp>
          <p:nvSpPr>
            <p:cNvPr id="239" name="Google Shape;239;p34"/>
            <p:cNvSpPr txBox="1"/>
            <p:nvPr/>
          </p:nvSpPr>
          <p:spPr>
            <a:xfrm>
              <a:off x="2951717" y="2222238"/>
              <a:ext cx="1318500" cy="369300"/>
            </a:xfrm>
            <a:prstGeom prst="rect">
              <a:avLst/>
            </a:prstGeom>
            <a:noFill/>
            <a:ln>
              <a:noFill/>
            </a:ln>
          </p:spPr>
          <p:txBody>
            <a:bodyPr anchorCtr="0" anchor="t" bIns="0" lIns="0" spcFirstLastPara="1" rIns="114175" wrap="square" tIns="0">
              <a:noAutofit/>
            </a:bodyPr>
            <a:lstStyle/>
            <a:p>
              <a:pPr indent="0" lvl="0" marL="0" rtl="0" algn="l">
                <a:spcBef>
                  <a:spcPts val="0"/>
                </a:spcBef>
                <a:spcAft>
                  <a:spcPts val="0"/>
                </a:spcAft>
                <a:buNone/>
              </a:pPr>
              <a:r>
                <a:rPr lang="en" sz="999">
                  <a:solidFill>
                    <a:srgbClr val="4F4B5F"/>
                  </a:solidFill>
                  <a:latin typeface="Red Hat Text"/>
                  <a:ea typeface="Red Hat Text"/>
                  <a:cs typeface="Red Hat Text"/>
                  <a:sym typeface="Red Hat Text"/>
                </a:rPr>
                <a:t>Created the high-level system architecture to structure modules, workflows, and integration points</a:t>
              </a:r>
              <a:endParaRPr sz="999">
                <a:solidFill>
                  <a:srgbClr val="4F4B5F"/>
                </a:solidFill>
                <a:latin typeface="Red Hat Text"/>
                <a:ea typeface="Red Hat Text"/>
                <a:cs typeface="Red Hat Text"/>
                <a:sym typeface="Red Hat Text"/>
              </a:endParaRPr>
            </a:p>
          </p:txBody>
        </p:sp>
        <p:sp>
          <p:nvSpPr>
            <p:cNvPr id="240" name="Google Shape;240;p34"/>
            <p:cNvSpPr txBox="1"/>
            <p:nvPr/>
          </p:nvSpPr>
          <p:spPr>
            <a:xfrm>
              <a:off x="2990711" y="1677450"/>
              <a:ext cx="1515600" cy="3693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 sz="1499">
                  <a:solidFill>
                    <a:srgbClr val="1D5930"/>
                  </a:solidFill>
                  <a:latin typeface="Chakra Petch SemiBold"/>
                  <a:ea typeface="Chakra Petch SemiBold"/>
                  <a:cs typeface="Chakra Petch SemiBold"/>
                  <a:sym typeface="Chakra Petch SemiBold"/>
                </a:rPr>
                <a:t>SYSTEM ARCHITECTURE DESIGN</a:t>
              </a:r>
              <a:endParaRPr sz="1499">
                <a:solidFill>
                  <a:srgbClr val="1D5930"/>
                </a:solidFill>
                <a:latin typeface="Chakra Petch SemiBold"/>
                <a:ea typeface="Chakra Petch SemiBold"/>
                <a:cs typeface="Chakra Petch SemiBold"/>
                <a:sym typeface="Chakra Petch SemiBold"/>
              </a:endParaRPr>
            </a:p>
          </p:txBody>
        </p:sp>
        <p:sp>
          <p:nvSpPr>
            <p:cNvPr id="241" name="Google Shape;241;p34"/>
            <p:cNvSpPr txBox="1"/>
            <p:nvPr/>
          </p:nvSpPr>
          <p:spPr>
            <a:xfrm>
              <a:off x="4768763" y="1391276"/>
              <a:ext cx="1318500" cy="985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992">
                  <a:solidFill>
                    <a:srgbClr val="E5622B"/>
                  </a:solidFill>
                  <a:latin typeface="Chakra Petch"/>
                  <a:ea typeface="Chakra Petch"/>
                  <a:cs typeface="Chakra Petch"/>
                  <a:sym typeface="Chakra Petch"/>
                </a:rPr>
                <a:t>03</a:t>
              </a:r>
              <a:endParaRPr b="1" sz="7992">
                <a:solidFill>
                  <a:srgbClr val="E5622B"/>
                </a:solidFill>
                <a:latin typeface="Chakra Petch"/>
                <a:ea typeface="Chakra Petch"/>
                <a:cs typeface="Chakra Petch"/>
                <a:sym typeface="Chakra Petch"/>
              </a:endParaRPr>
            </a:p>
          </p:txBody>
        </p:sp>
        <p:cxnSp>
          <p:nvCxnSpPr>
            <p:cNvPr id="242" name="Google Shape;242;p34"/>
            <p:cNvCxnSpPr/>
            <p:nvPr/>
          </p:nvCxnSpPr>
          <p:spPr>
            <a:xfrm>
              <a:off x="4679363" y="1597763"/>
              <a:ext cx="0" cy="2055000"/>
            </a:xfrm>
            <a:prstGeom prst="straightConnector1">
              <a:avLst/>
            </a:prstGeom>
            <a:noFill/>
            <a:ln cap="flat" cmpd="sng" w="23800">
              <a:solidFill>
                <a:srgbClr val="D9D9D9"/>
              </a:solidFill>
              <a:prstDash val="solid"/>
              <a:round/>
              <a:headEnd len="med" w="med" type="none"/>
              <a:tailEnd len="med" w="med" type="none"/>
            </a:ln>
          </p:spPr>
        </p:cxnSp>
        <p:sp>
          <p:nvSpPr>
            <p:cNvPr id="243" name="Google Shape;243;p34"/>
            <p:cNvSpPr txBox="1"/>
            <p:nvPr/>
          </p:nvSpPr>
          <p:spPr>
            <a:xfrm>
              <a:off x="4768775" y="2856475"/>
              <a:ext cx="1318500" cy="492600"/>
            </a:xfrm>
            <a:prstGeom prst="rect">
              <a:avLst/>
            </a:prstGeom>
            <a:noFill/>
            <a:ln>
              <a:noFill/>
            </a:ln>
          </p:spPr>
          <p:txBody>
            <a:bodyPr anchorCtr="0" anchor="t" bIns="0" lIns="0" spcFirstLastPara="1" rIns="114175" wrap="square" tIns="0">
              <a:noAutofit/>
            </a:bodyPr>
            <a:lstStyle/>
            <a:p>
              <a:pPr indent="0" lvl="0" marL="0" rtl="0" algn="l">
                <a:spcBef>
                  <a:spcPts val="0"/>
                </a:spcBef>
                <a:spcAft>
                  <a:spcPts val="0"/>
                </a:spcAft>
                <a:buNone/>
              </a:pPr>
              <a:r>
                <a:rPr lang="en" sz="999">
                  <a:solidFill>
                    <a:srgbClr val="4F4B5F"/>
                  </a:solidFill>
                  <a:latin typeface="Red Hat Text"/>
                  <a:ea typeface="Red Hat Text"/>
                  <a:cs typeface="Red Hat Text"/>
                  <a:sym typeface="Red Hat Text"/>
                </a:rPr>
                <a:t>Did artifact removal and resampling everything to 128 Hz</a:t>
              </a:r>
              <a:endParaRPr sz="999">
                <a:solidFill>
                  <a:srgbClr val="4F4B5F"/>
                </a:solidFill>
                <a:latin typeface="Red Hat Text"/>
                <a:ea typeface="Red Hat Text"/>
                <a:cs typeface="Red Hat Text"/>
                <a:sym typeface="Red Hat Text"/>
              </a:endParaRPr>
            </a:p>
          </p:txBody>
        </p:sp>
        <p:sp>
          <p:nvSpPr>
            <p:cNvPr id="244" name="Google Shape;244;p34"/>
            <p:cNvSpPr txBox="1"/>
            <p:nvPr/>
          </p:nvSpPr>
          <p:spPr>
            <a:xfrm>
              <a:off x="4757425" y="2544898"/>
              <a:ext cx="1515600" cy="3693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lang="en" sz="1499">
                  <a:solidFill>
                    <a:srgbClr val="E5622B"/>
                  </a:solidFill>
                  <a:latin typeface="Chakra Petch SemiBold"/>
                  <a:ea typeface="Chakra Petch SemiBold"/>
                  <a:cs typeface="Chakra Petch SemiBold"/>
                  <a:sym typeface="Chakra Petch SemiBold"/>
                </a:rPr>
                <a:t>DATA</a:t>
              </a:r>
              <a:r>
                <a:rPr lang="en" sz="1499">
                  <a:solidFill>
                    <a:srgbClr val="1D5930"/>
                  </a:solidFill>
                  <a:latin typeface="Chakra Petch SemiBold"/>
                  <a:ea typeface="Chakra Petch SemiBold"/>
                  <a:cs typeface="Chakra Petch SemiBold"/>
                  <a:sym typeface="Chakra Petch SemiBold"/>
                </a:rPr>
                <a:t> </a:t>
              </a:r>
              <a:r>
                <a:rPr lang="en" sz="1499">
                  <a:solidFill>
                    <a:srgbClr val="E5622B"/>
                  </a:solidFill>
                  <a:latin typeface="Chakra Petch SemiBold"/>
                  <a:ea typeface="Chakra Petch SemiBold"/>
                  <a:cs typeface="Chakra Petch SemiBold"/>
                  <a:sym typeface="Chakra Petch SemiBold"/>
                </a:rPr>
                <a:t>PREPROCESSING</a:t>
              </a:r>
              <a:endParaRPr sz="1499">
                <a:solidFill>
                  <a:srgbClr val="1D5930"/>
                </a:solidFill>
                <a:latin typeface="Chakra Petch SemiBold"/>
                <a:ea typeface="Chakra Petch SemiBold"/>
                <a:cs typeface="Chakra Petch SemiBold"/>
                <a:sym typeface="Chakra Petch SemiBold"/>
              </a:endParaRPr>
            </a:p>
            <a:p>
              <a:pPr indent="0" lvl="0" marL="0" rtl="0" algn="l">
                <a:spcBef>
                  <a:spcPts val="0"/>
                </a:spcBef>
                <a:spcAft>
                  <a:spcPts val="0"/>
                </a:spcAft>
                <a:buNone/>
              </a:pPr>
              <a:r>
                <a:t/>
              </a:r>
              <a:endParaRPr sz="1499">
                <a:solidFill>
                  <a:srgbClr val="E5622B"/>
                </a:solidFill>
                <a:latin typeface="Chakra Petch SemiBold"/>
                <a:ea typeface="Chakra Petch SemiBold"/>
                <a:cs typeface="Chakra Petch SemiBold"/>
                <a:sym typeface="Chakra Petch SemiBold"/>
              </a:endParaRPr>
            </a:p>
          </p:txBody>
        </p:sp>
        <p:sp>
          <p:nvSpPr>
            <p:cNvPr id="245" name="Google Shape;245;p34"/>
            <p:cNvSpPr txBox="1"/>
            <p:nvPr/>
          </p:nvSpPr>
          <p:spPr>
            <a:xfrm>
              <a:off x="6535437" y="2767019"/>
              <a:ext cx="1318500" cy="985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992">
                  <a:solidFill>
                    <a:srgbClr val="684BA9"/>
                  </a:solidFill>
                  <a:latin typeface="Chakra Petch"/>
                  <a:ea typeface="Chakra Petch"/>
                  <a:cs typeface="Chakra Petch"/>
                  <a:sym typeface="Chakra Petch"/>
                </a:rPr>
                <a:t>04</a:t>
              </a:r>
              <a:endParaRPr b="1" sz="7992">
                <a:solidFill>
                  <a:srgbClr val="684BA9"/>
                </a:solidFill>
                <a:latin typeface="Chakra Petch"/>
                <a:ea typeface="Chakra Petch"/>
                <a:cs typeface="Chakra Petch"/>
                <a:sym typeface="Chakra Petch"/>
              </a:endParaRPr>
            </a:p>
          </p:txBody>
        </p:sp>
        <p:cxnSp>
          <p:nvCxnSpPr>
            <p:cNvPr id="246" name="Google Shape;246;p34"/>
            <p:cNvCxnSpPr/>
            <p:nvPr/>
          </p:nvCxnSpPr>
          <p:spPr>
            <a:xfrm>
              <a:off x="6457400" y="1504788"/>
              <a:ext cx="0" cy="2152500"/>
            </a:xfrm>
            <a:prstGeom prst="straightConnector1">
              <a:avLst/>
            </a:prstGeom>
            <a:noFill/>
            <a:ln cap="flat" cmpd="sng" w="23800">
              <a:solidFill>
                <a:srgbClr val="D9D9D9"/>
              </a:solidFill>
              <a:prstDash val="solid"/>
              <a:round/>
              <a:headEnd len="med" w="med" type="none"/>
              <a:tailEnd len="med" w="med" type="none"/>
            </a:ln>
          </p:spPr>
        </p:cxnSp>
        <p:sp>
          <p:nvSpPr>
            <p:cNvPr id="247" name="Google Shape;247;p34"/>
            <p:cNvSpPr txBox="1"/>
            <p:nvPr/>
          </p:nvSpPr>
          <p:spPr>
            <a:xfrm>
              <a:off x="6535425" y="2052300"/>
              <a:ext cx="1186800" cy="492600"/>
            </a:xfrm>
            <a:prstGeom prst="rect">
              <a:avLst/>
            </a:prstGeom>
            <a:noFill/>
            <a:ln>
              <a:noFill/>
            </a:ln>
          </p:spPr>
          <p:txBody>
            <a:bodyPr anchorCtr="0" anchor="t" bIns="0" lIns="0" spcFirstLastPara="1" rIns="114175" wrap="square" tIns="0">
              <a:noAutofit/>
            </a:bodyPr>
            <a:lstStyle/>
            <a:p>
              <a:pPr indent="0" lvl="0" marL="0" rtl="0" algn="l">
                <a:spcBef>
                  <a:spcPts val="0"/>
                </a:spcBef>
                <a:spcAft>
                  <a:spcPts val="0"/>
                </a:spcAft>
                <a:buNone/>
              </a:pPr>
              <a:r>
                <a:rPr lang="en" sz="999">
                  <a:solidFill>
                    <a:srgbClr val="4F4B5F"/>
                  </a:solidFill>
                  <a:latin typeface="Red Hat Text"/>
                  <a:ea typeface="Red Hat Text"/>
                  <a:cs typeface="Red Hat Text"/>
                  <a:sym typeface="Red Hat Text"/>
                </a:rPr>
                <a:t>Completed feature extraction for model-ready inputs</a:t>
              </a:r>
              <a:endParaRPr sz="999">
                <a:solidFill>
                  <a:srgbClr val="4F4B5F"/>
                </a:solidFill>
                <a:latin typeface="Red Hat Text"/>
                <a:ea typeface="Red Hat Text"/>
                <a:cs typeface="Red Hat Text"/>
                <a:sym typeface="Red Hat Text"/>
              </a:endParaRPr>
            </a:p>
          </p:txBody>
        </p:sp>
        <p:sp>
          <p:nvSpPr>
            <p:cNvPr id="248" name="Google Shape;248;p34"/>
            <p:cNvSpPr txBox="1"/>
            <p:nvPr/>
          </p:nvSpPr>
          <p:spPr>
            <a:xfrm>
              <a:off x="6535424" y="1570278"/>
              <a:ext cx="1318500" cy="3693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lang="en" sz="1499">
                  <a:solidFill>
                    <a:srgbClr val="684BA9"/>
                  </a:solidFill>
                  <a:latin typeface="Chakra Petch SemiBold"/>
                  <a:ea typeface="Chakra Petch SemiBold"/>
                  <a:cs typeface="Chakra Petch SemiBold"/>
                  <a:sym typeface="Chakra Petch SemiBold"/>
                </a:rPr>
                <a:t>FEATURE</a:t>
              </a:r>
              <a:r>
                <a:rPr lang="en" sz="1499">
                  <a:solidFill>
                    <a:srgbClr val="E5622B"/>
                  </a:solidFill>
                  <a:latin typeface="Chakra Petch SemiBold"/>
                  <a:ea typeface="Chakra Petch SemiBold"/>
                  <a:cs typeface="Chakra Petch SemiBold"/>
                  <a:sym typeface="Chakra Petch SemiBold"/>
                </a:rPr>
                <a:t> </a:t>
              </a:r>
              <a:r>
                <a:rPr lang="en" sz="1499">
                  <a:solidFill>
                    <a:srgbClr val="684BA9"/>
                  </a:solidFill>
                  <a:latin typeface="Chakra Petch SemiBold"/>
                  <a:ea typeface="Chakra Petch SemiBold"/>
                  <a:cs typeface="Chakra Petch SemiBold"/>
                  <a:sym typeface="Chakra Petch SemiBold"/>
                </a:rPr>
                <a:t>EXTRACTION</a:t>
              </a:r>
              <a:endParaRPr sz="1499">
                <a:solidFill>
                  <a:srgbClr val="684BA9"/>
                </a:solidFill>
                <a:latin typeface="Chakra Petch SemiBold"/>
                <a:ea typeface="Chakra Petch SemiBold"/>
                <a:cs typeface="Chakra Petch SemiBold"/>
                <a:sym typeface="Chakra Petch SemiBold"/>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Expected Milestones and Timeline</a:t>
            </a:r>
            <a:endParaRPr/>
          </a:p>
        </p:txBody>
      </p:sp>
      <p:grpSp>
        <p:nvGrpSpPr>
          <p:cNvPr id="254" name="Google Shape;254;p35"/>
          <p:cNvGrpSpPr/>
          <p:nvPr/>
        </p:nvGrpSpPr>
        <p:grpSpPr>
          <a:xfrm>
            <a:off x="134453" y="1307250"/>
            <a:ext cx="7155343" cy="2948346"/>
            <a:chOff x="1134675" y="1391276"/>
            <a:chExt cx="6719262" cy="2360943"/>
          </a:xfrm>
        </p:grpSpPr>
        <p:sp>
          <p:nvSpPr>
            <p:cNvPr id="255" name="Google Shape;255;p35"/>
            <p:cNvSpPr txBox="1"/>
            <p:nvPr/>
          </p:nvSpPr>
          <p:spPr>
            <a:xfrm>
              <a:off x="1224063" y="1391276"/>
              <a:ext cx="1318500" cy="985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992">
                  <a:solidFill>
                    <a:srgbClr val="4F4B5F"/>
                  </a:solidFill>
                  <a:latin typeface="Chakra Petch"/>
                  <a:ea typeface="Chakra Petch"/>
                  <a:cs typeface="Chakra Petch"/>
                  <a:sym typeface="Chakra Petch"/>
                </a:rPr>
                <a:t>05</a:t>
              </a:r>
              <a:endParaRPr b="1" sz="7992">
                <a:solidFill>
                  <a:srgbClr val="4F4B5F"/>
                </a:solidFill>
                <a:latin typeface="Chakra Petch"/>
                <a:ea typeface="Chakra Petch"/>
                <a:cs typeface="Chakra Petch"/>
                <a:sym typeface="Chakra Petch"/>
              </a:endParaRPr>
            </a:p>
          </p:txBody>
        </p:sp>
        <p:cxnSp>
          <p:nvCxnSpPr>
            <p:cNvPr id="256" name="Google Shape;256;p35"/>
            <p:cNvCxnSpPr/>
            <p:nvPr/>
          </p:nvCxnSpPr>
          <p:spPr>
            <a:xfrm>
              <a:off x="1134675" y="1528325"/>
              <a:ext cx="0" cy="2129100"/>
            </a:xfrm>
            <a:prstGeom prst="straightConnector1">
              <a:avLst/>
            </a:prstGeom>
            <a:noFill/>
            <a:ln cap="flat" cmpd="sng" w="23800">
              <a:solidFill>
                <a:srgbClr val="D9D9D9"/>
              </a:solidFill>
              <a:prstDash val="solid"/>
              <a:round/>
              <a:headEnd len="med" w="med" type="none"/>
              <a:tailEnd len="med" w="med" type="none"/>
            </a:ln>
          </p:spPr>
        </p:cxnSp>
        <p:sp>
          <p:nvSpPr>
            <p:cNvPr id="257" name="Google Shape;257;p35"/>
            <p:cNvSpPr txBox="1"/>
            <p:nvPr/>
          </p:nvSpPr>
          <p:spPr>
            <a:xfrm>
              <a:off x="1224050" y="2896550"/>
              <a:ext cx="1318500" cy="492600"/>
            </a:xfrm>
            <a:prstGeom prst="rect">
              <a:avLst/>
            </a:prstGeom>
            <a:noFill/>
            <a:ln>
              <a:noFill/>
            </a:ln>
          </p:spPr>
          <p:txBody>
            <a:bodyPr anchorCtr="0" anchor="t" bIns="0" lIns="0" spcFirstLastPara="1" rIns="114175" wrap="square" tIns="0">
              <a:noAutofit/>
            </a:bodyPr>
            <a:lstStyle/>
            <a:p>
              <a:pPr indent="0" lvl="0" marL="0" rtl="0" algn="l">
                <a:spcBef>
                  <a:spcPts val="0"/>
                </a:spcBef>
                <a:spcAft>
                  <a:spcPts val="0"/>
                </a:spcAft>
                <a:buNone/>
              </a:pPr>
              <a:r>
                <a:rPr lang="en" sz="999">
                  <a:solidFill>
                    <a:srgbClr val="4F4B5F"/>
                  </a:solidFill>
                  <a:latin typeface="Red Hat Text"/>
                  <a:ea typeface="Red Hat Text"/>
                  <a:cs typeface="Red Hat Text"/>
                  <a:sym typeface="Red Hat Text"/>
                </a:rPr>
                <a:t>Collected different datasets and combined them</a:t>
              </a:r>
              <a:endParaRPr sz="999">
                <a:solidFill>
                  <a:srgbClr val="4F4B5F"/>
                </a:solidFill>
                <a:latin typeface="Red Hat Text"/>
                <a:ea typeface="Red Hat Text"/>
                <a:cs typeface="Red Hat Text"/>
                <a:sym typeface="Red Hat Text"/>
              </a:endParaRPr>
            </a:p>
          </p:txBody>
        </p:sp>
        <p:sp>
          <p:nvSpPr>
            <p:cNvPr id="258" name="Google Shape;258;p35"/>
            <p:cNvSpPr txBox="1"/>
            <p:nvPr/>
          </p:nvSpPr>
          <p:spPr>
            <a:xfrm>
              <a:off x="1224056" y="2608299"/>
              <a:ext cx="1491600" cy="3693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1499">
                  <a:solidFill>
                    <a:srgbClr val="4F4B5F"/>
                  </a:solidFill>
                  <a:latin typeface="Chakra Petch SemiBold"/>
                  <a:ea typeface="Chakra Petch SemiBold"/>
                  <a:cs typeface="Chakra Petch SemiBold"/>
                  <a:sym typeface="Chakra Petch SemiBold"/>
                </a:rPr>
                <a:t>TRANSFORMER ARCHITECTURE DESIGN</a:t>
              </a:r>
              <a:endParaRPr sz="1499">
                <a:solidFill>
                  <a:srgbClr val="684BA9"/>
                </a:solidFill>
                <a:latin typeface="Chakra Petch SemiBold"/>
                <a:ea typeface="Chakra Petch SemiBold"/>
                <a:cs typeface="Chakra Petch SemiBold"/>
                <a:sym typeface="Chakra Petch SemiBold"/>
              </a:endParaRPr>
            </a:p>
            <a:p>
              <a:pPr indent="0" lvl="0" marL="0" rtl="0" algn="l">
                <a:spcBef>
                  <a:spcPts val="0"/>
                </a:spcBef>
                <a:spcAft>
                  <a:spcPts val="0"/>
                </a:spcAft>
                <a:buNone/>
              </a:pPr>
              <a:r>
                <a:t/>
              </a:r>
              <a:endParaRPr sz="1499">
                <a:solidFill>
                  <a:srgbClr val="4F4B5F"/>
                </a:solidFill>
                <a:latin typeface="Chakra Petch SemiBold"/>
                <a:ea typeface="Chakra Petch SemiBold"/>
                <a:cs typeface="Chakra Petch SemiBold"/>
                <a:sym typeface="Chakra Petch SemiBold"/>
              </a:endParaRPr>
            </a:p>
          </p:txBody>
        </p:sp>
        <p:sp>
          <p:nvSpPr>
            <p:cNvPr id="259" name="Google Shape;259;p35"/>
            <p:cNvSpPr txBox="1"/>
            <p:nvPr/>
          </p:nvSpPr>
          <p:spPr>
            <a:xfrm>
              <a:off x="2892184" y="2763776"/>
              <a:ext cx="1318500" cy="985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992">
                  <a:solidFill>
                    <a:srgbClr val="1D5930"/>
                  </a:solidFill>
                  <a:latin typeface="Chakra Petch"/>
                  <a:ea typeface="Chakra Petch"/>
                  <a:cs typeface="Chakra Petch"/>
                  <a:sym typeface="Chakra Petch"/>
                </a:rPr>
                <a:t>06</a:t>
              </a:r>
              <a:endParaRPr b="1" sz="7992">
                <a:solidFill>
                  <a:srgbClr val="1D5930"/>
                </a:solidFill>
                <a:latin typeface="Chakra Petch"/>
                <a:ea typeface="Chakra Petch"/>
                <a:cs typeface="Chakra Petch"/>
                <a:sym typeface="Chakra Petch"/>
              </a:endParaRPr>
            </a:p>
          </p:txBody>
        </p:sp>
        <p:cxnSp>
          <p:nvCxnSpPr>
            <p:cNvPr id="260" name="Google Shape;260;p35"/>
            <p:cNvCxnSpPr/>
            <p:nvPr/>
          </p:nvCxnSpPr>
          <p:spPr>
            <a:xfrm>
              <a:off x="2814134" y="1501537"/>
              <a:ext cx="0" cy="2163300"/>
            </a:xfrm>
            <a:prstGeom prst="straightConnector1">
              <a:avLst/>
            </a:prstGeom>
            <a:noFill/>
            <a:ln cap="flat" cmpd="sng" w="23800">
              <a:solidFill>
                <a:srgbClr val="D9D9D9"/>
              </a:solidFill>
              <a:prstDash val="solid"/>
              <a:round/>
              <a:headEnd len="med" w="med" type="none"/>
              <a:tailEnd len="med" w="med" type="none"/>
            </a:ln>
          </p:spPr>
        </p:cxnSp>
        <p:sp>
          <p:nvSpPr>
            <p:cNvPr id="261" name="Google Shape;261;p35"/>
            <p:cNvSpPr txBox="1"/>
            <p:nvPr/>
          </p:nvSpPr>
          <p:spPr>
            <a:xfrm>
              <a:off x="2892171" y="2043507"/>
              <a:ext cx="1318500" cy="369300"/>
            </a:xfrm>
            <a:prstGeom prst="rect">
              <a:avLst/>
            </a:prstGeom>
            <a:noFill/>
            <a:ln>
              <a:noFill/>
            </a:ln>
          </p:spPr>
          <p:txBody>
            <a:bodyPr anchorCtr="0" anchor="t" bIns="0" lIns="0" spcFirstLastPara="1" rIns="114175" wrap="square" tIns="0">
              <a:noAutofit/>
            </a:bodyPr>
            <a:lstStyle/>
            <a:p>
              <a:pPr indent="0" lvl="0" marL="0" rtl="0" algn="l">
                <a:spcBef>
                  <a:spcPts val="0"/>
                </a:spcBef>
                <a:spcAft>
                  <a:spcPts val="0"/>
                </a:spcAft>
                <a:buNone/>
              </a:pPr>
              <a:r>
                <a:rPr lang="en" sz="999">
                  <a:solidFill>
                    <a:srgbClr val="4F4B5F"/>
                  </a:solidFill>
                  <a:latin typeface="Red Hat Text"/>
                  <a:ea typeface="Red Hat Text"/>
                  <a:cs typeface="Red Hat Text"/>
                  <a:sym typeface="Red Hat Text"/>
                </a:rPr>
                <a:t>Completed model training for accurate predictions.</a:t>
              </a:r>
              <a:endParaRPr sz="999">
                <a:solidFill>
                  <a:srgbClr val="4F4B5F"/>
                </a:solidFill>
                <a:latin typeface="Red Hat Text"/>
                <a:ea typeface="Red Hat Text"/>
                <a:cs typeface="Red Hat Text"/>
                <a:sym typeface="Red Hat Text"/>
              </a:endParaRPr>
            </a:p>
          </p:txBody>
        </p:sp>
        <p:sp>
          <p:nvSpPr>
            <p:cNvPr id="262" name="Google Shape;262;p35"/>
            <p:cNvSpPr txBox="1"/>
            <p:nvPr/>
          </p:nvSpPr>
          <p:spPr>
            <a:xfrm>
              <a:off x="2892197" y="1567044"/>
              <a:ext cx="1515600" cy="3693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1499">
                  <a:solidFill>
                    <a:srgbClr val="1D5930"/>
                  </a:solidFill>
                  <a:latin typeface="Chakra Petch SemiBold"/>
                  <a:ea typeface="Chakra Petch SemiBold"/>
                  <a:cs typeface="Chakra Petch SemiBold"/>
                  <a:sym typeface="Chakra Petch SemiBold"/>
                </a:rPr>
                <a:t>MODEL</a:t>
              </a:r>
              <a:r>
                <a:rPr lang="en" sz="1499">
                  <a:solidFill>
                    <a:srgbClr val="4F4B5F"/>
                  </a:solidFill>
                  <a:latin typeface="Chakra Petch SemiBold"/>
                  <a:ea typeface="Chakra Petch SemiBold"/>
                  <a:cs typeface="Chakra Petch SemiBold"/>
                  <a:sym typeface="Chakra Petch SemiBold"/>
                </a:rPr>
                <a:t> </a:t>
              </a:r>
              <a:r>
                <a:rPr lang="en" sz="1499">
                  <a:solidFill>
                    <a:srgbClr val="1D5930"/>
                  </a:solidFill>
                  <a:latin typeface="Chakra Petch SemiBold"/>
                  <a:ea typeface="Chakra Petch SemiBold"/>
                  <a:cs typeface="Chakra Petch SemiBold"/>
                  <a:sym typeface="Chakra Petch SemiBold"/>
                </a:rPr>
                <a:t>TRAINING</a:t>
              </a:r>
              <a:endParaRPr sz="1499">
                <a:solidFill>
                  <a:srgbClr val="4F4B5F"/>
                </a:solidFill>
                <a:latin typeface="Chakra Petch SemiBold"/>
                <a:ea typeface="Chakra Petch SemiBold"/>
                <a:cs typeface="Chakra Petch SemiBold"/>
                <a:sym typeface="Chakra Petch SemiBold"/>
              </a:endParaRPr>
            </a:p>
            <a:p>
              <a:pPr indent="0" lvl="0" marL="0" rtl="0" algn="l">
                <a:spcBef>
                  <a:spcPts val="0"/>
                </a:spcBef>
                <a:spcAft>
                  <a:spcPts val="0"/>
                </a:spcAft>
                <a:buNone/>
              </a:pPr>
              <a:r>
                <a:t/>
              </a:r>
              <a:endParaRPr sz="1499">
                <a:solidFill>
                  <a:srgbClr val="1D5930"/>
                </a:solidFill>
                <a:latin typeface="Chakra Petch SemiBold"/>
                <a:ea typeface="Chakra Petch SemiBold"/>
                <a:cs typeface="Chakra Petch SemiBold"/>
                <a:sym typeface="Chakra Petch SemiBold"/>
              </a:endParaRPr>
            </a:p>
          </p:txBody>
        </p:sp>
        <p:sp>
          <p:nvSpPr>
            <p:cNvPr id="263" name="Google Shape;263;p35"/>
            <p:cNvSpPr txBox="1"/>
            <p:nvPr/>
          </p:nvSpPr>
          <p:spPr>
            <a:xfrm>
              <a:off x="4768763" y="1391276"/>
              <a:ext cx="1318500" cy="985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992">
                  <a:solidFill>
                    <a:srgbClr val="E5622B"/>
                  </a:solidFill>
                  <a:latin typeface="Chakra Petch"/>
                  <a:ea typeface="Chakra Petch"/>
                  <a:cs typeface="Chakra Petch"/>
                  <a:sym typeface="Chakra Petch"/>
                </a:rPr>
                <a:t>07</a:t>
              </a:r>
              <a:endParaRPr b="1" sz="7992">
                <a:solidFill>
                  <a:srgbClr val="E5622B"/>
                </a:solidFill>
                <a:latin typeface="Chakra Petch"/>
                <a:ea typeface="Chakra Petch"/>
                <a:cs typeface="Chakra Petch"/>
                <a:sym typeface="Chakra Petch"/>
              </a:endParaRPr>
            </a:p>
          </p:txBody>
        </p:sp>
        <p:cxnSp>
          <p:nvCxnSpPr>
            <p:cNvPr id="264" name="Google Shape;264;p35"/>
            <p:cNvCxnSpPr/>
            <p:nvPr/>
          </p:nvCxnSpPr>
          <p:spPr>
            <a:xfrm>
              <a:off x="4679363" y="1597763"/>
              <a:ext cx="0" cy="2055000"/>
            </a:xfrm>
            <a:prstGeom prst="straightConnector1">
              <a:avLst/>
            </a:prstGeom>
            <a:noFill/>
            <a:ln cap="flat" cmpd="sng" w="23800">
              <a:solidFill>
                <a:srgbClr val="D9D9D9"/>
              </a:solidFill>
              <a:prstDash val="solid"/>
              <a:round/>
              <a:headEnd len="med" w="med" type="none"/>
              <a:tailEnd len="med" w="med" type="none"/>
            </a:ln>
          </p:spPr>
        </p:cxnSp>
        <p:sp>
          <p:nvSpPr>
            <p:cNvPr id="265" name="Google Shape;265;p35"/>
            <p:cNvSpPr txBox="1"/>
            <p:nvPr/>
          </p:nvSpPr>
          <p:spPr>
            <a:xfrm>
              <a:off x="4768775" y="2856475"/>
              <a:ext cx="1318500" cy="492600"/>
            </a:xfrm>
            <a:prstGeom prst="rect">
              <a:avLst/>
            </a:prstGeom>
            <a:noFill/>
            <a:ln>
              <a:noFill/>
            </a:ln>
          </p:spPr>
          <p:txBody>
            <a:bodyPr anchorCtr="0" anchor="t" bIns="0" lIns="0" spcFirstLastPara="1" rIns="114175" wrap="square" tIns="0">
              <a:noAutofit/>
            </a:bodyPr>
            <a:lstStyle/>
            <a:p>
              <a:pPr indent="0" lvl="0" marL="0" rtl="0" algn="l">
                <a:spcBef>
                  <a:spcPts val="0"/>
                </a:spcBef>
                <a:spcAft>
                  <a:spcPts val="0"/>
                </a:spcAft>
                <a:buNone/>
              </a:pPr>
              <a:r>
                <a:rPr lang="en" sz="999">
                  <a:solidFill>
                    <a:srgbClr val="4F4B5F"/>
                  </a:solidFill>
                  <a:latin typeface="Red Hat Text"/>
                  <a:ea typeface="Red Hat Text"/>
                  <a:cs typeface="Red Hat Text"/>
                  <a:sym typeface="Red Hat Text"/>
                </a:rPr>
                <a:t>Clinical Inference using XAI</a:t>
              </a:r>
              <a:endParaRPr sz="999">
                <a:solidFill>
                  <a:srgbClr val="4F4B5F"/>
                </a:solidFill>
                <a:latin typeface="Red Hat Text"/>
                <a:ea typeface="Red Hat Text"/>
                <a:cs typeface="Red Hat Text"/>
                <a:sym typeface="Red Hat Text"/>
              </a:endParaRPr>
            </a:p>
          </p:txBody>
        </p:sp>
        <p:sp>
          <p:nvSpPr>
            <p:cNvPr id="266" name="Google Shape;266;p35"/>
            <p:cNvSpPr txBox="1"/>
            <p:nvPr/>
          </p:nvSpPr>
          <p:spPr>
            <a:xfrm>
              <a:off x="4768776" y="2403463"/>
              <a:ext cx="1515600" cy="3693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 sz="1499">
                  <a:solidFill>
                    <a:srgbClr val="E5622B"/>
                  </a:solidFill>
                  <a:latin typeface="Chakra Petch SemiBold"/>
                  <a:ea typeface="Chakra Petch SemiBold"/>
                  <a:cs typeface="Chakra Petch SemiBold"/>
                  <a:sym typeface="Chakra Petch SemiBold"/>
                </a:rPr>
                <a:t>INFERENCE GENERATION - XAI</a:t>
              </a:r>
              <a:endParaRPr sz="1499">
                <a:solidFill>
                  <a:srgbClr val="E5622B"/>
                </a:solidFill>
                <a:latin typeface="Chakra Petch SemiBold"/>
                <a:ea typeface="Chakra Petch SemiBold"/>
                <a:cs typeface="Chakra Petch SemiBold"/>
                <a:sym typeface="Chakra Petch SemiBold"/>
              </a:endParaRPr>
            </a:p>
          </p:txBody>
        </p:sp>
        <p:sp>
          <p:nvSpPr>
            <p:cNvPr id="267" name="Google Shape;267;p35"/>
            <p:cNvSpPr txBox="1"/>
            <p:nvPr/>
          </p:nvSpPr>
          <p:spPr>
            <a:xfrm>
              <a:off x="6535437" y="2767019"/>
              <a:ext cx="1318500" cy="985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992">
                  <a:solidFill>
                    <a:srgbClr val="684BA9"/>
                  </a:solidFill>
                  <a:latin typeface="Chakra Petch"/>
                  <a:ea typeface="Chakra Petch"/>
                  <a:cs typeface="Chakra Petch"/>
                  <a:sym typeface="Chakra Petch"/>
                </a:rPr>
                <a:t>08</a:t>
              </a:r>
              <a:endParaRPr b="1" sz="7992">
                <a:solidFill>
                  <a:srgbClr val="684BA9"/>
                </a:solidFill>
                <a:latin typeface="Chakra Petch"/>
                <a:ea typeface="Chakra Petch"/>
                <a:cs typeface="Chakra Petch"/>
                <a:sym typeface="Chakra Petch"/>
              </a:endParaRPr>
            </a:p>
          </p:txBody>
        </p:sp>
        <p:cxnSp>
          <p:nvCxnSpPr>
            <p:cNvPr id="268" name="Google Shape;268;p35"/>
            <p:cNvCxnSpPr/>
            <p:nvPr/>
          </p:nvCxnSpPr>
          <p:spPr>
            <a:xfrm>
              <a:off x="6457400" y="1504788"/>
              <a:ext cx="0" cy="2152500"/>
            </a:xfrm>
            <a:prstGeom prst="straightConnector1">
              <a:avLst/>
            </a:prstGeom>
            <a:noFill/>
            <a:ln cap="flat" cmpd="sng" w="23800">
              <a:solidFill>
                <a:srgbClr val="D9D9D9"/>
              </a:solidFill>
              <a:prstDash val="solid"/>
              <a:round/>
              <a:headEnd len="med" w="med" type="none"/>
              <a:tailEnd len="med" w="med" type="none"/>
            </a:ln>
          </p:spPr>
        </p:cxnSp>
        <p:sp>
          <p:nvSpPr>
            <p:cNvPr id="269" name="Google Shape;269;p35"/>
            <p:cNvSpPr txBox="1"/>
            <p:nvPr/>
          </p:nvSpPr>
          <p:spPr>
            <a:xfrm>
              <a:off x="6535425" y="2052300"/>
              <a:ext cx="1186800" cy="492600"/>
            </a:xfrm>
            <a:prstGeom prst="rect">
              <a:avLst/>
            </a:prstGeom>
            <a:noFill/>
            <a:ln>
              <a:noFill/>
            </a:ln>
          </p:spPr>
          <p:txBody>
            <a:bodyPr anchorCtr="0" anchor="t" bIns="0" lIns="0" spcFirstLastPara="1" rIns="114175" wrap="square" tIns="0">
              <a:noAutofit/>
            </a:bodyPr>
            <a:lstStyle/>
            <a:p>
              <a:pPr indent="0" lvl="0" marL="0" rtl="0" algn="l">
                <a:spcBef>
                  <a:spcPts val="0"/>
                </a:spcBef>
                <a:spcAft>
                  <a:spcPts val="0"/>
                </a:spcAft>
                <a:buNone/>
              </a:pPr>
              <a:r>
                <a:rPr lang="en" sz="999">
                  <a:solidFill>
                    <a:srgbClr val="4F4B5F"/>
                  </a:solidFill>
                  <a:latin typeface="Red Hat Text"/>
                  <a:ea typeface="Red Hat Text"/>
                  <a:cs typeface="Red Hat Text"/>
                  <a:sym typeface="Red Hat Text"/>
                </a:rPr>
                <a:t>Multiagentic system for remedy generation and </a:t>
              </a:r>
              <a:r>
                <a:rPr lang="en" sz="999">
                  <a:solidFill>
                    <a:srgbClr val="4F4B5F"/>
                  </a:solidFill>
                  <a:latin typeface="Red Hat Text"/>
                  <a:ea typeface="Red Hat Text"/>
                  <a:cs typeface="Red Hat Text"/>
                  <a:sym typeface="Red Hat Text"/>
                </a:rPr>
                <a:t>medical</a:t>
              </a:r>
              <a:r>
                <a:rPr lang="en" sz="999">
                  <a:solidFill>
                    <a:srgbClr val="4F4B5F"/>
                  </a:solidFill>
                  <a:latin typeface="Red Hat Text"/>
                  <a:ea typeface="Red Hat Text"/>
                  <a:cs typeface="Red Hat Text"/>
                  <a:sym typeface="Red Hat Text"/>
                </a:rPr>
                <a:t> query</a:t>
              </a:r>
              <a:endParaRPr sz="999">
                <a:solidFill>
                  <a:srgbClr val="4F4B5F"/>
                </a:solidFill>
                <a:latin typeface="Red Hat Text"/>
                <a:ea typeface="Red Hat Text"/>
                <a:cs typeface="Red Hat Text"/>
                <a:sym typeface="Red Hat Text"/>
              </a:endParaRPr>
            </a:p>
          </p:txBody>
        </p:sp>
        <p:sp>
          <p:nvSpPr>
            <p:cNvPr id="270" name="Google Shape;270;p35"/>
            <p:cNvSpPr txBox="1"/>
            <p:nvPr/>
          </p:nvSpPr>
          <p:spPr>
            <a:xfrm>
              <a:off x="6535424" y="1570278"/>
              <a:ext cx="1318500" cy="3693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 sz="1499">
                  <a:solidFill>
                    <a:srgbClr val="684BA9"/>
                  </a:solidFill>
                  <a:latin typeface="Chakra Petch SemiBold"/>
                  <a:ea typeface="Chakra Petch SemiBold"/>
                  <a:cs typeface="Chakra Petch SemiBold"/>
                  <a:sym typeface="Chakra Petch SemiBold"/>
                </a:rPr>
                <a:t>AGENTIC AI WITH RAG</a:t>
              </a:r>
              <a:endParaRPr sz="1499">
                <a:solidFill>
                  <a:srgbClr val="684BA9"/>
                </a:solidFill>
                <a:latin typeface="Chakra Petch SemiBold"/>
                <a:ea typeface="Chakra Petch SemiBold"/>
                <a:cs typeface="Chakra Petch SemiBold"/>
                <a:sym typeface="Chakra Petch SemiBold"/>
              </a:endParaRPr>
            </a:p>
          </p:txBody>
        </p:sp>
      </p:grpSp>
      <p:grpSp>
        <p:nvGrpSpPr>
          <p:cNvPr id="271" name="Google Shape;271;p35"/>
          <p:cNvGrpSpPr/>
          <p:nvPr/>
        </p:nvGrpSpPr>
        <p:grpSpPr>
          <a:xfrm>
            <a:off x="7356253" y="1366450"/>
            <a:ext cx="1683587" cy="2829966"/>
            <a:chOff x="1134675" y="1391276"/>
            <a:chExt cx="1580981" cy="2266149"/>
          </a:xfrm>
        </p:grpSpPr>
        <p:sp>
          <p:nvSpPr>
            <p:cNvPr id="272" name="Google Shape;272;p35"/>
            <p:cNvSpPr txBox="1"/>
            <p:nvPr/>
          </p:nvSpPr>
          <p:spPr>
            <a:xfrm>
              <a:off x="1224063" y="1391276"/>
              <a:ext cx="1318500" cy="985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992">
                  <a:solidFill>
                    <a:srgbClr val="4F4B5F"/>
                  </a:solidFill>
                  <a:latin typeface="Chakra Petch"/>
                  <a:ea typeface="Chakra Petch"/>
                  <a:cs typeface="Chakra Petch"/>
                  <a:sym typeface="Chakra Petch"/>
                </a:rPr>
                <a:t>09</a:t>
              </a:r>
              <a:endParaRPr b="1" sz="7992">
                <a:solidFill>
                  <a:srgbClr val="4F4B5F"/>
                </a:solidFill>
                <a:latin typeface="Chakra Petch"/>
                <a:ea typeface="Chakra Petch"/>
                <a:cs typeface="Chakra Petch"/>
                <a:sym typeface="Chakra Petch"/>
              </a:endParaRPr>
            </a:p>
          </p:txBody>
        </p:sp>
        <p:cxnSp>
          <p:nvCxnSpPr>
            <p:cNvPr id="273" name="Google Shape;273;p35"/>
            <p:cNvCxnSpPr/>
            <p:nvPr/>
          </p:nvCxnSpPr>
          <p:spPr>
            <a:xfrm>
              <a:off x="1134675" y="1528325"/>
              <a:ext cx="0" cy="2129100"/>
            </a:xfrm>
            <a:prstGeom prst="straightConnector1">
              <a:avLst/>
            </a:prstGeom>
            <a:noFill/>
            <a:ln cap="flat" cmpd="sng" w="23800">
              <a:solidFill>
                <a:srgbClr val="D9D9D9"/>
              </a:solidFill>
              <a:prstDash val="solid"/>
              <a:round/>
              <a:headEnd len="med" w="med" type="none"/>
              <a:tailEnd len="med" w="med" type="none"/>
            </a:ln>
          </p:spPr>
        </p:cxnSp>
        <p:sp>
          <p:nvSpPr>
            <p:cNvPr id="274" name="Google Shape;274;p35"/>
            <p:cNvSpPr txBox="1"/>
            <p:nvPr/>
          </p:nvSpPr>
          <p:spPr>
            <a:xfrm>
              <a:off x="1224050" y="2896550"/>
              <a:ext cx="1318500" cy="492600"/>
            </a:xfrm>
            <a:prstGeom prst="rect">
              <a:avLst/>
            </a:prstGeom>
            <a:noFill/>
            <a:ln>
              <a:noFill/>
            </a:ln>
          </p:spPr>
          <p:txBody>
            <a:bodyPr anchorCtr="0" anchor="t" bIns="0" lIns="0" spcFirstLastPara="1" rIns="114175" wrap="square" tIns="0">
              <a:noAutofit/>
            </a:bodyPr>
            <a:lstStyle/>
            <a:p>
              <a:pPr indent="0" lvl="0" marL="0" rtl="0" algn="l">
                <a:spcBef>
                  <a:spcPts val="0"/>
                </a:spcBef>
                <a:spcAft>
                  <a:spcPts val="0"/>
                </a:spcAft>
                <a:buNone/>
              </a:pPr>
              <a:r>
                <a:rPr lang="en" sz="999">
                  <a:solidFill>
                    <a:srgbClr val="4F4B5F"/>
                  </a:solidFill>
                  <a:latin typeface="Red Hat Text"/>
                  <a:ea typeface="Red Hat Text"/>
                  <a:cs typeface="Red Hat Text"/>
                  <a:sym typeface="Red Hat Text"/>
                </a:rPr>
                <a:t>Developed and deployed a cloud based webapp</a:t>
              </a:r>
              <a:endParaRPr sz="999">
                <a:solidFill>
                  <a:srgbClr val="4F4B5F"/>
                </a:solidFill>
                <a:latin typeface="Red Hat Text"/>
                <a:ea typeface="Red Hat Text"/>
                <a:cs typeface="Red Hat Text"/>
                <a:sym typeface="Red Hat Text"/>
              </a:endParaRPr>
            </a:p>
          </p:txBody>
        </p:sp>
        <p:sp>
          <p:nvSpPr>
            <p:cNvPr id="275" name="Google Shape;275;p35"/>
            <p:cNvSpPr txBox="1"/>
            <p:nvPr/>
          </p:nvSpPr>
          <p:spPr>
            <a:xfrm>
              <a:off x="1224056" y="2608299"/>
              <a:ext cx="1491600" cy="3693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1499">
                  <a:solidFill>
                    <a:srgbClr val="4F4B5F"/>
                  </a:solidFill>
                  <a:latin typeface="Chakra Petch SemiBold"/>
                  <a:ea typeface="Chakra Petch SemiBold"/>
                  <a:cs typeface="Chakra Petch SemiBold"/>
                  <a:sym typeface="Chakra Petch SemiBold"/>
                </a:rPr>
                <a:t>WEB APP DEVELOPMENT</a:t>
              </a:r>
              <a:endParaRPr sz="1499">
                <a:solidFill>
                  <a:srgbClr val="684BA9"/>
                </a:solidFill>
                <a:latin typeface="Chakra Petch SemiBold"/>
                <a:ea typeface="Chakra Petch SemiBold"/>
                <a:cs typeface="Chakra Petch SemiBold"/>
                <a:sym typeface="Chakra Petch SemiBold"/>
              </a:endParaRPr>
            </a:p>
            <a:p>
              <a:pPr indent="0" lvl="0" marL="0" rtl="0" algn="l">
                <a:spcBef>
                  <a:spcPts val="0"/>
                </a:spcBef>
                <a:spcAft>
                  <a:spcPts val="0"/>
                </a:spcAft>
                <a:buNone/>
              </a:pPr>
              <a:r>
                <a:t/>
              </a:r>
              <a:endParaRPr sz="1499">
                <a:solidFill>
                  <a:srgbClr val="4F4B5F"/>
                </a:solidFill>
                <a:latin typeface="Chakra Petch SemiBold"/>
                <a:ea typeface="Chakra Petch SemiBold"/>
                <a:cs typeface="Chakra Petch SemiBold"/>
                <a:sym typeface="Chakra Petch SemiBold"/>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6"/>
          <p:cNvSpPr txBox="1"/>
          <p:nvPr>
            <p:ph type="title"/>
          </p:nvPr>
        </p:nvSpPr>
        <p:spPr>
          <a:xfrm>
            <a:off x="311700" y="2454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Individual Contribution</a:t>
            </a:r>
            <a:endParaRPr/>
          </a:p>
        </p:txBody>
      </p:sp>
      <p:sp>
        <p:nvSpPr>
          <p:cNvPr id="281" name="Google Shape;281;p36"/>
          <p:cNvSpPr txBox="1"/>
          <p:nvPr>
            <p:ph idx="1" type="body"/>
          </p:nvPr>
        </p:nvSpPr>
        <p:spPr>
          <a:xfrm>
            <a:off x="311700" y="818100"/>
            <a:ext cx="8520600" cy="4130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Girish - Architecture and System Design</a:t>
            </a:r>
            <a:endParaRPr/>
          </a:p>
          <a:p>
            <a:pPr indent="-342900" lvl="0" marL="457200" rtl="0" algn="l">
              <a:spcBef>
                <a:spcPts val="0"/>
              </a:spcBef>
              <a:spcAft>
                <a:spcPts val="0"/>
              </a:spcAft>
              <a:buSzPts val="1800"/>
              <a:buChar char="●"/>
            </a:pPr>
            <a:r>
              <a:rPr lang="en"/>
              <a:t>Anuvind - Front End Development/ Model Training</a:t>
            </a:r>
            <a:endParaRPr/>
          </a:p>
          <a:p>
            <a:pPr indent="-342900" lvl="0" marL="457200" rtl="0" algn="l">
              <a:spcBef>
                <a:spcPts val="0"/>
              </a:spcBef>
              <a:spcAft>
                <a:spcPts val="0"/>
              </a:spcAft>
              <a:buSzPts val="1800"/>
              <a:buChar char="●"/>
            </a:pPr>
            <a:r>
              <a:rPr lang="en"/>
              <a:t>Harishankar - Data Preprocessing, Harmonization</a:t>
            </a:r>
            <a:endParaRPr/>
          </a:p>
          <a:p>
            <a:pPr indent="-342900" lvl="0" marL="457200" rtl="0" algn="l">
              <a:spcBef>
                <a:spcPts val="0"/>
              </a:spcBef>
              <a:spcAft>
                <a:spcPts val="0"/>
              </a:spcAft>
              <a:buSzPts val="1800"/>
              <a:buChar char="●"/>
            </a:pPr>
            <a:r>
              <a:rPr lang="en"/>
              <a:t>Harish - ENAS Optimization, Data Preprocessing</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