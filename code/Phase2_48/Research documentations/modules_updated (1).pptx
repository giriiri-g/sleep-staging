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c83d4a68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c83d4a6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90c8844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90c8844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c83d4a68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c83d4a6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c83d4a68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c83d4a68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90c884428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90c88442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107506" y="178219"/>
            <a:ext cx="12082731" cy="2044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Team 1 – Generalised Lightweight Multimodal Learning Framework for Predicting Health Risk in Elderly Cohorts using PSG Signals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34692" y="2424836"/>
            <a:ext cx="12162501" cy="4218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Ingestion ( </a:t>
            </a:r>
            <a:r>
              <a:rPr lang="en-US">
                <a:solidFill>
                  <a:srgbClr val="FF0000"/>
                </a:solidFill>
              </a:rPr>
              <a:t>data fusion</a:t>
            </a:r>
            <a:r>
              <a:rPr lang="en-US"/>
              <a:t>, Generalisation, Feature selection,  pre-processing)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Feature Representation (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Dimension reduction, Intra-night representation, inter-night representation)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NAS (</a:t>
            </a:r>
            <a:r>
              <a:rPr b="1" lang="en-US">
                <a:solidFill>
                  <a:srgbClr val="FF0000"/>
                </a:solidFill>
              </a:rPr>
              <a:t>which methodology?</a:t>
            </a:r>
            <a:r>
              <a:rPr b="1" lang="en-US"/>
              <a:t> memory constraint, training cost, inference time)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Health Risk Prediction – Alzheimers, Heart disease,(Insomnia, Depression,Asthma)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Model Evaluation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Datasets Used – Mesa, SHHS, CFS,WSC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Deliverables :-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real-time short-term health risk analysis module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Clinical grade interpretable results such as signal importance, signal anomaly detection with visual representation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Query-able health chatbot with RAG for personalized results on the risk analysis and actionable insights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-US">
                <a:solidFill>
                  <a:srgbClr val="FF0000"/>
                </a:solidFill>
              </a:rPr>
              <a:t>An end-to-end software from PSG signal streaming to reliable interface with emergency notification and analysis report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1057375" y="250575"/>
            <a:ext cx="3079200" cy="1356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-62650" y="1606874"/>
            <a:ext cx="7165800" cy="38829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FF00"/>
              </a:buClr>
              <a:buSzPts val="1800"/>
              <a:buChar char="•"/>
            </a:pPr>
            <a:r>
              <a:rPr lang="en-US">
                <a:solidFill>
                  <a:srgbClr val="00FF00"/>
                </a:solidFill>
              </a:rPr>
              <a:t>Data Harmonization</a:t>
            </a:r>
            <a:endParaRPr>
              <a:solidFill>
                <a:srgbClr val="00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800"/>
              <a:buChar char="•"/>
            </a:pPr>
            <a:r>
              <a:rPr lang="en-US">
                <a:solidFill>
                  <a:srgbClr val="00FF00"/>
                </a:solidFill>
              </a:rPr>
              <a:t>Architecture and System Design</a:t>
            </a:r>
            <a:endParaRPr>
              <a:solidFill>
                <a:srgbClr val="00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800"/>
              <a:buChar char="•"/>
            </a:pPr>
            <a:r>
              <a:rPr lang="en-US">
                <a:solidFill>
                  <a:srgbClr val="00FF00"/>
                </a:solidFill>
              </a:rPr>
              <a:t>Data Preprocessing</a:t>
            </a:r>
            <a:endParaRPr>
              <a:solidFill>
                <a:srgbClr val="00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Feature Extraction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800"/>
              <a:buChar char="•"/>
            </a:pPr>
            <a:r>
              <a:rPr lang="en-US">
                <a:solidFill>
                  <a:srgbClr val="00FF00"/>
                </a:solidFill>
              </a:rPr>
              <a:t>ENAS Optimization</a:t>
            </a:r>
            <a:endParaRPr>
              <a:solidFill>
                <a:srgbClr val="00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Model Training and Evaluation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•"/>
            </a:pPr>
            <a:r>
              <a:rPr lang="en-US">
                <a:solidFill>
                  <a:srgbClr val="999999"/>
                </a:solidFill>
              </a:rPr>
              <a:t>Tauri Development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•"/>
            </a:pPr>
            <a:r>
              <a:rPr lang="en-US">
                <a:solidFill>
                  <a:srgbClr val="999999"/>
                </a:solidFill>
              </a:rPr>
              <a:t>Model Integration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•"/>
            </a:pPr>
            <a:r>
              <a:rPr lang="en-US">
                <a:solidFill>
                  <a:srgbClr val="999999"/>
                </a:solidFill>
              </a:rPr>
              <a:t>Deployment and benchmark testing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6132500" y="38337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Channel Aggregation, Feature selections</a:t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6132500" y="115357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Functional and non functional requirements, module specifications, database in system, frontend design, HLD and LLD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6132500" y="192377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channel resampling, artifact removal, bandpass filtering, interpolation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6132500" y="269397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channel merging, segment level feature extraction, concatenation, full night feature extraction, VAE, embeddings generation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6132500" y="4192550"/>
            <a:ext cx="5949900" cy="155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 space with convs, dilated convs, lstm, pooling, attention etc.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 strategy: mainly DART and RL based is explored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Estimation strategy: full evaluation and partial evaluation is tested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performance estimation: parameter count and flops estimation, zero-cost proxies are 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RL based search uses REINFORCE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132500" y="346417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Tauri is used to develop the browserless application, it will use js based coding for frontend, the optimized model will run locally on the gpu, backend is also kept locally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6132500" y="584822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need to make the application portable, package requirements, gpu-less environment is also considered, setup file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137652" y="168479"/>
            <a:ext cx="11879825" cy="2026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Team 2 – Personalised, Interpretable and actionable insights for Sleep disorder prediction in using polysomnography data.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137652" y="2206626"/>
            <a:ext cx="11879825" cy="4486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859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Data Ingestion (Generalisation, Feature selection,  pre-processing)</a:t>
            </a:r>
            <a:endParaRPr/>
          </a:p>
          <a:p>
            <a:pPr indent="-18859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Feature Representation (</a:t>
            </a:r>
            <a:r>
              <a:rPr lang="en-US">
                <a:solidFill>
                  <a:srgbClr val="FF0000"/>
                </a:solidFill>
              </a:rPr>
              <a:t>Embedding Algorithm, </a:t>
            </a:r>
            <a:r>
              <a:rPr lang="en-US"/>
              <a:t>Dimension reduction, Intra-night representation,inter-night representation) </a:t>
            </a:r>
            <a:endParaRPr/>
          </a:p>
          <a:p>
            <a:pPr indent="-18859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Sleep staging with actionable insights using sleep data and questionnaires.</a:t>
            </a:r>
            <a:endParaRPr b="1"/>
          </a:p>
          <a:p>
            <a:pPr indent="-18859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Custom Architecture (Multihead Attention Transformer,GNN)</a:t>
            </a:r>
            <a:endParaRPr/>
          </a:p>
          <a:p>
            <a:pPr indent="-18859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Interpretability (Clinician:Signal importance. Patient: Health chat bot, risk analysis report- actionable insights)</a:t>
            </a:r>
            <a:endParaRPr/>
          </a:p>
          <a:p>
            <a:pPr indent="-18859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Personalisation - </a:t>
            </a:r>
            <a:r>
              <a:rPr i="1" lang="en-US"/>
              <a:t>continuous</a:t>
            </a:r>
            <a:r>
              <a:rPr i="1" lang="en-US"/>
              <a:t> learning</a:t>
            </a:r>
            <a:endParaRPr i="1"/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6"/>
              <a:buChar char="•"/>
            </a:pPr>
            <a:r>
              <a:rPr i="1" lang="en-US"/>
              <a:t>Remedy generation through accountable sources using agentic ai and RAG</a:t>
            </a:r>
            <a:endParaRPr i="1"/>
          </a:p>
          <a:p>
            <a:pPr indent="-18859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Datasets Used – Mesa, SHHS, CFS,WSC</a:t>
            </a:r>
            <a:endParaRPr i="1"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1161800" y="1690825"/>
            <a:ext cx="10099200" cy="44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4328" lvl="0" marL="457200" rtl="0" algn="l">
              <a:spcBef>
                <a:spcPts val="100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Sleep Disorder detection from sleep staging and sleep metrics</a:t>
            </a:r>
            <a:br>
              <a:rPr lang="en-US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Actionable insights based on sleep staging and sleep metrics.</a:t>
            </a:r>
            <a:br>
              <a:rPr lang="en-US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Clinical grade interpretable results such as signal importance, signal anomaly detection with visual representation.</a:t>
            </a:r>
            <a:br>
              <a:rPr lang="en-US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Query-able chatbot for medical advice and explanation</a:t>
            </a:r>
            <a:br>
              <a:rPr lang="en-US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Multi-Agentic System for Remedy generation with advanced RAG capabilities such as article reranking and multi-hop question answering.</a:t>
            </a:r>
            <a:br>
              <a:rPr lang="en-US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A web interface for global point access and cloud deployment</a:t>
            </a:r>
            <a:endParaRPr/>
          </a:p>
        </p:txBody>
      </p:sp>
      <p:sp>
        <p:nvSpPr>
          <p:cNvPr id="116" name="Google Shape;116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Deliverables :-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838200" y="1462425"/>
            <a:ext cx="10515600" cy="47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Harmonize and process heterogeneous PSG datasets to generalize a standard procedure.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Effectively engineer the feature selection process to minimize model complexity.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 represent the multidimensional data with multiple time dimensions into a latent space using multi-channel fusion (adaptive weighted latent space representation).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Real-time analysis of any fatal or immediate health risks using the PSG data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Interpretable and </a:t>
            </a:r>
            <a:r>
              <a:rPr lang="en-US"/>
              <a:t>explainable</a:t>
            </a:r>
            <a:r>
              <a:rPr lang="en-US"/>
              <a:t> results for both clinicians and caretakers</a:t>
            </a:r>
            <a:endParaRPr/>
          </a:p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838200" y="1367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 :-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1026050" y="94000"/>
            <a:ext cx="3079200" cy="99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Modules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0" y="1228950"/>
            <a:ext cx="6132600" cy="37812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Clr>
                <a:srgbClr val="00FF00"/>
              </a:buClr>
              <a:buSzPct val="64286"/>
              <a:buChar char="•"/>
            </a:pPr>
            <a:r>
              <a:rPr lang="en-US">
                <a:solidFill>
                  <a:srgbClr val="00FF00"/>
                </a:solidFill>
              </a:rPr>
              <a:t>Data Harmonization</a:t>
            </a:r>
            <a:endParaRPr>
              <a:solidFill>
                <a:srgbClr val="00FF00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64286"/>
              <a:buChar char="•"/>
            </a:pPr>
            <a:r>
              <a:rPr lang="en-US">
                <a:solidFill>
                  <a:srgbClr val="00FF00"/>
                </a:solidFill>
              </a:rPr>
              <a:t>Architecture and System Design</a:t>
            </a:r>
            <a:endParaRPr>
              <a:solidFill>
                <a:srgbClr val="00FF00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64286"/>
              <a:buChar char="•"/>
            </a:pPr>
            <a:r>
              <a:rPr lang="en-US">
                <a:solidFill>
                  <a:srgbClr val="00FF00"/>
                </a:solidFill>
              </a:rPr>
              <a:t>Data Preprocessing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Transformer Architecture for Sleep staging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sleep metrics extraction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Classification backbone for disorders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Model Training and Evaluation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Inference Generation using XAI methods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ct val="64286"/>
              <a:buChar char="•"/>
            </a:pPr>
            <a:r>
              <a:rPr lang="en-US">
                <a:solidFill>
                  <a:srgbClr val="B7B7B7"/>
                </a:solidFill>
              </a:rPr>
              <a:t>Agentic AI with RAG for remedy generation</a:t>
            </a:r>
            <a:endParaRPr>
              <a:solidFill>
                <a:srgbClr val="B7B7B7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ct val="64286"/>
              <a:buChar char="•"/>
            </a:pPr>
            <a:r>
              <a:rPr lang="en-US">
                <a:solidFill>
                  <a:srgbClr val="B7B7B7"/>
                </a:solidFill>
              </a:rPr>
              <a:t>Medical Chatbot</a:t>
            </a:r>
            <a:endParaRPr>
              <a:solidFill>
                <a:srgbClr val="B7B7B7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64286"/>
              <a:buChar char="•"/>
            </a:pPr>
            <a:r>
              <a:rPr lang="en-US">
                <a:solidFill>
                  <a:srgbClr val="00FF00"/>
                </a:solidFill>
              </a:rPr>
              <a:t>Frontend </a:t>
            </a:r>
            <a:r>
              <a:rPr lang="en-US">
                <a:solidFill>
                  <a:srgbClr val="00FF00"/>
                </a:solidFill>
              </a:rPr>
              <a:t>Development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6132500" y="38337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Channel Aggregation, Feature selections</a:t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6132500" y="115357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Functional and non functional requirements, module specifications, database in system, frontend design, HLD and LLD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6132500" y="192377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channel resampling, artifact removal, bandpass filtering, interpolation</a:t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6132500" y="269397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segmentation, VIT based model, </a:t>
            </a:r>
            <a:r>
              <a:rPr lang="en-US"/>
              <a:t>spectrogram</a:t>
            </a:r>
            <a:r>
              <a:rPr lang="en-US"/>
              <a:t> conversion, sleep staging with 7 class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6132500" y="4192550"/>
            <a:ext cx="5949900" cy="99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clinician inference and layman inference generation; Clinician:Signal importance, Anomaly detection. Patient: Health chat bot, risk analysis report- actionable insights</a:t>
            </a:r>
            <a:endParaRPr sz="1800"/>
          </a:p>
        </p:txBody>
      </p:sp>
      <p:sp>
        <p:nvSpPr>
          <p:cNvPr id="134" name="Google Shape;134;p19"/>
          <p:cNvSpPr/>
          <p:nvPr/>
        </p:nvSpPr>
        <p:spPr>
          <a:xfrm>
            <a:off x="6132500" y="346417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sleep metric extraction like sleep efficiency, latent sleep, stage ratios, Arousal index, WASO, AHI, 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6132500" y="5287225"/>
            <a:ext cx="5949900" cy="6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baseline disorder classifier based on the metrics and sleep stages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93950" y="4925150"/>
            <a:ext cx="5949900" cy="87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 agentic system for remedy generation - web scraper agent, content gen agent, fact validation agent, context </a:t>
            </a:r>
            <a:r>
              <a:rPr lang="en-US"/>
              <a:t>based</a:t>
            </a:r>
            <a:r>
              <a:rPr lang="en-US"/>
              <a:t> agent; RAG is used to store </a:t>
            </a:r>
            <a:r>
              <a:rPr lang="en-US"/>
              <a:t>relevant</a:t>
            </a:r>
            <a:r>
              <a:rPr lang="en-US"/>
              <a:t> articles relating to sleep changes from lifestyle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93950" y="5913625"/>
            <a:ext cx="5949900" cy="70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Medical chatbot able to answer medical query, use multi-hop question answering and reranking algorithms for RAG</a:t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6132500" y="6015600"/>
            <a:ext cx="5949900" cy="54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based frontend development, Cloud deployment, query-able system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