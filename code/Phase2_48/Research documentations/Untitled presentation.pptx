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Chakra Petch"/>
      <p:regular r:id="rId18"/>
      <p:bold r:id="rId19"/>
      <p:italic r:id="rId20"/>
      <p:boldItalic r:id="rId21"/>
    </p:embeddedFont>
    <p:embeddedFont>
      <p:font typeface="Chakra Petch SemiBold"/>
      <p:regular r:id="rId22"/>
      <p:bold r:id="rId23"/>
      <p:italic r:id="rId24"/>
      <p:boldItalic r:id="rId25"/>
    </p:embeddedFont>
    <p:embeddedFont>
      <p:font typeface="Red Hat Text"/>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4B31C63-B9B8-4045-8F26-0B1C572B7005}">
  <a:tblStyle styleId="{F4B31C63-B9B8-4045-8F26-0B1C572B700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hakraPetch-italic.fntdata"/><Relationship Id="rId22" Type="http://schemas.openxmlformats.org/officeDocument/2006/relationships/font" Target="fonts/ChakraPetchSemiBold-regular.fntdata"/><Relationship Id="rId21" Type="http://schemas.openxmlformats.org/officeDocument/2006/relationships/font" Target="fonts/ChakraPetch-boldItalic.fntdata"/><Relationship Id="rId24" Type="http://schemas.openxmlformats.org/officeDocument/2006/relationships/font" Target="fonts/ChakraPetchSemiBold-italic.fntdata"/><Relationship Id="rId23" Type="http://schemas.openxmlformats.org/officeDocument/2006/relationships/font" Target="fonts/ChakraPetchSemi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edHatText-regular.fntdata"/><Relationship Id="rId25" Type="http://schemas.openxmlformats.org/officeDocument/2006/relationships/font" Target="fonts/ChakraPetchSemiBold-boldItalic.fntdata"/><Relationship Id="rId28" Type="http://schemas.openxmlformats.org/officeDocument/2006/relationships/font" Target="fonts/RedHatText-italic.fntdata"/><Relationship Id="rId27" Type="http://schemas.openxmlformats.org/officeDocument/2006/relationships/font" Target="fonts/RedHatText-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edHatText-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ChakraPetch-bold.fntdata"/><Relationship Id="rId18" Type="http://schemas.openxmlformats.org/officeDocument/2006/relationships/font" Target="fonts/ChakraPetch-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2efc192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2efc192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b2efc192b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b2efc192b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b2efc192b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b2efc192b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b2efc192b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b2efc192b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b2efc192b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b2efc192b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b2efc192b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b2efc192b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2efc192b7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b2efc192b7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2efc192b7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2efc192b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b2efc192b7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b2efc192b7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b2efc192b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b2efc192b7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2efc192b7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b2efc192b7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45100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3580"/>
              <a:t>Sleep Disorder Detection from Polysomnography data and lifestyle changes recommendations for actionable insights</a:t>
            </a:r>
            <a:endParaRPr sz="3580"/>
          </a:p>
        </p:txBody>
      </p:sp>
      <p:sp>
        <p:nvSpPr>
          <p:cNvPr id="61" name="Google Shape;61;p14"/>
          <p:cNvSpPr txBox="1"/>
          <p:nvPr>
            <p:ph idx="1" type="subTitle"/>
          </p:nvPr>
        </p:nvSpPr>
        <p:spPr>
          <a:xfrm>
            <a:off x="311700" y="2571750"/>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Mentored by: Prof. Simi Surendran</a:t>
            </a:r>
            <a:br>
              <a:rPr lang="en"/>
            </a:br>
            <a:r>
              <a:rPr lang="en"/>
              <a:t>Prof. Geetha Lekshmi</a:t>
            </a:r>
            <a:endParaRPr/>
          </a:p>
        </p:txBody>
      </p:sp>
      <p:graphicFrame>
        <p:nvGraphicFramePr>
          <p:cNvPr id="62" name="Google Shape;62;p14"/>
          <p:cNvGraphicFramePr/>
          <p:nvPr/>
        </p:nvGraphicFramePr>
        <p:xfrm>
          <a:off x="770450" y="3366875"/>
          <a:ext cx="3000000" cy="3000000"/>
        </p:xfrm>
        <a:graphic>
          <a:graphicData uri="http://schemas.openxmlformats.org/drawingml/2006/table">
            <a:tbl>
              <a:tblPr>
                <a:noFill/>
                <a:tableStyleId>{F4B31C63-B9B8-4045-8F26-0B1C572B7005}</a:tableStyleId>
              </a:tblPr>
              <a:tblGrid>
                <a:gridCol w="3801550"/>
                <a:gridCol w="3801550"/>
              </a:tblGrid>
              <a:tr h="310425">
                <a:tc>
                  <a:txBody>
                    <a:bodyPr/>
                    <a:lstStyle/>
                    <a:p>
                      <a:pPr indent="0" lvl="0" marL="0" rtl="0" algn="l">
                        <a:spcBef>
                          <a:spcPts val="0"/>
                        </a:spcBef>
                        <a:spcAft>
                          <a:spcPts val="0"/>
                        </a:spcAft>
                        <a:buNone/>
                      </a:pPr>
                      <a:r>
                        <a:rPr lang="en"/>
                        <a:t>Girish S</a:t>
                      </a:r>
                      <a:endParaRPr/>
                    </a:p>
                  </a:txBody>
                  <a:tcPr marT="91425" marB="91425" marR="91425" marL="91425"/>
                </a:tc>
                <a:tc>
                  <a:txBody>
                    <a:bodyPr/>
                    <a:lstStyle/>
                    <a:p>
                      <a:pPr indent="0" lvl="0" marL="0" rtl="0" algn="l">
                        <a:spcBef>
                          <a:spcPts val="0"/>
                        </a:spcBef>
                        <a:spcAft>
                          <a:spcPts val="0"/>
                        </a:spcAft>
                        <a:buNone/>
                      </a:pPr>
                      <a:r>
                        <a:rPr lang="en"/>
                        <a:t>Research Architect</a:t>
                      </a:r>
                      <a:endParaRPr/>
                    </a:p>
                  </a:txBody>
                  <a:tcPr marT="91425" marB="91425" marR="91425" marL="91425"/>
                </a:tc>
              </a:tr>
              <a:tr h="310425">
                <a:tc>
                  <a:txBody>
                    <a:bodyPr/>
                    <a:lstStyle/>
                    <a:p>
                      <a:pPr indent="0" lvl="0" marL="0" rtl="0" algn="l">
                        <a:spcBef>
                          <a:spcPts val="0"/>
                        </a:spcBef>
                        <a:spcAft>
                          <a:spcPts val="0"/>
                        </a:spcAft>
                        <a:buNone/>
                      </a:pPr>
                      <a:r>
                        <a:rPr lang="en"/>
                        <a:t>Anuvind M P</a:t>
                      </a:r>
                      <a:endParaRPr/>
                    </a:p>
                  </a:txBody>
                  <a:tcPr marT="91425" marB="91425" marR="91425" marL="91425"/>
                </a:tc>
                <a:tc>
                  <a:txBody>
                    <a:bodyPr/>
                    <a:lstStyle/>
                    <a:p>
                      <a:pPr indent="0" lvl="0" marL="0" rtl="0" algn="l">
                        <a:spcBef>
                          <a:spcPts val="0"/>
                        </a:spcBef>
                        <a:spcAft>
                          <a:spcPts val="0"/>
                        </a:spcAft>
                        <a:buNone/>
                      </a:pPr>
                      <a:r>
                        <a:rPr lang="en"/>
                        <a:t>System Design/SDE</a:t>
                      </a:r>
                      <a:endParaRPr/>
                    </a:p>
                  </a:txBody>
                  <a:tcPr marT="91425" marB="91425" marR="91425" marL="91425"/>
                </a:tc>
              </a:tr>
              <a:tr h="310425">
                <a:tc>
                  <a:txBody>
                    <a:bodyPr/>
                    <a:lstStyle/>
                    <a:p>
                      <a:pPr indent="0" lvl="0" marL="0" rtl="0" algn="l">
                        <a:spcBef>
                          <a:spcPts val="0"/>
                        </a:spcBef>
                        <a:spcAft>
                          <a:spcPts val="0"/>
                        </a:spcAft>
                        <a:buNone/>
                      </a:pPr>
                      <a:r>
                        <a:rPr lang="en"/>
                        <a:t>R S Harish Kumar</a:t>
                      </a:r>
                      <a:endParaRPr/>
                    </a:p>
                  </a:txBody>
                  <a:tcPr marT="91425" marB="91425" marR="91425" marL="91425"/>
                </a:tc>
                <a:tc>
                  <a:txBody>
                    <a:bodyPr/>
                    <a:lstStyle/>
                    <a:p>
                      <a:pPr indent="0" lvl="0" marL="0" rtl="0" algn="l">
                        <a:spcBef>
                          <a:spcPts val="0"/>
                        </a:spcBef>
                        <a:spcAft>
                          <a:spcPts val="0"/>
                        </a:spcAft>
                        <a:buNone/>
                      </a:pPr>
                      <a:r>
                        <a:rPr lang="en"/>
                        <a:t>AI Lead</a:t>
                      </a:r>
                      <a:endParaRPr/>
                    </a:p>
                  </a:txBody>
                  <a:tcPr marT="91425" marB="91425" marR="91425" marL="91425"/>
                </a:tc>
              </a:tr>
              <a:tr h="343450">
                <a:tc>
                  <a:txBody>
                    <a:bodyPr/>
                    <a:lstStyle/>
                    <a:p>
                      <a:pPr indent="0" lvl="0" marL="0" rtl="0" algn="l">
                        <a:spcBef>
                          <a:spcPts val="0"/>
                        </a:spcBef>
                        <a:spcAft>
                          <a:spcPts val="0"/>
                        </a:spcAft>
                        <a:buNone/>
                      </a:pPr>
                      <a:r>
                        <a:rPr lang="en"/>
                        <a:t>Harishankar Binu Nair</a:t>
                      </a:r>
                      <a:endParaRPr/>
                    </a:p>
                  </a:txBody>
                  <a:tcPr marT="91425" marB="91425" marR="91425" marL="91425"/>
                </a:tc>
                <a:tc>
                  <a:txBody>
                    <a:bodyPr/>
                    <a:lstStyle/>
                    <a:p>
                      <a:pPr indent="0" lvl="0" marL="0" rtl="0" algn="l">
                        <a:spcBef>
                          <a:spcPts val="0"/>
                        </a:spcBef>
                        <a:spcAft>
                          <a:spcPts val="0"/>
                        </a:spcAft>
                        <a:buNone/>
                      </a:pPr>
                      <a:r>
                        <a:rPr lang="en"/>
                        <a:t>Data Analyst/SDE</a:t>
                      </a:r>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Business Pitch</a:t>
            </a:r>
            <a:endParaRPr/>
          </a:p>
        </p:txBody>
      </p:sp>
      <p:sp>
        <p:nvSpPr>
          <p:cNvPr id="68" name="Google Shape;68;p15"/>
          <p:cNvSpPr txBox="1"/>
          <p:nvPr>
            <p:ph idx="1" type="body"/>
          </p:nvPr>
        </p:nvSpPr>
        <p:spPr>
          <a:xfrm>
            <a:off x="212750" y="1152475"/>
            <a:ext cx="8520600" cy="3416400"/>
          </a:xfrm>
          <a:prstGeom prst="rect">
            <a:avLst/>
          </a:prstGeom>
        </p:spPr>
        <p:txBody>
          <a:bodyPr anchorCtr="0" anchor="t" bIns="91425" lIns="91425" spcFirstLastPara="1" rIns="91425" wrap="square" tIns="91425">
            <a:noAutofit/>
          </a:bodyPr>
          <a:lstStyle/>
          <a:p>
            <a:pPr indent="0" lvl="0" marL="457200" rtl="0" algn="l">
              <a:lnSpc>
                <a:spcPct val="150000"/>
              </a:lnSpc>
              <a:spcBef>
                <a:spcPts val="0"/>
              </a:spcBef>
              <a:spcAft>
                <a:spcPts val="0"/>
              </a:spcAft>
              <a:buNone/>
            </a:pPr>
            <a:r>
              <a:rPr i="1" lang="en" sz="1200"/>
              <a:t>Sleep disorders such as insomnia, apnea, and restless leg syndrome are on the rise, affecting millions yet often going undiagnosed. In India, social stigma and limited clinical access leave a large segment of the population untreated, creating a significant unmet demand for accessible sleep health solutions.</a:t>
            </a:r>
            <a:endParaRPr i="1" sz="1300"/>
          </a:p>
          <a:p>
            <a:pPr indent="0" lvl="0" marL="457200" rtl="0" algn="l">
              <a:lnSpc>
                <a:spcPct val="150000"/>
              </a:lnSpc>
              <a:spcBef>
                <a:spcPts val="1200"/>
              </a:spcBef>
              <a:spcAft>
                <a:spcPts val="0"/>
              </a:spcAft>
              <a:buNone/>
            </a:pPr>
            <a:r>
              <a:rPr i="1" lang="en" sz="1200"/>
              <a:t>This platform targets both clinicians and patients. Clinicians will have a separate system that provides interpretability through visualizations and detailed reports, reducing the black-box nature of AI, while patients often lack a clear understanding of their disorders, so the platform offers an interactive system with lifestyle recommendations, actionable insights, and clear explanations of complex medical information. It bridges the gap between medical expertise and public usability through an interactive, interpretation-friendly interface.</a:t>
            </a:r>
            <a:endParaRPr i="1" sz="1200"/>
          </a:p>
          <a:p>
            <a:pPr indent="0" lvl="0" marL="457200" rtl="0" algn="l">
              <a:lnSpc>
                <a:spcPct val="150000"/>
              </a:lnSpc>
              <a:spcBef>
                <a:spcPts val="1200"/>
              </a:spcBef>
              <a:spcAft>
                <a:spcPts val="0"/>
              </a:spcAft>
              <a:buNone/>
            </a:pPr>
            <a:r>
              <a:rPr i="1" lang="en" sz="1200"/>
              <a:t>The outcome is clear: increased early diagnosis, improved sleep health awareness, and a scalable solution that empowers users through transparency and accessibility. With growing public concern for sleep quality and well-being, this solution is positioned to meet a rapidly expanding market need and establish a strong foothold in digital health services.</a:t>
            </a:r>
            <a:endParaRPr i="1" sz="1200"/>
          </a:p>
          <a:p>
            <a:pPr indent="0" lvl="0" marL="457200" rtl="0" algn="l">
              <a:lnSpc>
                <a:spcPct val="150000"/>
              </a:lnSpc>
              <a:spcBef>
                <a:spcPts val="1200"/>
              </a:spcBef>
              <a:spcAft>
                <a:spcPts val="1200"/>
              </a:spcAft>
              <a:buNone/>
            </a:pPr>
            <a:r>
              <a:t/>
            </a:r>
            <a:endParaRPr i="1"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lnSpc>
                <a:spcPct val="150000"/>
              </a:lnSpc>
              <a:spcBef>
                <a:spcPts val="0"/>
              </a:spcBef>
              <a:spcAft>
                <a:spcPts val="0"/>
              </a:spcAft>
              <a:buSzPct val="100000"/>
              <a:buChar char="●"/>
            </a:pPr>
            <a:r>
              <a:rPr lang="en"/>
              <a:t>Increases public awareness and understanding of sleep disorders, helping reduce social stigma in Indian communities.</a:t>
            </a:r>
            <a:endParaRPr/>
          </a:p>
          <a:p>
            <a:pPr indent="-334328" lvl="0" marL="457200" rtl="0" algn="l">
              <a:lnSpc>
                <a:spcPct val="150000"/>
              </a:lnSpc>
              <a:spcBef>
                <a:spcPts val="0"/>
              </a:spcBef>
              <a:spcAft>
                <a:spcPts val="0"/>
              </a:spcAft>
              <a:buSzPct val="100000"/>
              <a:buChar char="●"/>
            </a:pPr>
            <a:r>
              <a:rPr lang="en"/>
              <a:t>Enables early detection and management of sleep-related conditions, improving overall public health outcomes.</a:t>
            </a:r>
            <a:endParaRPr/>
          </a:p>
          <a:p>
            <a:pPr indent="-334328" lvl="0" marL="457200" rtl="0" algn="l">
              <a:lnSpc>
                <a:spcPct val="150000"/>
              </a:lnSpc>
              <a:spcBef>
                <a:spcPts val="0"/>
              </a:spcBef>
              <a:spcAft>
                <a:spcPts val="0"/>
              </a:spcAft>
              <a:buSzPct val="100000"/>
              <a:buChar char="●"/>
            </a:pPr>
            <a:r>
              <a:rPr lang="en"/>
              <a:t>Expands access to sleep analysis and guidance for populations with limited or no clinical availability.</a:t>
            </a:r>
            <a:endParaRPr/>
          </a:p>
          <a:p>
            <a:pPr indent="-334328" lvl="0" marL="457200" rtl="0" algn="l">
              <a:lnSpc>
                <a:spcPct val="150000"/>
              </a:lnSpc>
              <a:spcBef>
                <a:spcPts val="0"/>
              </a:spcBef>
              <a:spcAft>
                <a:spcPts val="0"/>
              </a:spcAft>
              <a:buSzPct val="100000"/>
              <a:buChar char="●"/>
            </a:pPr>
            <a:r>
              <a:rPr lang="en"/>
              <a:t>Empowers individuals with personalized lifestyle recommendations, promoting healthy sleep habits and well-being.</a:t>
            </a:r>
            <a:endParaRPr/>
          </a:p>
          <a:p>
            <a:pPr indent="-334328" lvl="0" marL="457200" rtl="0" algn="l">
              <a:lnSpc>
                <a:spcPct val="150000"/>
              </a:lnSpc>
              <a:spcBef>
                <a:spcPts val="0"/>
              </a:spcBef>
              <a:spcAft>
                <a:spcPts val="0"/>
              </a:spcAft>
              <a:buSzPct val="100000"/>
              <a:buChar char="●"/>
            </a:pPr>
            <a:r>
              <a:rPr lang="en"/>
              <a:t>Supports clinicians with transparent and interpretable insights, building greater trust in AI-assisted healthcare.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Research Abstract:</a:t>
            </a:r>
            <a:endParaRPr b="1"/>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i="1" lang="en"/>
              <a:t>This project introduces a web-based framework for automated sleep disorder detection using Polysomnography (PSG) data. The system segments signals into epochs and uses a transformer model for sleep stage classification. Based on these results, relevant sleep metrics are extracted and used by a lightweight classifier to identify potential disorders.</a:t>
            </a:r>
            <a:endParaRPr i="1"/>
          </a:p>
          <a:p>
            <a:pPr indent="0" lvl="0" marL="0" rtl="0" algn="l">
              <a:spcBef>
                <a:spcPts val="1200"/>
              </a:spcBef>
              <a:spcAft>
                <a:spcPts val="1200"/>
              </a:spcAft>
              <a:buNone/>
            </a:pPr>
            <a:r>
              <a:rPr i="1" lang="en"/>
              <a:t>The framework integrates explainable AI (XAI) for clinical interpretability through visual reports and saliency visualizations that reveal model reasoning. A multi-agentic orchestration powers an intelligent RAG-based system that manages medical explanations, personalized lifestyle recommendations, and remedy suggestions, supported by trusted medical sources. This combination of AI-driven analysis, interpretability, and interactivity enables both clinicians and patients to engage with actionable insights while maintaining transparency. The platform addresses limited awareness and social stigma around sleep disorders in India by offering an accessible, privacy-focused solution for early screening and education.</a:t>
            </a:r>
            <a:endParaRPr i="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Input</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Input</a:t>
            </a:r>
            <a:endParaRPr b="1" u="sng"/>
          </a:p>
          <a:p>
            <a:pPr indent="-342900" lvl="0" marL="457200" rtl="0" algn="l">
              <a:spcBef>
                <a:spcPts val="1200"/>
              </a:spcBef>
              <a:spcAft>
                <a:spcPts val="0"/>
              </a:spcAft>
              <a:buSzPts val="1800"/>
              <a:buChar char="●"/>
            </a:pPr>
            <a:r>
              <a:rPr lang="en"/>
              <a:t>Polysomnography Data (PSG) in the form of .edf files</a:t>
            </a:r>
            <a:endParaRPr/>
          </a:p>
          <a:p>
            <a:pPr indent="-342900" lvl="0" marL="457200" rtl="0" algn="l">
              <a:spcBef>
                <a:spcPts val="0"/>
              </a:spcBef>
              <a:spcAft>
                <a:spcPts val="0"/>
              </a:spcAft>
              <a:buSzPts val="1800"/>
              <a:buChar char="●"/>
            </a:pPr>
            <a:r>
              <a:rPr lang="en"/>
              <a:t>Lifestyle questionnaire which consists of the patient’s medical history, medications, their current lifestyle choices</a:t>
            </a:r>
            <a:endParaRPr/>
          </a:p>
          <a:p>
            <a:pPr indent="0" lvl="0" marL="0" rtl="0" algn="l">
              <a:spcBef>
                <a:spcPts val="1200"/>
              </a:spcBef>
              <a:spcAft>
                <a:spcPts val="0"/>
              </a:spcAft>
              <a:buNone/>
            </a:pPr>
            <a:r>
              <a:rPr b="1" lang="en" u="sng"/>
              <a:t>Channels selected from PSG</a:t>
            </a:r>
            <a:endParaRPr b="1" u="sng"/>
          </a:p>
          <a:p>
            <a:pPr indent="-342900" lvl="0" marL="457200" rtl="0" algn="l">
              <a:spcBef>
                <a:spcPts val="1200"/>
              </a:spcBef>
              <a:spcAft>
                <a:spcPts val="0"/>
              </a:spcAft>
              <a:buSzPts val="1800"/>
              <a:buChar char="●"/>
            </a:pPr>
            <a:r>
              <a:rPr lang="en"/>
              <a:t>Electroencephalogram (EEG) : Fz-Cz</a:t>
            </a:r>
            <a:endParaRPr/>
          </a:p>
          <a:p>
            <a:pPr indent="-342900" lvl="0" marL="457200" rtl="0" algn="l">
              <a:spcBef>
                <a:spcPts val="0"/>
              </a:spcBef>
              <a:spcAft>
                <a:spcPts val="0"/>
              </a:spcAft>
              <a:buSzPts val="1800"/>
              <a:buChar char="●"/>
            </a:pPr>
            <a:r>
              <a:rPr lang="en"/>
              <a:t>Electroencephalogram (EEG) : Oz-Cz</a:t>
            </a:r>
            <a:endParaRPr/>
          </a:p>
          <a:p>
            <a:pPr indent="-342900" lvl="0" marL="457200" rtl="0" algn="l">
              <a:spcBef>
                <a:spcPts val="0"/>
              </a:spcBef>
              <a:spcAft>
                <a:spcPts val="0"/>
              </a:spcAft>
              <a:buSzPts val="1800"/>
              <a:buChar char="●"/>
            </a:pPr>
            <a:r>
              <a:rPr lang="en"/>
              <a:t>Electroencephalogram (EEG) : C4-M1</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Desired output</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u="sng"/>
              <a:t>User : Patient</a:t>
            </a:r>
            <a:endParaRPr/>
          </a:p>
          <a:p>
            <a:pPr indent="-342900" lvl="0" marL="457200" rtl="0" algn="l">
              <a:spcBef>
                <a:spcPts val="1200"/>
              </a:spcBef>
              <a:spcAft>
                <a:spcPts val="0"/>
              </a:spcAft>
              <a:buSzPts val="1800"/>
              <a:buChar char="●"/>
            </a:pPr>
            <a:r>
              <a:rPr lang="en"/>
              <a:t>List of sleep disorders the patient is at risk of based on the sleep data</a:t>
            </a:r>
            <a:endParaRPr/>
          </a:p>
          <a:p>
            <a:pPr indent="-342900" lvl="0" marL="457200" rtl="0" algn="l">
              <a:spcBef>
                <a:spcPts val="0"/>
              </a:spcBef>
              <a:spcAft>
                <a:spcPts val="0"/>
              </a:spcAft>
              <a:buSzPts val="1800"/>
              <a:buChar char="●"/>
            </a:pPr>
            <a:r>
              <a:rPr lang="en"/>
              <a:t>Risk score for each disorder</a:t>
            </a:r>
            <a:endParaRPr/>
          </a:p>
          <a:p>
            <a:pPr indent="-342900" lvl="0" marL="457200" rtl="0" algn="l">
              <a:spcBef>
                <a:spcPts val="0"/>
              </a:spcBef>
              <a:spcAft>
                <a:spcPts val="0"/>
              </a:spcAft>
              <a:buSzPts val="1800"/>
              <a:buChar char="●"/>
            </a:pPr>
            <a:r>
              <a:rPr lang="en"/>
              <a:t>Lifestyle recommendations to help improve their sleep</a:t>
            </a:r>
            <a:endParaRPr/>
          </a:p>
          <a:p>
            <a:pPr indent="-342900" lvl="0" marL="457200" rtl="0" algn="l">
              <a:spcBef>
                <a:spcPts val="0"/>
              </a:spcBef>
              <a:spcAft>
                <a:spcPts val="0"/>
              </a:spcAft>
              <a:buSzPts val="1800"/>
              <a:buChar char="●"/>
            </a:pPr>
            <a:r>
              <a:rPr lang="en"/>
              <a:t>Queryable medical chatbot</a:t>
            </a:r>
            <a:endParaRPr/>
          </a:p>
          <a:p>
            <a:pPr indent="0" lvl="0" marL="0" rtl="0" algn="l">
              <a:spcBef>
                <a:spcPts val="1200"/>
              </a:spcBef>
              <a:spcAft>
                <a:spcPts val="0"/>
              </a:spcAft>
              <a:buNone/>
            </a:pPr>
            <a:r>
              <a:rPr b="1" lang="en" u="sng"/>
              <a:t>User : Clinician</a:t>
            </a:r>
            <a:endParaRPr b="1" u="sng"/>
          </a:p>
          <a:p>
            <a:pPr indent="-342900" lvl="0" marL="457200" rtl="0" algn="l">
              <a:spcBef>
                <a:spcPts val="1200"/>
              </a:spcBef>
              <a:spcAft>
                <a:spcPts val="0"/>
              </a:spcAft>
              <a:buSzPts val="1800"/>
              <a:buChar char="●"/>
            </a:pPr>
            <a:r>
              <a:rPr lang="en"/>
              <a:t>Visualised saliency heat maps</a:t>
            </a:r>
            <a:endParaRPr/>
          </a:p>
          <a:p>
            <a:pPr indent="-342900" lvl="0" marL="457200" rtl="0" algn="l">
              <a:spcBef>
                <a:spcPts val="0"/>
              </a:spcBef>
              <a:spcAft>
                <a:spcPts val="0"/>
              </a:spcAft>
              <a:buSzPts val="1800"/>
              <a:buChar char="●"/>
            </a:pPr>
            <a:r>
              <a:rPr lang="en"/>
              <a:t>Detailed reports on the patients</a:t>
            </a:r>
            <a:endParaRPr/>
          </a:p>
          <a:p>
            <a:pPr indent="-342900" lvl="0" marL="457200" rtl="0" algn="l">
              <a:spcBef>
                <a:spcPts val="0"/>
              </a:spcBef>
              <a:spcAft>
                <a:spcPts val="0"/>
              </a:spcAft>
              <a:buSzPts val="1800"/>
              <a:buChar char="●"/>
            </a:pPr>
            <a:r>
              <a:rPr lang="en"/>
              <a:t>Anomaly detection</a:t>
            </a:r>
            <a:endParaRPr/>
          </a:p>
          <a:p>
            <a:pPr indent="-342900" lvl="0" marL="457200" rtl="0" algn="l">
              <a:spcBef>
                <a:spcPts val="0"/>
              </a:spcBef>
              <a:spcAft>
                <a:spcPts val="0"/>
              </a:spcAft>
              <a:buSzPts val="1800"/>
              <a:buChar char="●"/>
            </a:pPr>
            <a:r>
              <a:rPr lang="en"/>
              <a:t>Feature importance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Objectives</a:t>
            </a:r>
            <a:endParaRPr/>
          </a:p>
          <a:p>
            <a:pPr indent="0" lvl="0" marL="0" rtl="0" algn="l">
              <a:spcBef>
                <a:spcPts val="0"/>
              </a:spcBef>
              <a:spcAft>
                <a:spcPts val="0"/>
              </a:spcAft>
              <a:buNone/>
            </a:pPr>
            <a:r>
              <a:t/>
            </a:r>
            <a:endParaRPr/>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 develop an automated framework for detecting sleep disorders using Polysomnography (PSG) data and sleep stage classification.</a:t>
            </a:r>
            <a:endParaRPr/>
          </a:p>
          <a:p>
            <a:pPr indent="-342900" lvl="0" marL="457200" rtl="0" algn="l">
              <a:spcBef>
                <a:spcPts val="0"/>
              </a:spcBef>
              <a:spcAft>
                <a:spcPts val="0"/>
              </a:spcAft>
              <a:buSzPts val="1800"/>
              <a:buChar char="●"/>
            </a:pPr>
            <a:r>
              <a:rPr lang="en"/>
              <a:t>To extract and analyze sleep-related metrics that contribute to accurate and interpretable disorder prediction.</a:t>
            </a:r>
            <a:endParaRPr/>
          </a:p>
          <a:p>
            <a:pPr indent="-342900" lvl="0" marL="457200" rtl="0" algn="l">
              <a:spcBef>
                <a:spcPts val="0"/>
              </a:spcBef>
              <a:spcAft>
                <a:spcPts val="0"/>
              </a:spcAft>
              <a:buSzPts val="1800"/>
              <a:buChar char="●"/>
            </a:pPr>
            <a:r>
              <a:rPr lang="en"/>
              <a:t>To integrate explainable AI methods for transparent visualization and improved clinical trust.</a:t>
            </a:r>
            <a:endParaRPr/>
          </a:p>
          <a:p>
            <a:pPr indent="-342900" lvl="0" marL="457200" rtl="0" algn="l">
              <a:spcBef>
                <a:spcPts val="0"/>
              </a:spcBef>
              <a:spcAft>
                <a:spcPts val="0"/>
              </a:spcAft>
              <a:buSzPts val="1800"/>
              <a:buChar char="●"/>
            </a:pPr>
            <a:r>
              <a:rPr lang="en"/>
              <a:t>To design a multi-agentic orchestration system using RAG for delivering medical explanations, lifestyle recommendations, and personalized remedies.</a:t>
            </a:r>
            <a:endParaRPr/>
          </a:p>
          <a:p>
            <a:pPr indent="-342900" lvl="0" marL="457200" rtl="0" algn="l">
              <a:spcBef>
                <a:spcPts val="0"/>
              </a:spcBef>
              <a:spcAft>
                <a:spcPts val="0"/>
              </a:spcAft>
              <a:buSzPts val="1800"/>
              <a:buChar char="●"/>
            </a:pPr>
            <a:r>
              <a:rPr lang="en"/>
              <a:t>To promote accessible, stigma-free sleep health awareness in the Indian population through an interactive and interpretable web platform.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24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Outcomes</a:t>
            </a:r>
            <a:endParaRPr/>
          </a:p>
        </p:txBody>
      </p:sp>
      <p:sp>
        <p:nvSpPr>
          <p:cNvPr id="104" name="Google Shape;104;p21"/>
          <p:cNvSpPr txBox="1"/>
          <p:nvPr>
            <p:ph idx="1" type="body"/>
          </p:nvPr>
        </p:nvSpPr>
        <p:spPr>
          <a:xfrm>
            <a:off x="311700" y="818100"/>
            <a:ext cx="8520600" cy="4130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Successful development of a working web platform that accurately detects and classifies sleep disorders using PSG data.</a:t>
            </a:r>
            <a:br>
              <a:rPr lang="en"/>
            </a:br>
            <a:endParaRPr/>
          </a:p>
          <a:p>
            <a:pPr indent="-342900" lvl="0" marL="457200" rtl="0" algn="l">
              <a:spcBef>
                <a:spcPts val="0"/>
              </a:spcBef>
              <a:spcAft>
                <a:spcPts val="0"/>
              </a:spcAft>
              <a:buSzPts val="1800"/>
              <a:buChar char="●"/>
            </a:pPr>
            <a:r>
              <a:rPr lang="en"/>
              <a:t>Validation of the system’s detection accuracy against clinical benchmarks, showing reliable performance across multiple disorder types.</a:t>
            </a:r>
            <a:br>
              <a:rPr lang="en"/>
            </a:br>
            <a:endParaRPr/>
          </a:p>
          <a:p>
            <a:pPr indent="-342900" lvl="0" marL="457200" rtl="0" algn="l">
              <a:spcBef>
                <a:spcPts val="0"/>
              </a:spcBef>
              <a:spcAft>
                <a:spcPts val="0"/>
              </a:spcAft>
              <a:buSzPts val="1800"/>
              <a:buChar char="●"/>
            </a:pPr>
            <a:r>
              <a:rPr lang="en"/>
              <a:t>Generation of clear and interpretable visual reports that enhance clinician understanding and trust in AI-based results.</a:t>
            </a:r>
            <a:br>
              <a:rPr lang="en"/>
            </a:br>
            <a:endParaRPr/>
          </a:p>
          <a:p>
            <a:pPr indent="-342900" lvl="0" marL="457200" rtl="0" algn="l">
              <a:spcBef>
                <a:spcPts val="0"/>
              </a:spcBef>
              <a:spcAft>
                <a:spcPts val="0"/>
              </a:spcAft>
              <a:buSzPts val="1800"/>
              <a:buChar char="●"/>
            </a:pPr>
            <a:r>
              <a:rPr lang="en"/>
              <a:t>Integration of a fully operational multi-agent system delivering personalized recommendations, lifestyle insights, and educational content to users.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755900" y="-153824"/>
            <a:ext cx="2309400" cy="799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Modules</a:t>
            </a:r>
            <a:endParaRPr/>
          </a:p>
        </p:txBody>
      </p:sp>
      <p:sp>
        <p:nvSpPr>
          <p:cNvPr id="110" name="Google Shape;110;p22"/>
          <p:cNvSpPr txBox="1"/>
          <p:nvPr>
            <p:ph idx="1" type="body"/>
          </p:nvPr>
        </p:nvSpPr>
        <p:spPr>
          <a:xfrm>
            <a:off x="199800" y="459875"/>
            <a:ext cx="4106100" cy="3407700"/>
          </a:xfrm>
          <a:prstGeom prst="rect">
            <a:avLst/>
          </a:prstGeom>
          <a:ln>
            <a:noFill/>
          </a:ln>
        </p:spPr>
        <p:txBody>
          <a:bodyPr anchorCtr="0" anchor="t" bIns="34275" lIns="68575" spcFirstLastPara="1" rIns="68575" wrap="square" tIns="34275">
            <a:normAutofit fontScale="47500"/>
          </a:bodyPr>
          <a:lstStyle/>
          <a:p>
            <a:pPr indent="-249555" lvl="0" marL="342900" rtl="0" algn="l">
              <a:lnSpc>
                <a:spcPct val="150000"/>
              </a:lnSpc>
              <a:spcBef>
                <a:spcPts val="1000"/>
              </a:spcBef>
              <a:spcAft>
                <a:spcPts val="0"/>
              </a:spcAft>
              <a:buClr>
                <a:schemeClr val="dk1"/>
              </a:buClr>
              <a:buSzPct val="100000"/>
              <a:buChar char="●"/>
            </a:pPr>
            <a:r>
              <a:rPr lang="en" sz="2800">
                <a:solidFill>
                  <a:schemeClr val="dk1"/>
                </a:solidFill>
                <a:highlight>
                  <a:srgbClr val="6AA84F"/>
                </a:highlight>
              </a:rPr>
              <a:t>Data Harmonization</a:t>
            </a:r>
            <a:endParaRPr sz="2800">
              <a:solidFill>
                <a:schemeClr val="dk1"/>
              </a:solidFill>
              <a:highlight>
                <a:srgbClr val="6AA84F"/>
              </a:highlight>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highlight>
                  <a:srgbClr val="6AA84F"/>
                </a:highlight>
              </a:rPr>
              <a:t>Architecture and System Design</a:t>
            </a:r>
            <a:endParaRPr sz="2800">
              <a:solidFill>
                <a:schemeClr val="dk1"/>
              </a:solidFill>
              <a:highlight>
                <a:srgbClr val="6AA84F"/>
              </a:highlight>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highlight>
                  <a:srgbClr val="6AA84F"/>
                </a:highlight>
              </a:rPr>
              <a:t>Data Preprocessing</a:t>
            </a:r>
            <a:endParaRPr sz="2800">
              <a:solidFill>
                <a:schemeClr val="dk1"/>
              </a:solidFill>
              <a:highlight>
                <a:srgbClr val="6AA84F"/>
              </a:highlight>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highlight>
                  <a:srgbClr val="6AA84F"/>
                </a:highlight>
              </a:rPr>
              <a:t>Transformer Architecture for Sleep staging</a:t>
            </a:r>
            <a:endParaRPr sz="2800">
              <a:solidFill>
                <a:schemeClr val="dk1"/>
              </a:solidFill>
              <a:highlight>
                <a:srgbClr val="6AA84F"/>
              </a:highlight>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highlight>
                  <a:srgbClr val="38761D"/>
                </a:highlight>
              </a:rPr>
              <a:t>Sleep metrics extraction</a:t>
            </a:r>
            <a:endParaRPr sz="2800">
              <a:solidFill>
                <a:schemeClr val="dk1"/>
              </a:solidFill>
              <a:highlight>
                <a:srgbClr val="38761D"/>
              </a:highlight>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rPr>
              <a:t>Classification backbone for disorders</a:t>
            </a:r>
            <a:endParaRPr sz="2800">
              <a:solidFill>
                <a:schemeClr val="dk1"/>
              </a:solidFill>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rPr>
              <a:t>Model Training and Evaluation</a:t>
            </a:r>
            <a:endParaRPr sz="2800">
              <a:solidFill>
                <a:schemeClr val="dk1"/>
              </a:solidFill>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highlight>
                  <a:srgbClr val="D9EAD3"/>
                </a:highlight>
              </a:rPr>
              <a:t>Inference Generation using XAI methods</a:t>
            </a:r>
            <a:endParaRPr sz="2800">
              <a:solidFill>
                <a:schemeClr val="dk1"/>
              </a:solidFill>
              <a:highlight>
                <a:srgbClr val="D9EAD3"/>
              </a:highlight>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highlight>
                  <a:srgbClr val="D9EAD3"/>
                </a:highlight>
              </a:rPr>
              <a:t>Agentic AI with RAG for remedy generation</a:t>
            </a:r>
            <a:endParaRPr sz="2800">
              <a:solidFill>
                <a:schemeClr val="dk1"/>
              </a:solidFill>
              <a:highlight>
                <a:srgbClr val="D9EAD3"/>
              </a:highlight>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highlight>
                  <a:srgbClr val="D9EAD3"/>
                </a:highlight>
              </a:rPr>
              <a:t>Medical Chatbot</a:t>
            </a:r>
            <a:endParaRPr sz="2800">
              <a:solidFill>
                <a:schemeClr val="dk1"/>
              </a:solidFill>
              <a:highlight>
                <a:srgbClr val="D9EAD3"/>
              </a:highlight>
            </a:endParaRPr>
          </a:p>
          <a:p>
            <a:pPr indent="-249555" lvl="0" marL="342900" rtl="0" algn="l">
              <a:lnSpc>
                <a:spcPct val="150000"/>
              </a:lnSpc>
              <a:spcBef>
                <a:spcPts val="0"/>
              </a:spcBef>
              <a:spcAft>
                <a:spcPts val="0"/>
              </a:spcAft>
              <a:buClr>
                <a:schemeClr val="dk1"/>
              </a:buClr>
              <a:buSzPct val="100000"/>
              <a:buChar char="●"/>
            </a:pPr>
            <a:r>
              <a:rPr lang="en" sz="2800">
                <a:solidFill>
                  <a:schemeClr val="dk1"/>
                </a:solidFill>
                <a:highlight>
                  <a:srgbClr val="6AA84F"/>
                </a:highlight>
              </a:rPr>
              <a:t>WebApp Development - Frontend</a:t>
            </a:r>
            <a:endParaRPr sz="2800">
              <a:solidFill>
                <a:schemeClr val="dk1"/>
              </a:solidFill>
              <a:highlight>
                <a:srgbClr val="6AA84F"/>
              </a:highlight>
            </a:endParaRPr>
          </a:p>
        </p:txBody>
      </p:sp>
      <p:sp>
        <p:nvSpPr>
          <p:cNvPr id="111" name="Google Shape;111;p22"/>
          <p:cNvSpPr/>
          <p:nvPr/>
        </p:nvSpPr>
        <p:spPr>
          <a:xfrm>
            <a:off x="4485425" y="260000"/>
            <a:ext cx="4572000" cy="481200"/>
          </a:xfrm>
          <a:prstGeom prst="rect">
            <a:avLst/>
          </a:prstGeom>
          <a:solidFill>
            <a:srgbClr val="E8E8E8"/>
          </a:solidFill>
          <a:ln cap="flat" cmpd="sng" w="7350">
            <a:solidFill>
              <a:srgbClr val="0E2841"/>
            </a:solidFill>
            <a:prstDash val="solid"/>
            <a:round/>
            <a:headEnd len="sm" w="sm" type="none"/>
            <a:tailEnd len="sm" w="sm" type="none"/>
          </a:ln>
        </p:spPr>
        <p:txBody>
          <a:bodyPr anchorCtr="0" anchor="ctr" bIns="70250" lIns="70250" spcFirstLastPara="1" rIns="70250" wrap="square" tIns="70250">
            <a:noAutofit/>
          </a:bodyPr>
          <a:lstStyle/>
          <a:p>
            <a:pPr indent="0" lvl="0" marL="0" rtl="0" algn="ctr">
              <a:spcBef>
                <a:spcPts val="0"/>
              </a:spcBef>
              <a:spcAft>
                <a:spcPts val="0"/>
              </a:spcAft>
              <a:buNone/>
            </a:pPr>
            <a:r>
              <a:rPr lang="en" sz="1076"/>
              <a:t>Channel Aggregation, Feature selections</a:t>
            </a:r>
            <a:endParaRPr sz="1076"/>
          </a:p>
        </p:txBody>
      </p:sp>
      <p:sp>
        <p:nvSpPr>
          <p:cNvPr id="112" name="Google Shape;112;p22"/>
          <p:cNvSpPr/>
          <p:nvPr/>
        </p:nvSpPr>
        <p:spPr>
          <a:xfrm>
            <a:off x="4485425" y="851833"/>
            <a:ext cx="4572000" cy="481200"/>
          </a:xfrm>
          <a:prstGeom prst="rect">
            <a:avLst/>
          </a:prstGeom>
          <a:solidFill>
            <a:srgbClr val="E8E8E8"/>
          </a:solidFill>
          <a:ln cap="flat" cmpd="sng" w="7350">
            <a:solidFill>
              <a:srgbClr val="0E2841"/>
            </a:solidFill>
            <a:prstDash val="solid"/>
            <a:round/>
            <a:headEnd len="sm" w="sm" type="none"/>
            <a:tailEnd len="sm" w="sm" type="none"/>
          </a:ln>
        </p:spPr>
        <p:txBody>
          <a:bodyPr anchorCtr="0" anchor="ctr" bIns="70250" lIns="70250" spcFirstLastPara="1" rIns="70250" wrap="square" tIns="70250">
            <a:noAutofit/>
          </a:bodyPr>
          <a:lstStyle/>
          <a:p>
            <a:pPr indent="0" lvl="0" marL="0" rtl="0" algn="ctr">
              <a:spcBef>
                <a:spcPts val="0"/>
              </a:spcBef>
              <a:spcAft>
                <a:spcPts val="0"/>
              </a:spcAft>
              <a:buNone/>
            </a:pPr>
            <a:r>
              <a:rPr lang="en" sz="1076"/>
              <a:t>Functional and non functional requirements, module specifications, database in system, frontend design, HLD and LLD</a:t>
            </a:r>
            <a:endParaRPr sz="1076"/>
          </a:p>
        </p:txBody>
      </p:sp>
      <p:sp>
        <p:nvSpPr>
          <p:cNvPr id="113" name="Google Shape;113;p22"/>
          <p:cNvSpPr/>
          <p:nvPr/>
        </p:nvSpPr>
        <p:spPr>
          <a:xfrm>
            <a:off x="4485425" y="1443665"/>
            <a:ext cx="4572000" cy="481200"/>
          </a:xfrm>
          <a:prstGeom prst="rect">
            <a:avLst/>
          </a:prstGeom>
          <a:solidFill>
            <a:srgbClr val="E8E8E8"/>
          </a:solidFill>
          <a:ln cap="flat" cmpd="sng" w="7350">
            <a:solidFill>
              <a:srgbClr val="0E2841"/>
            </a:solidFill>
            <a:prstDash val="solid"/>
            <a:round/>
            <a:headEnd len="sm" w="sm" type="none"/>
            <a:tailEnd len="sm" w="sm" type="none"/>
          </a:ln>
        </p:spPr>
        <p:txBody>
          <a:bodyPr anchorCtr="0" anchor="ctr" bIns="70250" lIns="70250" spcFirstLastPara="1" rIns="70250" wrap="square" tIns="70250">
            <a:noAutofit/>
          </a:bodyPr>
          <a:lstStyle/>
          <a:p>
            <a:pPr indent="0" lvl="0" marL="0" rtl="0" algn="ctr">
              <a:spcBef>
                <a:spcPts val="0"/>
              </a:spcBef>
              <a:spcAft>
                <a:spcPts val="0"/>
              </a:spcAft>
              <a:buNone/>
            </a:pPr>
            <a:r>
              <a:rPr lang="en" sz="1076"/>
              <a:t>channel resampling, artifact removal, bandpass filtering, interpolation</a:t>
            </a:r>
            <a:endParaRPr sz="1076"/>
          </a:p>
        </p:txBody>
      </p:sp>
      <p:sp>
        <p:nvSpPr>
          <p:cNvPr id="114" name="Google Shape;114;p22"/>
          <p:cNvSpPr/>
          <p:nvPr/>
        </p:nvSpPr>
        <p:spPr>
          <a:xfrm>
            <a:off x="4485425" y="2035498"/>
            <a:ext cx="4572000" cy="481200"/>
          </a:xfrm>
          <a:prstGeom prst="rect">
            <a:avLst/>
          </a:prstGeom>
          <a:solidFill>
            <a:srgbClr val="E8E8E8"/>
          </a:solidFill>
          <a:ln cap="flat" cmpd="sng" w="7350">
            <a:solidFill>
              <a:srgbClr val="0E2841"/>
            </a:solidFill>
            <a:prstDash val="solid"/>
            <a:round/>
            <a:headEnd len="sm" w="sm" type="none"/>
            <a:tailEnd len="sm" w="sm" type="none"/>
          </a:ln>
        </p:spPr>
        <p:txBody>
          <a:bodyPr anchorCtr="0" anchor="ctr" bIns="70250" lIns="70250" spcFirstLastPara="1" rIns="70250" wrap="square" tIns="70250">
            <a:noAutofit/>
          </a:bodyPr>
          <a:lstStyle/>
          <a:p>
            <a:pPr indent="0" lvl="0" marL="0" rtl="0" algn="ctr">
              <a:spcBef>
                <a:spcPts val="0"/>
              </a:spcBef>
              <a:spcAft>
                <a:spcPts val="0"/>
              </a:spcAft>
              <a:buNone/>
            </a:pPr>
            <a:r>
              <a:rPr lang="en" sz="1076"/>
              <a:t>segmentation, VIT based model, spectrogram conversion, sleep staging with 7 class</a:t>
            </a:r>
            <a:endParaRPr sz="1076"/>
          </a:p>
        </p:txBody>
      </p:sp>
      <p:sp>
        <p:nvSpPr>
          <p:cNvPr id="115" name="Google Shape;115;p22"/>
          <p:cNvSpPr/>
          <p:nvPr/>
        </p:nvSpPr>
        <p:spPr>
          <a:xfrm>
            <a:off x="4485425" y="3187024"/>
            <a:ext cx="4572000" cy="762900"/>
          </a:xfrm>
          <a:prstGeom prst="rect">
            <a:avLst/>
          </a:prstGeom>
          <a:solidFill>
            <a:srgbClr val="E8E8E8"/>
          </a:solidFill>
          <a:ln cap="flat" cmpd="sng" w="7350">
            <a:solidFill>
              <a:srgbClr val="0E2841"/>
            </a:solidFill>
            <a:prstDash val="solid"/>
            <a:round/>
            <a:headEnd len="sm" w="sm" type="none"/>
            <a:tailEnd len="sm" w="sm" type="none"/>
          </a:ln>
        </p:spPr>
        <p:txBody>
          <a:bodyPr anchorCtr="0" anchor="ctr" bIns="70250" lIns="70250" spcFirstLastPara="1" rIns="70250" wrap="square" tIns="70250">
            <a:noAutofit/>
          </a:bodyPr>
          <a:lstStyle/>
          <a:p>
            <a:pPr indent="0" lvl="0" marL="0" rtl="0" algn="ctr">
              <a:spcBef>
                <a:spcPts val="0"/>
              </a:spcBef>
              <a:spcAft>
                <a:spcPts val="0"/>
              </a:spcAft>
              <a:buNone/>
            </a:pPr>
            <a:r>
              <a:rPr lang="en" sz="1383">
                <a:solidFill>
                  <a:srgbClr val="000000"/>
                </a:solidFill>
              </a:rPr>
              <a:t>clinician inference and layman inference generation; Clinician:Signal importance, Anomaly detection. Patient: Health chat bot, risk analysis report- actionable insights</a:t>
            </a:r>
            <a:endParaRPr sz="1383"/>
          </a:p>
        </p:txBody>
      </p:sp>
      <p:sp>
        <p:nvSpPr>
          <p:cNvPr id="116" name="Google Shape;116;p22"/>
          <p:cNvSpPr/>
          <p:nvPr/>
        </p:nvSpPr>
        <p:spPr>
          <a:xfrm>
            <a:off x="4485425" y="2627330"/>
            <a:ext cx="4572000" cy="481200"/>
          </a:xfrm>
          <a:prstGeom prst="rect">
            <a:avLst/>
          </a:prstGeom>
          <a:solidFill>
            <a:srgbClr val="E8E8E8"/>
          </a:solidFill>
          <a:ln cap="flat" cmpd="sng" w="7350">
            <a:solidFill>
              <a:srgbClr val="0E2841"/>
            </a:solidFill>
            <a:prstDash val="solid"/>
            <a:round/>
            <a:headEnd len="sm" w="sm" type="none"/>
            <a:tailEnd len="sm" w="sm" type="none"/>
          </a:ln>
        </p:spPr>
        <p:txBody>
          <a:bodyPr anchorCtr="0" anchor="ctr" bIns="70250" lIns="70250" spcFirstLastPara="1" rIns="70250" wrap="square" tIns="70250">
            <a:noAutofit/>
          </a:bodyPr>
          <a:lstStyle/>
          <a:p>
            <a:pPr indent="0" lvl="0" marL="0" rtl="0" algn="ctr">
              <a:spcBef>
                <a:spcPts val="0"/>
              </a:spcBef>
              <a:spcAft>
                <a:spcPts val="0"/>
              </a:spcAft>
              <a:buNone/>
            </a:pPr>
            <a:r>
              <a:rPr lang="en" sz="1076"/>
              <a:t>sleep metric extraction like sleep efficiency, latent sleep, stage ratios, Arousal index, WASO, AHI, </a:t>
            </a:r>
            <a:endParaRPr sz="1076"/>
          </a:p>
        </p:txBody>
      </p:sp>
      <p:sp>
        <p:nvSpPr>
          <p:cNvPr id="117" name="Google Shape;117;p22"/>
          <p:cNvSpPr/>
          <p:nvPr/>
        </p:nvSpPr>
        <p:spPr>
          <a:xfrm>
            <a:off x="4485425" y="4028188"/>
            <a:ext cx="4572000" cy="481200"/>
          </a:xfrm>
          <a:prstGeom prst="rect">
            <a:avLst/>
          </a:prstGeom>
          <a:solidFill>
            <a:srgbClr val="E8E8E8"/>
          </a:solidFill>
          <a:ln cap="flat" cmpd="sng" w="7350">
            <a:solidFill>
              <a:srgbClr val="0E2841"/>
            </a:solidFill>
            <a:prstDash val="solid"/>
            <a:round/>
            <a:headEnd len="sm" w="sm" type="none"/>
            <a:tailEnd len="sm" w="sm" type="none"/>
          </a:ln>
        </p:spPr>
        <p:txBody>
          <a:bodyPr anchorCtr="0" anchor="ctr" bIns="70250" lIns="70250" spcFirstLastPara="1" rIns="70250" wrap="square" tIns="70250">
            <a:noAutofit/>
          </a:bodyPr>
          <a:lstStyle/>
          <a:p>
            <a:pPr indent="0" lvl="0" marL="0" rtl="0" algn="ctr">
              <a:spcBef>
                <a:spcPts val="0"/>
              </a:spcBef>
              <a:spcAft>
                <a:spcPts val="0"/>
              </a:spcAft>
              <a:buNone/>
            </a:pPr>
            <a:r>
              <a:rPr lang="en" sz="1076"/>
              <a:t>baseline disorder classifier based on the metrics and sleep stages</a:t>
            </a:r>
            <a:endParaRPr sz="1076"/>
          </a:p>
        </p:txBody>
      </p:sp>
      <p:sp>
        <p:nvSpPr>
          <p:cNvPr id="118" name="Google Shape;118;p22"/>
          <p:cNvSpPr/>
          <p:nvPr/>
        </p:nvSpPr>
        <p:spPr>
          <a:xfrm>
            <a:off x="4485425" y="4587881"/>
            <a:ext cx="4572000" cy="419400"/>
          </a:xfrm>
          <a:prstGeom prst="rect">
            <a:avLst/>
          </a:prstGeom>
          <a:solidFill>
            <a:srgbClr val="E8E8E8"/>
          </a:solidFill>
          <a:ln cap="flat" cmpd="sng" w="7350">
            <a:solidFill>
              <a:srgbClr val="0E2841"/>
            </a:solidFill>
            <a:prstDash val="solid"/>
            <a:round/>
            <a:headEnd len="sm" w="sm" type="none"/>
            <a:tailEnd len="sm" w="sm" type="none"/>
          </a:ln>
        </p:spPr>
        <p:txBody>
          <a:bodyPr anchorCtr="0" anchor="ctr" bIns="70250" lIns="70250" spcFirstLastPara="1" rIns="70250" wrap="square" tIns="70250">
            <a:noAutofit/>
          </a:bodyPr>
          <a:lstStyle/>
          <a:p>
            <a:pPr indent="0" lvl="0" marL="0" rtl="0" algn="ctr">
              <a:spcBef>
                <a:spcPts val="0"/>
              </a:spcBef>
              <a:spcAft>
                <a:spcPts val="0"/>
              </a:spcAft>
              <a:buNone/>
            </a:pPr>
            <a:r>
              <a:rPr lang="en" sz="1076"/>
              <a:t>Web based frontend development, Cloud deployment, query-able system</a:t>
            </a:r>
            <a:endParaRPr sz="1076"/>
          </a:p>
        </p:txBody>
      </p:sp>
      <p:sp>
        <p:nvSpPr>
          <p:cNvPr id="119" name="Google Shape;119;p22"/>
          <p:cNvSpPr/>
          <p:nvPr/>
        </p:nvSpPr>
        <p:spPr>
          <a:xfrm>
            <a:off x="356525" y="3867576"/>
            <a:ext cx="4012500" cy="589800"/>
          </a:xfrm>
          <a:prstGeom prst="rect">
            <a:avLst/>
          </a:prstGeom>
          <a:solidFill>
            <a:srgbClr val="E8E8E8"/>
          </a:solidFill>
          <a:ln cap="flat" cmpd="sng" w="6425">
            <a:solidFill>
              <a:srgbClr val="0E2841"/>
            </a:solidFill>
            <a:prstDash val="solid"/>
            <a:round/>
            <a:headEnd len="sm" w="sm" type="none"/>
            <a:tailEnd len="sm" w="sm" type="none"/>
          </a:ln>
        </p:spPr>
        <p:txBody>
          <a:bodyPr anchorCtr="0" anchor="ctr" bIns="61675" lIns="61675" spcFirstLastPara="1" rIns="61675" wrap="square" tIns="61675">
            <a:noAutofit/>
          </a:bodyPr>
          <a:lstStyle/>
          <a:p>
            <a:pPr indent="0" lvl="0" marL="0" rtl="0" algn="ctr">
              <a:spcBef>
                <a:spcPts val="0"/>
              </a:spcBef>
              <a:spcAft>
                <a:spcPts val="0"/>
              </a:spcAft>
              <a:buNone/>
            </a:pPr>
            <a:r>
              <a:rPr lang="en" sz="944"/>
              <a:t>Multi agentic system for remedy generation - web scraper agent, content gen agent, fact validation agent, context based agent; RAG is used to store relevant articles relating to sleep changes from lifestyle</a:t>
            </a:r>
            <a:endParaRPr sz="944"/>
          </a:p>
        </p:txBody>
      </p:sp>
      <p:sp>
        <p:nvSpPr>
          <p:cNvPr id="120" name="Google Shape;120;p22"/>
          <p:cNvSpPr/>
          <p:nvPr/>
        </p:nvSpPr>
        <p:spPr>
          <a:xfrm>
            <a:off x="356525" y="4534177"/>
            <a:ext cx="4012500" cy="473100"/>
          </a:xfrm>
          <a:prstGeom prst="rect">
            <a:avLst/>
          </a:prstGeom>
          <a:solidFill>
            <a:srgbClr val="E8E8E8"/>
          </a:solidFill>
          <a:ln cap="flat" cmpd="sng" w="6425">
            <a:solidFill>
              <a:srgbClr val="0E2841"/>
            </a:solidFill>
            <a:prstDash val="solid"/>
            <a:round/>
            <a:headEnd len="sm" w="sm" type="none"/>
            <a:tailEnd len="sm" w="sm" type="none"/>
          </a:ln>
        </p:spPr>
        <p:txBody>
          <a:bodyPr anchorCtr="0" anchor="ctr" bIns="61675" lIns="61675" spcFirstLastPara="1" rIns="61675" wrap="square" tIns="61675">
            <a:noAutofit/>
          </a:bodyPr>
          <a:lstStyle/>
          <a:p>
            <a:pPr indent="0" lvl="0" marL="0" rtl="0" algn="ctr">
              <a:spcBef>
                <a:spcPts val="0"/>
              </a:spcBef>
              <a:spcAft>
                <a:spcPts val="0"/>
              </a:spcAft>
              <a:buNone/>
            </a:pPr>
            <a:r>
              <a:rPr lang="en" sz="944"/>
              <a:t>Medical chatbot able to answer medical query, use multi-hop question answering and reranking algorithms for RAG</a:t>
            </a:r>
            <a:endParaRPr sz="944"/>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Milestones and Timeline</a:t>
            </a:r>
            <a:endParaRPr/>
          </a:p>
        </p:txBody>
      </p:sp>
      <p:grpSp>
        <p:nvGrpSpPr>
          <p:cNvPr id="126" name="Google Shape;126;p23"/>
          <p:cNvGrpSpPr/>
          <p:nvPr/>
        </p:nvGrpSpPr>
        <p:grpSpPr>
          <a:xfrm>
            <a:off x="311677" y="1307213"/>
            <a:ext cx="8391015" cy="2948346"/>
            <a:chOff x="1134675" y="1391276"/>
            <a:chExt cx="6719262" cy="2360943"/>
          </a:xfrm>
        </p:grpSpPr>
        <p:sp>
          <p:nvSpPr>
            <p:cNvPr id="127" name="Google Shape;127;p23"/>
            <p:cNvSpPr txBox="1"/>
            <p:nvPr/>
          </p:nvSpPr>
          <p:spPr>
            <a:xfrm>
              <a:off x="1224063" y="1391276"/>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4F4B5F"/>
                  </a:solidFill>
                  <a:latin typeface="Chakra Petch"/>
                  <a:ea typeface="Chakra Petch"/>
                  <a:cs typeface="Chakra Petch"/>
                  <a:sym typeface="Chakra Petch"/>
                </a:rPr>
                <a:t>01</a:t>
              </a:r>
              <a:endParaRPr b="1" sz="7992">
                <a:solidFill>
                  <a:srgbClr val="4F4B5F"/>
                </a:solidFill>
                <a:latin typeface="Chakra Petch"/>
                <a:ea typeface="Chakra Petch"/>
                <a:cs typeface="Chakra Petch"/>
                <a:sym typeface="Chakra Petch"/>
              </a:endParaRPr>
            </a:p>
          </p:txBody>
        </p:sp>
        <p:cxnSp>
          <p:nvCxnSpPr>
            <p:cNvPr id="128" name="Google Shape;128;p23"/>
            <p:cNvCxnSpPr/>
            <p:nvPr/>
          </p:nvCxnSpPr>
          <p:spPr>
            <a:xfrm>
              <a:off x="1134675" y="1528325"/>
              <a:ext cx="0" cy="2129100"/>
            </a:xfrm>
            <a:prstGeom prst="straightConnector1">
              <a:avLst/>
            </a:prstGeom>
            <a:noFill/>
            <a:ln cap="flat" cmpd="sng" w="23800">
              <a:solidFill>
                <a:srgbClr val="D9D9D9"/>
              </a:solidFill>
              <a:prstDash val="solid"/>
              <a:round/>
              <a:headEnd len="med" w="med" type="none"/>
              <a:tailEnd len="med" w="med" type="none"/>
            </a:ln>
          </p:spPr>
        </p:cxnSp>
        <p:sp>
          <p:nvSpPr>
            <p:cNvPr id="129" name="Google Shape;129;p23"/>
            <p:cNvSpPr txBox="1"/>
            <p:nvPr/>
          </p:nvSpPr>
          <p:spPr>
            <a:xfrm>
              <a:off x="1224050" y="2896550"/>
              <a:ext cx="13185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Merged diverse datasets by identifying shared channels</a:t>
              </a:r>
              <a:endParaRPr sz="999">
                <a:solidFill>
                  <a:srgbClr val="4F4B5F"/>
                </a:solidFill>
                <a:latin typeface="Red Hat Text"/>
                <a:ea typeface="Red Hat Text"/>
                <a:cs typeface="Red Hat Text"/>
                <a:sym typeface="Red Hat Text"/>
              </a:endParaRPr>
            </a:p>
          </p:txBody>
        </p:sp>
        <p:sp>
          <p:nvSpPr>
            <p:cNvPr id="130" name="Google Shape;130;p23"/>
            <p:cNvSpPr txBox="1"/>
            <p:nvPr/>
          </p:nvSpPr>
          <p:spPr>
            <a:xfrm>
              <a:off x="1224076" y="2403463"/>
              <a:ext cx="1491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499">
                  <a:solidFill>
                    <a:srgbClr val="4F4B5F"/>
                  </a:solidFill>
                  <a:latin typeface="Chakra Petch SemiBold"/>
                  <a:ea typeface="Chakra Petch SemiBold"/>
                  <a:cs typeface="Chakra Petch SemiBold"/>
                  <a:sym typeface="Chakra Petch SemiBold"/>
                </a:rPr>
                <a:t>DATA HARMONISATION</a:t>
              </a:r>
              <a:endParaRPr sz="1499">
                <a:solidFill>
                  <a:srgbClr val="4F4B5F"/>
                </a:solidFill>
                <a:latin typeface="Chakra Petch SemiBold"/>
                <a:ea typeface="Chakra Petch SemiBold"/>
                <a:cs typeface="Chakra Petch SemiBold"/>
                <a:sym typeface="Chakra Petch SemiBold"/>
              </a:endParaRPr>
            </a:p>
          </p:txBody>
        </p:sp>
        <p:sp>
          <p:nvSpPr>
            <p:cNvPr id="131" name="Google Shape;131;p23"/>
            <p:cNvSpPr txBox="1"/>
            <p:nvPr/>
          </p:nvSpPr>
          <p:spPr>
            <a:xfrm>
              <a:off x="2990737" y="2767019"/>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1D5930"/>
                  </a:solidFill>
                  <a:latin typeface="Chakra Petch"/>
                  <a:ea typeface="Chakra Petch"/>
                  <a:cs typeface="Chakra Petch"/>
                  <a:sym typeface="Chakra Petch"/>
                </a:rPr>
                <a:t>02</a:t>
              </a:r>
              <a:endParaRPr b="1" sz="7992">
                <a:solidFill>
                  <a:srgbClr val="1D5930"/>
                </a:solidFill>
                <a:latin typeface="Chakra Petch"/>
                <a:ea typeface="Chakra Petch"/>
                <a:cs typeface="Chakra Petch"/>
                <a:sym typeface="Chakra Petch"/>
              </a:endParaRPr>
            </a:p>
          </p:txBody>
        </p:sp>
        <p:cxnSp>
          <p:nvCxnSpPr>
            <p:cNvPr id="132" name="Google Shape;132;p23"/>
            <p:cNvCxnSpPr/>
            <p:nvPr/>
          </p:nvCxnSpPr>
          <p:spPr>
            <a:xfrm>
              <a:off x="2912688" y="1504780"/>
              <a:ext cx="0" cy="2163300"/>
            </a:xfrm>
            <a:prstGeom prst="straightConnector1">
              <a:avLst/>
            </a:prstGeom>
            <a:noFill/>
            <a:ln cap="flat" cmpd="sng" w="23800">
              <a:solidFill>
                <a:srgbClr val="D9D9D9"/>
              </a:solidFill>
              <a:prstDash val="solid"/>
              <a:round/>
              <a:headEnd len="med" w="med" type="none"/>
              <a:tailEnd len="med" w="med" type="none"/>
            </a:ln>
          </p:spPr>
        </p:cxnSp>
        <p:sp>
          <p:nvSpPr>
            <p:cNvPr id="133" name="Google Shape;133;p23"/>
            <p:cNvSpPr txBox="1"/>
            <p:nvPr/>
          </p:nvSpPr>
          <p:spPr>
            <a:xfrm>
              <a:off x="2951717" y="2222238"/>
              <a:ext cx="1318500" cy="3693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Created the high-level system architecture to structure modules, workflows, and integration points</a:t>
              </a:r>
              <a:endParaRPr sz="999">
                <a:solidFill>
                  <a:srgbClr val="4F4B5F"/>
                </a:solidFill>
                <a:latin typeface="Red Hat Text"/>
                <a:ea typeface="Red Hat Text"/>
                <a:cs typeface="Red Hat Text"/>
                <a:sym typeface="Red Hat Text"/>
              </a:endParaRPr>
            </a:p>
          </p:txBody>
        </p:sp>
        <p:sp>
          <p:nvSpPr>
            <p:cNvPr id="134" name="Google Shape;134;p23"/>
            <p:cNvSpPr txBox="1"/>
            <p:nvPr/>
          </p:nvSpPr>
          <p:spPr>
            <a:xfrm>
              <a:off x="2990711" y="1677450"/>
              <a:ext cx="1515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499">
                  <a:solidFill>
                    <a:srgbClr val="1D5930"/>
                  </a:solidFill>
                  <a:latin typeface="Chakra Petch SemiBold"/>
                  <a:ea typeface="Chakra Petch SemiBold"/>
                  <a:cs typeface="Chakra Petch SemiBold"/>
                  <a:sym typeface="Chakra Petch SemiBold"/>
                </a:rPr>
                <a:t>SYSTEM ARCHITECTURE DESIGN</a:t>
              </a:r>
              <a:endParaRPr sz="1499">
                <a:solidFill>
                  <a:srgbClr val="1D5930"/>
                </a:solidFill>
                <a:latin typeface="Chakra Petch SemiBold"/>
                <a:ea typeface="Chakra Petch SemiBold"/>
                <a:cs typeface="Chakra Petch SemiBold"/>
                <a:sym typeface="Chakra Petch SemiBold"/>
              </a:endParaRPr>
            </a:p>
          </p:txBody>
        </p:sp>
        <p:sp>
          <p:nvSpPr>
            <p:cNvPr id="135" name="Google Shape;135;p23"/>
            <p:cNvSpPr txBox="1"/>
            <p:nvPr/>
          </p:nvSpPr>
          <p:spPr>
            <a:xfrm>
              <a:off x="4768763" y="1391276"/>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E5622B"/>
                  </a:solidFill>
                  <a:latin typeface="Chakra Petch"/>
                  <a:ea typeface="Chakra Petch"/>
                  <a:cs typeface="Chakra Petch"/>
                  <a:sym typeface="Chakra Petch"/>
                </a:rPr>
                <a:t>03</a:t>
              </a:r>
              <a:endParaRPr b="1" sz="7992">
                <a:solidFill>
                  <a:srgbClr val="E5622B"/>
                </a:solidFill>
                <a:latin typeface="Chakra Petch"/>
                <a:ea typeface="Chakra Petch"/>
                <a:cs typeface="Chakra Petch"/>
                <a:sym typeface="Chakra Petch"/>
              </a:endParaRPr>
            </a:p>
          </p:txBody>
        </p:sp>
        <p:cxnSp>
          <p:nvCxnSpPr>
            <p:cNvPr id="136" name="Google Shape;136;p23"/>
            <p:cNvCxnSpPr/>
            <p:nvPr/>
          </p:nvCxnSpPr>
          <p:spPr>
            <a:xfrm>
              <a:off x="4679363" y="1597763"/>
              <a:ext cx="0" cy="2055000"/>
            </a:xfrm>
            <a:prstGeom prst="straightConnector1">
              <a:avLst/>
            </a:prstGeom>
            <a:noFill/>
            <a:ln cap="flat" cmpd="sng" w="23800">
              <a:solidFill>
                <a:srgbClr val="D9D9D9"/>
              </a:solidFill>
              <a:prstDash val="solid"/>
              <a:round/>
              <a:headEnd len="med" w="med" type="none"/>
              <a:tailEnd len="med" w="med" type="none"/>
            </a:ln>
          </p:spPr>
        </p:cxnSp>
        <p:sp>
          <p:nvSpPr>
            <p:cNvPr id="137" name="Google Shape;137;p23"/>
            <p:cNvSpPr txBox="1"/>
            <p:nvPr/>
          </p:nvSpPr>
          <p:spPr>
            <a:xfrm>
              <a:off x="4768775" y="2856475"/>
              <a:ext cx="13185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Did artifact removal and resampling everything to 128 Hz</a:t>
              </a:r>
              <a:endParaRPr sz="999">
                <a:solidFill>
                  <a:srgbClr val="4F4B5F"/>
                </a:solidFill>
                <a:latin typeface="Red Hat Text"/>
                <a:ea typeface="Red Hat Text"/>
                <a:cs typeface="Red Hat Text"/>
                <a:sym typeface="Red Hat Text"/>
              </a:endParaRPr>
            </a:p>
          </p:txBody>
        </p:sp>
        <p:sp>
          <p:nvSpPr>
            <p:cNvPr id="138" name="Google Shape;138;p23"/>
            <p:cNvSpPr txBox="1"/>
            <p:nvPr/>
          </p:nvSpPr>
          <p:spPr>
            <a:xfrm>
              <a:off x="4757425" y="2544898"/>
              <a:ext cx="1515600" cy="3693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en" sz="1499">
                  <a:solidFill>
                    <a:srgbClr val="E5622B"/>
                  </a:solidFill>
                  <a:latin typeface="Chakra Petch SemiBold"/>
                  <a:ea typeface="Chakra Petch SemiBold"/>
                  <a:cs typeface="Chakra Petch SemiBold"/>
                  <a:sym typeface="Chakra Petch SemiBold"/>
                </a:rPr>
                <a:t>DATA</a:t>
              </a:r>
              <a:r>
                <a:rPr lang="en" sz="1499">
                  <a:solidFill>
                    <a:srgbClr val="1D5930"/>
                  </a:solidFill>
                  <a:latin typeface="Chakra Petch SemiBold"/>
                  <a:ea typeface="Chakra Petch SemiBold"/>
                  <a:cs typeface="Chakra Petch SemiBold"/>
                  <a:sym typeface="Chakra Petch SemiBold"/>
                </a:rPr>
                <a:t> </a:t>
              </a:r>
              <a:r>
                <a:rPr lang="en" sz="1499">
                  <a:solidFill>
                    <a:srgbClr val="E5622B"/>
                  </a:solidFill>
                  <a:latin typeface="Chakra Petch SemiBold"/>
                  <a:ea typeface="Chakra Petch SemiBold"/>
                  <a:cs typeface="Chakra Petch SemiBold"/>
                  <a:sym typeface="Chakra Petch SemiBold"/>
                </a:rPr>
                <a:t>PREPROCESSING</a:t>
              </a:r>
              <a:endParaRPr sz="1499">
                <a:solidFill>
                  <a:srgbClr val="1D5930"/>
                </a:solidFill>
                <a:latin typeface="Chakra Petch SemiBold"/>
                <a:ea typeface="Chakra Petch SemiBold"/>
                <a:cs typeface="Chakra Petch SemiBold"/>
                <a:sym typeface="Chakra Petch SemiBold"/>
              </a:endParaRPr>
            </a:p>
            <a:p>
              <a:pPr indent="0" lvl="0" marL="0" rtl="0" algn="l">
                <a:spcBef>
                  <a:spcPts val="0"/>
                </a:spcBef>
                <a:spcAft>
                  <a:spcPts val="0"/>
                </a:spcAft>
                <a:buNone/>
              </a:pPr>
              <a:r>
                <a:t/>
              </a:r>
              <a:endParaRPr sz="1499">
                <a:solidFill>
                  <a:srgbClr val="E5622B"/>
                </a:solidFill>
                <a:latin typeface="Chakra Petch SemiBold"/>
                <a:ea typeface="Chakra Petch SemiBold"/>
                <a:cs typeface="Chakra Petch SemiBold"/>
                <a:sym typeface="Chakra Petch SemiBold"/>
              </a:endParaRPr>
            </a:p>
          </p:txBody>
        </p:sp>
        <p:sp>
          <p:nvSpPr>
            <p:cNvPr id="139" name="Google Shape;139;p23"/>
            <p:cNvSpPr txBox="1"/>
            <p:nvPr/>
          </p:nvSpPr>
          <p:spPr>
            <a:xfrm>
              <a:off x="6535437" y="2767019"/>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684BA9"/>
                  </a:solidFill>
                  <a:latin typeface="Chakra Petch"/>
                  <a:ea typeface="Chakra Petch"/>
                  <a:cs typeface="Chakra Petch"/>
                  <a:sym typeface="Chakra Petch"/>
                </a:rPr>
                <a:t>04</a:t>
              </a:r>
              <a:endParaRPr b="1" sz="7992">
                <a:solidFill>
                  <a:srgbClr val="684BA9"/>
                </a:solidFill>
                <a:latin typeface="Chakra Petch"/>
                <a:ea typeface="Chakra Petch"/>
                <a:cs typeface="Chakra Petch"/>
                <a:sym typeface="Chakra Petch"/>
              </a:endParaRPr>
            </a:p>
          </p:txBody>
        </p:sp>
        <p:cxnSp>
          <p:nvCxnSpPr>
            <p:cNvPr id="140" name="Google Shape;140;p23"/>
            <p:cNvCxnSpPr/>
            <p:nvPr/>
          </p:nvCxnSpPr>
          <p:spPr>
            <a:xfrm>
              <a:off x="6457400" y="1504788"/>
              <a:ext cx="0" cy="2152500"/>
            </a:xfrm>
            <a:prstGeom prst="straightConnector1">
              <a:avLst/>
            </a:prstGeom>
            <a:noFill/>
            <a:ln cap="flat" cmpd="sng" w="23800">
              <a:solidFill>
                <a:srgbClr val="D9D9D9"/>
              </a:solidFill>
              <a:prstDash val="solid"/>
              <a:round/>
              <a:headEnd len="med" w="med" type="none"/>
              <a:tailEnd len="med" w="med" type="none"/>
            </a:ln>
          </p:spPr>
        </p:cxnSp>
        <p:sp>
          <p:nvSpPr>
            <p:cNvPr id="141" name="Google Shape;141;p23"/>
            <p:cNvSpPr txBox="1"/>
            <p:nvPr/>
          </p:nvSpPr>
          <p:spPr>
            <a:xfrm>
              <a:off x="6535425" y="2052300"/>
              <a:ext cx="11868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Completed feature extraction for model-ready inputs</a:t>
              </a:r>
              <a:endParaRPr sz="999">
                <a:solidFill>
                  <a:srgbClr val="4F4B5F"/>
                </a:solidFill>
                <a:latin typeface="Red Hat Text"/>
                <a:ea typeface="Red Hat Text"/>
                <a:cs typeface="Red Hat Text"/>
                <a:sym typeface="Red Hat Text"/>
              </a:endParaRPr>
            </a:p>
          </p:txBody>
        </p:sp>
        <p:sp>
          <p:nvSpPr>
            <p:cNvPr id="142" name="Google Shape;142;p23"/>
            <p:cNvSpPr txBox="1"/>
            <p:nvPr/>
          </p:nvSpPr>
          <p:spPr>
            <a:xfrm>
              <a:off x="6535424" y="1570278"/>
              <a:ext cx="1318500" cy="3693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None/>
              </a:pPr>
              <a:r>
                <a:rPr lang="en" sz="1499">
                  <a:solidFill>
                    <a:srgbClr val="684BA9"/>
                  </a:solidFill>
                  <a:latin typeface="Chakra Petch SemiBold"/>
                  <a:ea typeface="Chakra Petch SemiBold"/>
                  <a:cs typeface="Chakra Petch SemiBold"/>
                  <a:sym typeface="Chakra Petch SemiBold"/>
                </a:rPr>
                <a:t>FEATURE</a:t>
              </a:r>
              <a:r>
                <a:rPr lang="en" sz="1499">
                  <a:solidFill>
                    <a:srgbClr val="E5622B"/>
                  </a:solidFill>
                  <a:latin typeface="Chakra Petch SemiBold"/>
                  <a:ea typeface="Chakra Petch SemiBold"/>
                  <a:cs typeface="Chakra Petch SemiBold"/>
                  <a:sym typeface="Chakra Petch SemiBold"/>
                </a:rPr>
                <a:t> </a:t>
              </a:r>
              <a:r>
                <a:rPr lang="en" sz="1499">
                  <a:solidFill>
                    <a:srgbClr val="684BA9"/>
                  </a:solidFill>
                  <a:latin typeface="Chakra Petch SemiBold"/>
                  <a:ea typeface="Chakra Petch SemiBold"/>
                  <a:cs typeface="Chakra Petch SemiBold"/>
                  <a:sym typeface="Chakra Petch SemiBold"/>
                </a:rPr>
                <a:t>EXTRACTION</a:t>
              </a:r>
              <a:endParaRPr sz="1499">
                <a:solidFill>
                  <a:srgbClr val="684BA9"/>
                </a:solidFill>
                <a:latin typeface="Chakra Petch SemiBold"/>
                <a:ea typeface="Chakra Petch SemiBold"/>
                <a:cs typeface="Chakra Petch SemiBold"/>
                <a:sym typeface="Chakra Petch SemiBold"/>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Milestones and Timeline</a:t>
            </a:r>
            <a:endParaRPr/>
          </a:p>
        </p:txBody>
      </p:sp>
      <p:grpSp>
        <p:nvGrpSpPr>
          <p:cNvPr id="148" name="Google Shape;148;p24"/>
          <p:cNvGrpSpPr/>
          <p:nvPr/>
        </p:nvGrpSpPr>
        <p:grpSpPr>
          <a:xfrm>
            <a:off x="134453" y="1307250"/>
            <a:ext cx="7155343" cy="2948346"/>
            <a:chOff x="1134675" y="1391276"/>
            <a:chExt cx="6719262" cy="2360943"/>
          </a:xfrm>
        </p:grpSpPr>
        <p:sp>
          <p:nvSpPr>
            <p:cNvPr id="149" name="Google Shape;149;p24"/>
            <p:cNvSpPr txBox="1"/>
            <p:nvPr/>
          </p:nvSpPr>
          <p:spPr>
            <a:xfrm>
              <a:off x="1224063" y="1391276"/>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4F4B5F"/>
                  </a:solidFill>
                  <a:latin typeface="Chakra Petch"/>
                  <a:ea typeface="Chakra Petch"/>
                  <a:cs typeface="Chakra Petch"/>
                  <a:sym typeface="Chakra Petch"/>
                </a:rPr>
                <a:t>05</a:t>
              </a:r>
              <a:endParaRPr b="1" sz="7992">
                <a:solidFill>
                  <a:srgbClr val="4F4B5F"/>
                </a:solidFill>
                <a:latin typeface="Chakra Petch"/>
                <a:ea typeface="Chakra Petch"/>
                <a:cs typeface="Chakra Petch"/>
                <a:sym typeface="Chakra Petch"/>
              </a:endParaRPr>
            </a:p>
          </p:txBody>
        </p:sp>
        <p:cxnSp>
          <p:nvCxnSpPr>
            <p:cNvPr id="150" name="Google Shape;150;p24"/>
            <p:cNvCxnSpPr/>
            <p:nvPr/>
          </p:nvCxnSpPr>
          <p:spPr>
            <a:xfrm>
              <a:off x="1134675" y="1528325"/>
              <a:ext cx="0" cy="2129100"/>
            </a:xfrm>
            <a:prstGeom prst="straightConnector1">
              <a:avLst/>
            </a:prstGeom>
            <a:noFill/>
            <a:ln cap="flat" cmpd="sng" w="23800">
              <a:solidFill>
                <a:srgbClr val="D9D9D9"/>
              </a:solidFill>
              <a:prstDash val="solid"/>
              <a:round/>
              <a:headEnd len="med" w="med" type="none"/>
              <a:tailEnd len="med" w="med" type="none"/>
            </a:ln>
          </p:spPr>
        </p:cxnSp>
        <p:sp>
          <p:nvSpPr>
            <p:cNvPr id="151" name="Google Shape;151;p24"/>
            <p:cNvSpPr txBox="1"/>
            <p:nvPr/>
          </p:nvSpPr>
          <p:spPr>
            <a:xfrm>
              <a:off x="1224050" y="2896550"/>
              <a:ext cx="13185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Collected different datasets and combined them</a:t>
              </a:r>
              <a:endParaRPr sz="999">
                <a:solidFill>
                  <a:srgbClr val="4F4B5F"/>
                </a:solidFill>
                <a:latin typeface="Red Hat Text"/>
                <a:ea typeface="Red Hat Text"/>
                <a:cs typeface="Red Hat Text"/>
                <a:sym typeface="Red Hat Text"/>
              </a:endParaRPr>
            </a:p>
          </p:txBody>
        </p:sp>
        <p:sp>
          <p:nvSpPr>
            <p:cNvPr id="152" name="Google Shape;152;p24"/>
            <p:cNvSpPr txBox="1"/>
            <p:nvPr/>
          </p:nvSpPr>
          <p:spPr>
            <a:xfrm>
              <a:off x="1224056" y="2608299"/>
              <a:ext cx="1491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499">
                  <a:solidFill>
                    <a:srgbClr val="4F4B5F"/>
                  </a:solidFill>
                  <a:latin typeface="Chakra Petch SemiBold"/>
                  <a:ea typeface="Chakra Petch SemiBold"/>
                  <a:cs typeface="Chakra Petch SemiBold"/>
                  <a:sym typeface="Chakra Petch SemiBold"/>
                </a:rPr>
                <a:t>TRANSFORMER ARCHITECTURE DESIGN</a:t>
              </a:r>
              <a:endParaRPr sz="1499">
                <a:solidFill>
                  <a:srgbClr val="684BA9"/>
                </a:solidFill>
                <a:latin typeface="Chakra Petch SemiBold"/>
                <a:ea typeface="Chakra Petch SemiBold"/>
                <a:cs typeface="Chakra Petch SemiBold"/>
                <a:sym typeface="Chakra Petch SemiBold"/>
              </a:endParaRPr>
            </a:p>
            <a:p>
              <a:pPr indent="0" lvl="0" marL="0" rtl="0" algn="l">
                <a:spcBef>
                  <a:spcPts val="0"/>
                </a:spcBef>
                <a:spcAft>
                  <a:spcPts val="0"/>
                </a:spcAft>
                <a:buNone/>
              </a:pPr>
              <a:r>
                <a:t/>
              </a:r>
              <a:endParaRPr sz="1499">
                <a:solidFill>
                  <a:srgbClr val="4F4B5F"/>
                </a:solidFill>
                <a:latin typeface="Chakra Petch SemiBold"/>
                <a:ea typeface="Chakra Petch SemiBold"/>
                <a:cs typeface="Chakra Petch SemiBold"/>
                <a:sym typeface="Chakra Petch SemiBold"/>
              </a:endParaRPr>
            </a:p>
          </p:txBody>
        </p:sp>
        <p:sp>
          <p:nvSpPr>
            <p:cNvPr id="153" name="Google Shape;153;p24"/>
            <p:cNvSpPr txBox="1"/>
            <p:nvPr/>
          </p:nvSpPr>
          <p:spPr>
            <a:xfrm>
              <a:off x="2892184" y="2763776"/>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1D5930"/>
                  </a:solidFill>
                  <a:latin typeface="Chakra Petch"/>
                  <a:ea typeface="Chakra Petch"/>
                  <a:cs typeface="Chakra Petch"/>
                  <a:sym typeface="Chakra Petch"/>
                </a:rPr>
                <a:t>06</a:t>
              </a:r>
              <a:endParaRPr b="1" sz="7992">
                <a:solidFill>
                  <a:srgbClr val="1D5930"/>
                </a:solidFill>
                <a:latin typeface="Chakra Petch"/>
                <a:ea typeface="Chakra Petch"/>
                <a:cs typeface="Chakra Petch"/>
                <a:sym typeface="Chakra Petch"/>
              </a:endParaRPr>
            </a:p>
          </p:txBody>
        </p:sp>
        <p:cxnSp>
          <p:nvCxnSpPr>
            <p:cNvPr id="154" name="Google Shape;154;p24"/>
            <p:cNvCxnSpPr/>
            <p:nvPr/>
          </p:nvCxnSpPr>
          <p:spPr>
            <a:xfrm>
              <a:off x="2814134" y="1501537"/>
              <a:ext cx="0" cy="2163300"/>
            </a:xfrm>
            <a:prstGeom prst="straightConnector1">
              <a:avLst/>
            </a:prstGeom>
            <a:noFill/>
            <a:ln cap="flat" cmpd="sng" w="23800">
              <a:solidFill>
                <a:srgbClr val="D9D9D9"/>
              </a:solidFill>
              <a:prstDash val="solid"/>
              <a:round/>
              <a:headEnd len="med" w="med" type="none"/>
              <a:tailEnd len="med" w="med" type="none"/>
            </a:ln>
          </p:spPr>
        </p:cxnSp>
        <p:sp>
          <p:nvSpPr>
            <p:cNvPr id="155" name="Google Shape;155;p24"/>
            <p:cNvSpPr txBox="1"/>
            <p:nvPr/>
          </p:nvSpPr>
          <p:spPr>
            <a:xfrm>
              <a:off x="2892171" y="2043507"/>
              <a:ext cx="1318500" cy="3693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Completed model training for accurate predictions.</a:t>
              </a:r>
              <a:endParaRPr sz="999">
                <a:solidFill>
                  <a:srgbClr val="4F4B5F"/>
                </a:solidFill>
                <a:latin typeface="Red Hat Text"/>
                <a:ea typeface="Red Hat Text"/>
                <a:cs typeface="Red Hat Text"/>
                <a:sym typeface="Red Hat Text"/>
              </a:endParaRPr>
            </a:p>
          </p:txBody>
        </p:sp>
        <p:sp>
          <p:nvSpPr>
            <p:cNvPr id="156" name="Google Shape;156;p24"/>
            <p:cNvSpPr txBox="1"/>
            <p:nvPr/>
          </p:nvSpPr>
          <p:spPr>
            <a:xfrm>
              <a:off x="2892197" y="1567044"/>
              <a:ext cx="1515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499">
                  <a:solidFill>
                    <a:srgbClr val="1D5930"/>
                  </a:solidFill>
                  <a:latin typeface="Chakra Petch SemiBold"/>
                  <a:ea typeface="Chakra Petch SemiBold"/>
                  <a:cs typeface="Chakra Petch SemiBold"/>
                  <a:sym typeface="Chakra Petch SemiBold"/>
                </a:rPr>
                <a:t>MODEL</a:t>
              </a:r>
              <a:r>
                <a:rPr lang="en" sz="1499">
                  <a:solidFill>
                    <a:srgbClr val="4F4B5F"/>
                  </a:solidFill>
                  <a:latin typeface="Chakra Petch SemiBold"/>
                  <a:ea typeface="Chakra Petch SemiBold"/>
                  <a:cs typeface="Chakra Petch SemiBold"/>
                  <a:sym typeface="Chakra Petch SemiBold"/>
                </a:rPr>
                <a:t> </a:t>
              </a:r>
              <a:r>
                <a:rPr lang="en" sz="1499">
                  <a:solidFill>
                    <a:srgbClr val="1D5930"/>
                  </a:solidFill>
                  <a:latin typeface="Chakra Petch SemiBold"/>
                  <a:ea typeface="Chakra Petch SemiBold"/>
                  <a:cs typeface="Chakra Petch SemiBold"/>
                  <a:sym typeface="Chakra Petch SemiBold"/>
                </a:rPr>
                <a:t>TRAINING</a:t>
              </a:r>
              <a:endParaRPr sz="1499">
                <a:solidFill>
                  <a:srgbClr val="4F4B5F"/>
                </a:solidFill>
                <a:latin typeface="Chakra Petch SemiBold"/>
                <a:ea typeface="Chakra Petch SemiBold"/>
                <a:cs typeface="Chakra Petch SemiBold"/>
                <a:sym typeface="Chakra Petch SemiBold"/>
              </a:endParaRPr>
            </a:p>
            <a:p>
              <a:pPr indent="0" lvl="0" marL="0" rtl="0" algn="l">
                <a:spcBef>
                  <a:spcPts val="0"/>
                </a:spcBef>
                <a:spcAft>
                  <a:spcPts val="0"/>
                </a:spcAft>
                <a:buNone/>
              </a:pPr>
              <a:r>
                <a:t/>
              </a:r>
              <a:endParaRPr sz="1499">
                <a:solidFill>
                  <a:srgbClr val="1D5930"/>
                </a:solidFill>
                <a:latin typeface="Chakra Petch SemiBold"/>
                <a:ea typeface="Chakra Petch SemiBold"/>
                <a:cs typeface="Chakra Petch SemiBold"/>
                <a:sym typeface="Chakra Petch SemiBold"/>
              </a:endParaRPr>
            </a:p>
          </p:txBody>
        </p:sp>
        <p:sp>
          <p:nvSpPr>
            <p:cNvPr id="157" name="Google Shape;157;p24"/>
            <p:cNvSpPr txBox="1"/>
            <p:nvPr/>
          </p:nvSpPr>
          <p:spPr>
            <a:xfrm>
              <a:off x="4768763" y="1391276"/>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E5622B"/>
                  </a:solidFill>
                  <a:latin typeface="Chakra Petch"/>
                  <a:ea typeface="Chakra Petch"/>
                  <a:cs typeface="Chakra Petch"/>
                  <a:sym typeface="Chakra Petch"/>
                </a:rPr>
                <a:t>07</a:t>
              </a:r>
              <a:endParaRPr b="1" sz="7992">
                <a:solidFill>
                  <a:srgbClr val="E5622B"/>
                </a:solidFill>
                <a:latin typeface="Chakra Petch"/>
                <a:ea typeface="Chakra Petch"/>
                <a:cs typeface="Chakra Petch"/>
                <a:sym typeface="Chakra Petch"/>
              </a:endParaRPr>
            </a:p>
          </p:txBody>
        </p:sp>
        <p:cxnSp>
          <p:nvCxnSpPr>
            <p:cNvPr id="158" name="Google Shape;158;p24"/>
            <p:cNvCxnSpPr/>
            <p:nvPr/>
          </p:nvCxnSpPr>
          <p:spPr>
            <a:xfrm>
              <a:off x="4679363" y="1597763"/>
              <a:ext cx="0" cy="2055000"/>
            </a:xfrm>
            <a:prstGeom prst="straightConnector1">
              <a:avLst/>
            </a:prstGeom>
            <a:noFill/>
            <a:ln cap="flat" cmpd="sng" w="23800">
              <a:solidFill>
                <a:srgbClr val="D9D9D9"/>
              </a:solidFill>
              <a:prstDash val="solid"/>
              <a:round/>
              <a:headEnd len="med" w="med" type="none"/>
              <a:tailEnd len="med" w="med" type="none"/>
            </a:ln>
          </p:spPr>
        </p:cxnSp>
        <p:sp>
          <p:nvSpPr>
            <p:cNvPr id="159" name="Google Shape;159;p24"/>
            <p:cNvSpPr txBox="1"/>
            <p:nvPr/>
          </p:nvSpPr>
          <p:spPr>
            <a:xfrm>
              <a:off x="4768775" y="2856475"/>
              <a:ext cx="13185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Clinical Inference using XAI</a:t>
              </a:r>
              <a:endParaRPr sz="999">
                <a:solidFill>
                  <a:srgbClr val="4F4B5F"/>
                </a:solidFill>
                <a:latin typeface="Red Hat Text"/>
                <a:ea typeface="Red Hat Text"/>
                <a:cs typeface="Red Hat Text"/>
                <a:sym typeface="Red Hat Text"/>
              </a:endParaRPr>
            </a:p>
          </p:txBody>
        </p:sp>
        <p:sp>
          <p:nvSpPr>
            <p:cNvPr id="160" name="Google Shape;160;p24"/>
            <p:cNvSpPr txBox="1"/>
            <p:nvPr/>
          </p:nvSpPr>
          <p:spPr>
            <a:xfrm>
              <a:off x="4768776" y="2403463"/>
              <a:ext cx="1515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499">
                  <a:solidFill>
                    <a:srgbClr val="E5622B"/>
                  </a:solidFill>
                  <a:latin typeface="Chakra Petch SemiBold"/>
                  <a:ea typeface="Chakra Petch SemiBold"/>
                  <a:cs typeface="Chakra Petch SemiBold"/>
                  <a:sym typeface="Chakra Petch SemiBold"/>
                </a:rPr>
                <a:t>INFERENCE GENERATION - XAI</a:t>
              </a:r>
              <a:endParaRPr sz="1499">
                <a:solidFill>
                  <a:srgbClr val="E5622B"/>
                </a:solidFill>
                <a:latin typeface="Chakra Petch SemiBold"/>
                <a:ea typeface="Chakra Petch SemiBold"/>
                <a:cs typeface="Chakra Petch SemiBold"/>
                <a:sym typeface="Chakra Petch SemiBold"/>
              </a:endParaRPr>
            </a:p>
          </p:txBody>
        </p:sp>
        <p:sp>
          <p:nvSpPr>
            <p:cNvPr id="161" name="Google Shape;161;p24"/>
            <p:cNvSpPr txBox="1"/>
            <p:nvPr/>
          </p:nvSpPr>
          <p:spPr>
            <a:xfrm>
              <a:off x="6535437" y="2767019"/>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684BA9"/>
                  </a:solidFill>
                  <a:latin typeface="Chakra Petch"/>
                  <a:ea typeface="Chakra Petch"/>
                  <a:cs typeface="Chakra Petch"/>
                  <a:sym typeface="Chakra Petch"/>
                </a:rPr>
                <a:t>08</a:t>
              </a:r>
              <a:endParaRPr b="1" sz="7992">
                <a:solidFill>
                  <a:srgbClr val="684BA9"/>
                </a:solidFill>
                <a:latin typeface="Chakra Petch"/>
                <a:ea typeface="Chakra Petch"/>
                <a:cs typeface="Chakra Petch"/>
                <a:sym typeface="Chakra Petch"/>
              </a:endParaRPr>
            </a:p>
          </p:txBody>
        </p:sp>
        <p:cxnSp>
          <p:nvCxnSpPr>
            <p:cNvPr id="162" name="Google Shape;162;p24"/>
            <p:cNvCxnSpPr/>
            <p:nvPr/>
          </p:nvCxnSpPr>
          <p:spPr>
            <a:xfrm>
              <a:off x="6457400" y="1504788"/>
              <a:ext cx="0" cy="2152500"/>
            </a:xfrm>
            <a:prstGeom prst="straightConnector1">
              <a:avLst/>
            </a:prstGeom>
            <a:noFill/>
            <a:ln cap="flat" cmpd="sng" w="23800">
              <a:solidFill>
                <a:srgbClr val="D9D9D9"/>
              </a:solidFill>
              <a:prstDash val="solid"/>
              <a:round/>
              <a:headEnd len="med" w="med" type="none"/>
              <a:tailEnd len="med" w="med" type="none"/>
            </a:ln>
          </p:spPr>
        </p:cxnSp>
        <p:sp>
          <p:nvSpPr>
            <p:cNvPr id="163" name="Google Shape;163;p24"/>
            <p:cNvSpPr txBox="1"/>
            <p:nvPr/>
          </p:nvSpPr>
          <p:spPr>
            <a:xfrm>
              <a:off x="6535425" y="2052300"/>
              <a:ext cx="11868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Multiagentic system for remedy generation and medical query</a:t>
              </a:r>
              <a:endParaRPr sz="999">
                <a:solidFill>
                  <a:srgbClr val="4F4B5F"/>
                </a:solidFill>
                <a:latin typeface="Red Hat Text"/>
                <a:ea typeface="Red Hat Text"/>
                <a:cs typeface="Red Hat Text"/>
                <a:sym typeface="Red Hat Text"/>
              </a:endParaRPr>
            </a:p>
          </p:txBody>
        </p:sp>
        <p:sp>
          <p:nvSpPr>
            <p:cNvPr id="164" name="Google Shape;164;p24"/>
            <p:cNvSpPr txBox="1"/>
            <p:nvPr/>
          </p:nvSpPr>
          <p:spPr>
            <a:xfrm>
              <a:off x="6535424" y="1570278"/>
              <a:ext cx="13185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499">
                  <a:solidFill>
                    <a:srgbClr val="684BA9"/>
                  </a:solidFill>
                  <a:latin typeface="Chakra Petch SemiBold"/>
                  <a:ea typeface="Chakra Petch SemiBold"/>
                  <a:cs typeface="Chakra Petch SemiBold"/>
                  <a:sym typeface="Chakra Petch SemiBold"/>
                </a:rPr>
                <a:t>AGENTIC AI WITH RAG</a:t>
              </a:r>
              <a:endParaRPr sz="1499">
                <a:solidFill>
                  <a:srgbClr val="684BA9"/>
                </a:solidFill>
                <a:latin typeface="Chakra Petch SemiBold"/>
                <a:ea typeface="Chakra Petch SemiBold"/>
                <a:cs typeface="Chakra Petch SemiBold"/>
                <a:sym typeface="Chakra Petch SemiBold"/>
              </a:endParaRPr>
            </a:p>
          </p:txBody>
        </p:sp>
      </p:grpSp>
      <p:grpSp>
        <p:nvGrpSpPr>
          <p:cNvPr id="165" name="Google Shape;165;p24"/>
          <p:cNvGrpSpPr/>
          <p:nvPr/>
        </p:nvGrpSpPr>
        <p:grpSpPr>
          <a:xfrm>
            <a:off x="7356253" y="1366450"/>
            <a:ext cx="1683587" cy="2829966"/>
            <a:chOff x="1134675" y="1391276"/>
            <a:chExt cx="1580981" cy="2266149"/>
          </a:xfrm>
        </p:grpSpPr>
        <p:sp>
          <p:nvSpPr>
            <p:cNvPr id="166" name="Google Shape;166;p24"/>
            <p:cNvSpPr txBox="1"/>
            <p:nvPr/>
          </p:nvSpPr>
          <p:spPr>
            <a:xfrm>
              <a:off x="1224063" y="1391276"/>
              <a:ext cx="1318500" cy="985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992">
                  <a:solidFill>
                    <a:srgbClr val="4F4B5F"/>
                  </a:solidFill>
                  <a:latin typeface="Chakra Petch"/>
                  <a:ea typeface="Chakra Petch"/>
                  <a:cs typeface="Chakra Petch"/>
                  <a:sym typeface="Chakra Petch"/>
                </a:rPr>
                <a:t>09</a:t>
              </a:r>
              <a:endParaRPr b="1" sz="7992">
                <a:solidFill>
                  <a:srgbClr val="4F4B5F"/>
                </a:solidFill>
                <a:latin typeface="Chakra Petch"/>
                <a:ea typeface="Chakra Petch"/>
                <a:cs typeface="Chakra Petch"/>
                <a:sym typeface="Chakra Petch"/>
              </a:endParaRPr>
            </a:p>
          </p:txBody>
        </p:sp>
        <p:cxnSp>
          <p:nvCxnSpPr>
            <p:cNvPr id="167" name="Google Shape;167;p24"/>
            <p:cNvCxnSpPr/>
            <p:nvPr/>
          </p:nvCxnSpPr>
          <p:spPr>
            <a:xfrm>
              <a:off x="1134675" y="1528325"/>
              <a:ext cx="0" cy="2129100"/>
            </a:xfrm>
            <a:prstGeom prst="straightConnector1">
              <a:avLst/>
            </a:prstGeom>
            <a:noFill/>
            <a:ln cap="flat" cmpd="sng" w="23800">
              <a:solidFill>
                <a:srgbClr val="D9D9D9"/>
              </a:solidFill>
              <a:prstDash val="solid"/>
              <a:round/>
              <a:headEnd len="med" w="med" type="none"/>
              <a:tailEnd len="med" w="med" type="none"/>
            </a:ln>
          </p:spPr>
        </p:cxnSp>
        <p:sp>
          <p:nvSpPr>
            <p:cNvPr id="168" name="Google Shape;168;p24"/>
            <p:cNvSpPr txBox="1"/>
            <p:nvPr/>
          </p:nvSpPr>
          <p:spPr>
            <a:xfrm>
              <a:off x="1224050" y="2896550"/>
              <a:ext cx="1318500" cy="492600"/>
            </a:xfrm>
            <a:prstGeom prst="rect">
              <a:avLst/>
            </a:prstGeom>
            <a:noFill/>
            <a:ln>
              <a:noFill/>
            </a:ln>
          </p:spPr>
          <p:txBody>
            <a:bodyPr anchorCtr="0" anchor="t" bIns="0" lIns="0" spcFirstLastPara="1" rIns="114175" wrap="square" tIns="0">
              <a:noAutofit/>
            </a:bodyPr>
            <a:lstStyle/>
            <a:p>
              <a:pPr indent="0" lvl="0" marL="0" rtl="0" algn="l">
                <a:spcBef>
                  <a:spcPts val="0"/>
                </a:spcBef>
                <a:spcAft>
                  <a:spcPts val="0"/>
                </a:spcAft>
                <a:buNone/>
              </a:pPr>
              <a:r>
                <a:rPr lang="en" sz="999">
                  <a:solidFill>
                    <a:srgbClr val="4F4B5F"/>
                  </a:solidFill>
                  <a:latin typeface="Red Hat Text"/>
                  <a:ea typeface="Red Hat Text"/>
                  <a:cs typeface="Red Hat Text"/>
                  <a:sym typeface="Red Hat Text"/>
                </a:rPr>
                <a:t>Developed and deployed a cloud based webapp</a:t>
              </a:r>
              <a:endParaRPr sz="999">
                <a:solidFill>
                  <a:srgbClr val="4F4B5F"/>
                </a:solidFill>
                <a:latin typeface="Red Hat Text"/>
                <a:ea typeface="Red Hat Text"/>
                <a:cs typeface="Red Hat Text"/>
                <a:sym typeface="Red Hat Text"/>
              </a:endParaRPr>
            </a:p>
          </p:txBody>
        </p:sp>
        <p:sp>
          <p:nvSpPr>
            <p:cNvPr id="169" name="Google Shape;169;p24"/>
            <p:cNvSpPr txBox="1"/>
            <p:nvPr/>
          </p:nvSpPr>
          <p:spPr>
            <a:xfrm>
              <a:off x="1224056" y="2608299"/>
              <a:ext cx="1491600" cy="3693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499">
                  <a:solidFill>
                    <a:srgbClr val="4F4B5F"/>
                  </a:solidFill>
                  <a:latin typeface="Chakra Petch SemiBold"/>
                  <a:ea typeface="Chakra Petch SemiBold"/>
                  <a:cs typeface="Chakra Petch SemiBold"/>
                  <a:sym typeface="Chakra Petch SemiBold"/>
                </a:rPr>
                <a:t>WEB APP DEVELOPMENT</a:t>
              </a:r>
              <a:endParaRPr sz="1499">
                <a:solidFill>
                  <a:srgbClr val="684BA9"/>
                </a:solidFill>
                <a:latin typeface="Chakra Petch SemiBold"/>
                <a:ea typeface="Chakra Petch SemiBold"/>
                <a:cs typeface="Chakra Petch SemiBold"/>
                <a:sym typeface="Chakra Petch SemiBold"/>
              </a:endParaRPr>
            </a:p>
            <a:p>
              <a:pPr indent="0" lvl="0" marL="0" rtl="0" algn="l">
                <a:spcBef>
                  <a:spcPts val="0"/>
                </a:spcBef>
                <a:spcAft>
                  <a:spcPts val="0"/>
                </a:spcAft>
                <a:buNone/>
              </a:pPr>
              <a:r>
                <a:t/>
              </a:r>
              <a:endParaRPr sz="1499">
                <a:solidFill>
                  <a:srgbClr val="4F4B5F"/>
                </a:solidFill>
                <a:latin typeface="Chakra Petch SemiBold"/>
                <a:ea typeface="Chakra Petch SemiBold"/>
                <a:cs typeface="Chakra Petch SemiBold"/>
                <a:sym typeface="Chakra Petch SemiBold"/>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