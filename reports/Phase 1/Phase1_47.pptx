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 id="2147483660" r:id="rId2"/>
  </p:sldMasterIdLst>
  <p:notesMasterIdLst>
    <p:notesMasterId r:id="rId24"/>
  </p:notesMasterIdLst>
  <p:sldIdLst>
    <p:sldId id="261" r:id="rId3"/>
    <p:sldId id="328" r:id="rId4"/>
    <p:sldId id="1100" r:id="rId5"/>
    <p:sldId id="329" r:id="rId6"/>
    <p:sldId id="330" r:id="rId7"/>
    <p:sldId id="1101" r:id="rId8"/>
    <p:sldId id="1102" r:id="rId9"/>
    <p:sldId id="1103" r:id="rId10"/>
    <p:sldId id="1104" r:id="rId11"/>
    <p:sldId id="1107" r:id="rId12"/>
    <p:sldId id="1105" r:id="rId13"/>
    <p:sldId id="1108" r:id="rId14"/>
    <p:sldId id="1109" r:id="rId15"/>
    <p:sldId id="1113" r:id="rId16"/>
    <p:sldId id="1114" r:id="rId17"/>
    <p:sldId id="1110" r:id="rId18"/>
    <p:sldId id="1111" r:id="rId19"/>
    <p:sldId id="1112" r:id="rId20"/>
    <p:sldId id="1115" r:id="rId21"/>
    <p:sldId id="1116" r:id="rId22"/>
    <p:sldId id="111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FA8D5F-86FC-FF78-68DF-296C943650AC}" v="36" dt="2025-11-12T09:10:22.4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9" autoAdjust="0"/>
    <p:restoredTop sz="94660"/>
  </p:normalViewPr>
  <p:slideViewPr>
    <p:cSldViewPr snapToGrid="0">
      <p:cViewPr varScale="1">
        <p:scale>
          <a:sx n="88" d="100"/>
          <a:sy n="88" d="100"/>
        </p:scale>
        <p:origin x="844" y="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84B3B-E091-4218-B734-7F09C964D9E9}" type="datetimeFigureOut">
              <a:rPr lang="en-IN" smtClean="0"/>
              <a:t>21-12-2025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A2D287-CFE8-45F7-B578-1940EAB6BD47}" type="slidenum">
              <a:rPr lang="en-IN" smtClean="0"/>
              <a:t>‹#›</a:t>
            </a:fld>
            <a:endParaRPr lang="en-IN"/>
          </a:p>
        </p:txBody>
      </p:sp>
    </p:spTree>
    <p:extLst>
      <p:ext uri="{BB962C8B-B14F-4D97-AF65-F5344CB8AC3E}">
        <p14:creationId xmlns:p14="http://schemas.microsoft.com/office/powerpoint/2010/main" val="1452116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Cite the work that detects dementia, Parkinson’s using polysomnography data.. </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Calisto MT" panose="02040603050505030304" pitchFamily="18" charset="0"/>
              </a:rPr>
              <a:t>Early detection </a:t>
            </a:r>
            <a:r>
              <a:rPr lang="en-US" dirty="0">
                <a:latin typeface="Calisto MT" panose="02040603050505030304" pitchFamily="18" charset="0"/>
              </a:rPr>
              <a:t>through</a:t>
            </a:r>
            <a:r>
              <a:rPr lang="en-US" b="1" dirty="0">
                <a:latin typeface="Calisto MT" panose="02040603050505030304" pitchFamily="18" charset="0"/>
              </a:rPr>
              <a:t> sleep analysis </a:t>
            </a:r>
            <a:r>
              <a:rPr lang="en-US" dirty="0">
                <a:latin typeface="Calisto MT" panose="02040603050505030304" pitchFamily="18" charset="0"/>
              </a:rPr>
              <a:t>facilitates</a:t>
            </a:r>
            <a:r>
              <a:rPr lang="en-US" b="1" dirty="0">
                <a:latin typeface="Calisto MT" panose="02040603050505030304" pitchFamily="18" charset="0"/>
              </a:rPr>
              <a:t> timely interventions – of cardiovascular disease. Dementia ,Parkinson’s???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Calisto MT" panose="0204060305050503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latin typeface="Calisto MT" panose="02040603050505030304" pitchFamily="18" charset="0"/>
              </a:rPr>
              <a:t>Introduction should align with disease risk prediction, which are the systems currently using </a:t>
            </a:r>
            <a:r>
              <a:rPr lang="en-IN" b="1" dirty="0" err="1">
                <a:latin typeface="Calisto MT" panose="02040603050505030304" pitchFamily="18" charset="0"/>
              </a:rPr>
              <a:t>polysomnograpy</a:t>
            </a:r>
            <a:r>
              <a:rPr lang="en-IN" b="1" dirty="0">
                <a:latin typeface="Calisto MT" panose="02040603050505030304" pitchFamily="18" charset="0"/>
              </a:rPr>
              <a:t> data and what are the limitations?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latin typeface="Calisto MT" panose="02040603050505030304" pitchFamily="18" charset="0"/>
              </a:rPr>
              <a:t>Corrections/Modifications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latin typeface="Calisto MT" panose="02040603050505030304" pitchFamily="18" charset="0"/>
              </a:rPr>
              <a:t>Problem with sleep in elderly?? Statistics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latin typeface="Calisto MT" panose="02040603050505030304" pitchFamily="18" charset="0"/>
              </a:rPr>
              <a:t>Relation of sleep with cardio vascular disease, any info from papers??give ref also </a:t>
            </a:r>
          </a:p>
          <a:p>
            <a:endParaRPr lang="en-IN" dirty="0"/>
          </a:p>
        </p:txBody>
      </p:sp>
      <p:sp>
        <p:nvSpPr>
          <p:cNvPr id="4" name="Slide Number Placeholder 3"/>
          <p:cNvSpPr>
            <a:spLocks noGrp="1"/>
          </p:cNvSpPr>
          <p:nvPr>
            <p:ph type="sldNum" sz="quarter" idx="5"/>
          </p:nvPr>
        </p:nvSpPr>
        <p:spPr/>
        <p:txBody>
          <a:bodyPr/>
          <a:lstStyle/>
          <a:p>
            <a:fld id="{18EE30E6-9EB3-46B3-B453-23E1904BDDC3}" type="slidenum">
              <a:rPr lang="en-IN" smtClean="0"/>
              <a:t>3</a:t>
            </a:fld>
            <a:endParaRPr lang="en-IN"/>
          </a:p>
        </p:txBody>
      </p:sp>
    </p:spTree>
    <p:extLst>
      <p:ext uri="{BB962C8B-B14F-4D97-AF65-F5344CB8AC3E}">
        <p14:creationId xmlns:p14="http://schemas.microsoft.com/office/powerpoint/2010/main" val="3512213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8E5E-745C-407D-B425-C78EBF08DF96}"/>
              </a:ext>
            </a:extLst>
          </p:cNvPr>
          <p:cNvSpPr>
            <a:spLocks noGrp="1"/>
          </p:cNvSpPr>
          <p:nvPr>
            <p:ph type="ctrTitle"/>
          </p:nvPr>
        </p:nvSpPr>
        <p:spPr>
          <a:xfrm>
            <a:off x="571501" y="822960"/>
            <a:ext cx="6057899" cy="5015169"/>
          </a:xfrm>
        </p:spPr>
        <p:txBody>
          <a:bodyPr anchor="t">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D07A4D5-56F4-4287-B174-56C55B18FD68}"/>
              </a:ext>
            </a:extLst>
          </p:cNvPr>
          <p:cNvSpPr>
            <a:spLocks noGrp="1"/>
          </p:cNvSpPr>
          <p:nvPr>
            <p:ph type="subTitle" idx="1"/>
          </p:nvPr>
        </p:nvSpPr>
        <p:spPr>
          <a:xfrm>
            <a:off x="8109113" y="3003642"/>
            <a:ext cx="3522199" cy="2900274"/>
          </a:xfrm>
        </p:spPr>
        <p:txBody>
          <a:bodyPr anchor="b">
            <a:normAutofit/>
          </a:bodyPr>
          <a:lstStyle>
            <a:lvl1pPr marL="0" indent="0" algn="l">
              <a:lnSpc>
                <a:spcPct val="130000"/>
              </a:lnSpc>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AEB9C19-FEE0-4852-B181-14A0DD77F40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1127DDF-01B7-463C-82BC-BBF42961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056A-C3EE-4809-B1F3-1CEEEA266F7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9" name="Straight Connector 8">
            <a:extLst>
              <a:ext uri="{FF2B5EF4-FFF2-40B4-BE49-F238E27FC236}">
                <a16:creationId xmlns:a16="http://schemas.microsoft.com/office/drawing/2014/main" id="{A240FCEE-B6E2-46D0-9BB0-F45F79545E9D}"/>
              </a:ext>
            </a:extLst>
          </p:cNvPr>
          <p:cNvCxnSpPr>
            <a:cxnSpLocks/>
          </p:cNvCxnSpPr>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2FB83-3783-4477-80B5-DA5BF10BAF57}"/>
              </a:ext>
            </a:extLst>
          </p:cNvPr>
          <p:cNvCxnSpPr>
            <a:cxnSpLocks/>
          </p:cNvCxnSpPr>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3EA203-71D5-49C0-9626-FFA8E46787B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214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2ED8-7F53-4C03-A740-493E5079849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5611087-99A9-4100-B5F7-520880DE322E}"/>
              </a:ext>
            </a:extLst>
          </p:cNvPr>
          <p:cNvSpPr>
            <a:spLocks noGrp="1"/>
          </p:cNvSpPr>
          <p:nvPr>
            <p:ph idx="1"/>
          </p:nvPr>
        </p:nvSpPr>
        <p:spPr>
          <a:xfrm>
            <a:off x="571499" y="2075688"/>
            <a:ext cx="11059811" cy="3910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7B4B20-1A65-4A26-B11E-6095083A164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B0D52D3-E985-4FEB-89B9-57C75471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A751A-C72D-47C1-A7A6-E8510A40CE9A}"/>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962609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1F78-07BF-45A9-92D4-E4E0A1E88D7A}"/>
              </a:ext>
            </a:extLst>
          </p:cNvPr>
          <p:cNvSpPr>
            <a:spLocks noGrp="1"/>
          </p:cNvSpPr>
          <p:nvPr>
            <p:ph type="title"/>
          </p:nvPr>
        </p:nvSpPr>
        <p:spPr>
          <a:xfrm>
            <a:off x="571500" y="914255"/>
            <a:ext cx="6867115" cy="5009471"/>
          </a:xfrm>
        </p:spPr>
        <p:txBody>
          <a:bodyPr anchor="b">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CC2A83-A380-4828-BC68-C065C8BC5AD5}"/>
              </a:ext>
            </a:extLst>
          </p:cNvPr>
          <p:cNvSpPr>
            <a:spLocks noGrp="1"/>
          </p:cNvSpPr>
          <p:nvPr>
            <p:ph type="body" idx="1"/>
          </p:nvPr>
        </p:nvSpPr>
        <p:spPr>
          <a:xfrm>
            <a:off x="9239817" y="914399"/>
            <a:ext cx="2370268" cy="2670273"/>
          </a:xfrm>
        </p:spPr>
        <p:txBody>
          <a:bodyPr anchor="t">
            <a:normAutofit/>
          </a:bodyPr>
          <a:lstStyle>
            <a:lvl1pPr marL="0" indent="0">
              <a:lnSpc>
                <a:spcPct val="130000"/>
              </a:lnSpc>
              <a:buNone/>
              <a:defRPr sz="14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92B2F-8804-4195-A779-F5C67C25CBB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5099C26-4411-4833-A917-A45E62D56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8C7C7-F862-434D-A87A-DECE9FD2E1E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A40BAA4B-C4C0-40C1-8DC8-B4E2F8A68E12}"/>
              </a:ext>
            </a:extLst>
          </p:cNvPr>
          <p:cNvCxnSpPr>
            <a:cxnSpLocks/>
          </p:cNvCxnSpPr>
          <p:nvPr/>
        </p:nvCxnSpPr>
        <p:spPr>
          <a:xfrm>
            <a:off x="8872625"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0A2259-2540-4B32-A999-2B46A6790E3D}"/>
              </a:ext>
            </a:extLst>
          </p:cNvPr>
          <p:cNvCxnSpPr>
            <a:cxnSpLocks/>
          </p:cNvCxnSpPr>
          <p:nvPr/>
        </p:nvCxnSpPr>
        <p:spPr>
          <a:xfrm flipH="1">
            <a:off x="566094"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EFB0ED-3F76-4403-AD0B-E738DD9D8CB6}"/>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208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BD5F-CF53-4DD5-B8C5-27BBA2BB8860}"/>
              </a:ext>
            </a:extLst>
          </p:cNvPr>
          <p:cNvSpPr>
            <a:spLocks noGrp="1"/>
          </p:cNvSpPr>
          <p:nvPr>
            <p:ph type="title"/>
          </p:nvPr>
        </p:nvSpPr>
        <p:spPr>
          <a:xfrm>
            <a:off x="571500" y="709684"/>
            <a:ext cx="11049000" cy="1057160"/>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76C2E1-5D5E-409F-BEE8-F48CE86F55C9}"/>
              </a:ext>
            </a:extLst>
          </p:cNvPr>
          <p:cNvSpPr>
            <a:spLocks noGrp="1"/>
          </p:cNvSpPr>
          <p:nvPr>
            <p:ph sz="half" idx="1"/>
          </p:nvPr>
        </p:nvSpPr>
        <p:spPr>
          <a:xfrm>
            <a:off x="579447"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FBBF823-1BFB-4CF0-BAF4-D660C8F1AFC0}"/>
              </a:ext>
            </a:extLst>
          </p:cNvPr>
          <p:cNvSpPr>
            <a:spLocks noGrp="1"/>
          </p:cNvSpPr>
          <p:nvPr>
            <p:ph sz="half" idx="2"/>
          </p:nvPr>
        </p:nvSpPr>
        <p:spPr>
          <a:xfrm>
            <a:off x="6447082"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6FF816E-EE02-44A4-8B81-B324ECFD74D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134D9E4-A693-44D2-A3E8-E3AABC905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F669F-4B8E-415D-A9BF-AD451F452C6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720AF959-FCDC-4B92-9324-06A06C0D56F2}"/>
              </a:ext>
            </a:extLst>
          </p:cNvPr>
          <p:cNvCxnSpPr>
            <a:cxnSpLocks/>
          </p:cNvCxnSpPr>
          <p:nvPr/>
        </p:nvCxnSpPr>
        <p:spPr>
          <a:xfrm flipV="1">
            <a:off x="6101405" y="1883336"/>
            <a:ext cx="0" cy="439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007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85E5-82C4-4BAE-B2B0-A078ABD6C69C}"/>
              </a:ext>
            </a:extLst>
          </p:cNvPr>
          <p:cNvSpPr>
            <a:spLocks noGrp="1"/>
          </p:cNvSpPr>
          <p:nvPr>
            <p:ph type="title"/>
          </p:nvPr>
        </p:nvSpPr>
        <p:spPr>
          <a:xfrm>
            <a:off x="583469" y="699118"/>
            <a:ext cx="11025062" cy="1063601"/>
          </a:xfrm>
        </p:spPr>
        <p:txBody>
          <a:bodyPr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12D15C7-F445-40F7-88F6-FD6526269CD7}"/>
              </a:ext>
            </a:extLst>
          </p:cNvPr>
          <p:cNvSpPr>
            <a:spLocks noGrp="1"/>
          </p:cNvSpPr>
          <p:nvPr>
            <p:ph type="body" idx="1"/>
          </p:nvPr>
        </p:nvSpPr>
        <p:spPr>
          <a:xfrm>
            <a:off x="583468" y="2022883"/>
            <a:ext cx="5230469" cy="564079"/>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52C35-AA8E-4154-8A78-7DE9590E1F38}"/>
              </a:ext>
            </a:extLst>
          </p:cNvPr>
          <p:cNvSpPr>
            <a:spLocks noGrp="1"/>
          </p:cNvSpPr>
          <p:nvPr>
            <p:ph sz="half" idx="2"/>
          </p:nvPr>
        </p:nvSpPr>
        <p:spPr>
          <a:xfrm>
            <a:off x="583469" y="2866031"/>
            <a:ext cx="5157787"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557EAC6-567C-4A4A-BB10-57EC14B97DDF}"/>
              </a:ext>
            </a:extLst>
          </p:cNvPr>
          <p:cNvSpPr>
            <a:spLocks noGrp="1"/>
          </p:cNvSpPr>
          <p:nvPr>
            <p:ph type="body" sz="quarter" idx="3"/>
          </p:nvPr>
        </p:nvSpPr>
        <p:spPr>
          <a:xfrm>
            <a:off x="6441470" y="2022883"/>
            <a:ext cx="5183188" cy="564080"/>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A083F-AD60-4437-B32A-44035D78AF63}"/>
              </a:ext>
            </a:extLst>
          </p:cNvPr>
          <p:cNvSpPr>
            <a:spLocks noGrp="1"/>
          </p:cNvSpPr>
          <p:nvPr>
            <p:ph sz="quarter" idx="4"/>
          </p:nvPr>
        </p:nvSpPr>
        <p:spPr>
          <a:xfrm>
            <a:off x="6441470" y="2866031"/>
            <a:ext cx="5183188"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BF86F-3266-4551-B680-06F401FFE665}"/>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755B38FE-80F9-4582-B2E1-B067C288D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BEF32-F637-47A1-9ED3-AFC4F79F373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E0C508D4-7C99-4B8D-BCDE-F0001BD345D9}"/>
              </a:ext>
            </a:extLst>
          </p:cNvPr>
          <p:cNvCxnSpPr>
            <a:cxnSpLocks/>
          </p:cNvCxnSpPr>
          <p:nvPr/>
        </p:nvCxnSpPr>
        <p:spPr>
          <a:xfrm flipV="1">
            <a:off x="6101405" y="1883336"/>
            <a:ext cx="0" cy="4399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9BF61B-7951-48F4-982B-9401A483FFBF}"/>
              </a:ext>
            </a:extLst>
          </p:cNvPr>
          <p:cNvCxnSpPr>
            <a:cxnSpLocks/>
          </p:cNvCxnSpPr>
          <p:nvPr/>
        </p:nvCxnSpPr>
        <p:spPr>
          <a:xfrm flipH="1">
            <a:off x="577485" y="273859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2563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4CB-6BE5-4B9E-B0A6-54F83B201A64}"/>
              </a:ext>
            </a:extLst>
          </p:cNvPr>
          <p:cNvSpPr>
            <a:spLocks noGrp="1"/>
          </p:cNvSpPr>
          <p:nvPr>
            <p:ph type="title"/>
          </p:nvPr>
        </p:nvSpPr>
        <p:spPr>
          <a:xfrm>
            <a:off x="571500" y="717452"/>
            <a:ext cx="11049000" cy="1161836"/>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5E8643C-1A5D-4F23-B0D7-5B46F5E456B4}"/>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0C1A3394-78CC-43B0-9762-5E826F8BB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47F0A-1980-4E13-AB22-AE3B8AA4405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4E9D858B-8A9C-4235-B151-81C99A3D20D2}"/>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C7798B-3ECB-4076-8955-A82116BB0D2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883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1D85-3E72-406F-AB26-B4ED9491844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99C831E-4321-467E-9090-C89C48CF2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A9556-B3D8-4403-835F-11AE2D4098E9}"/>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3579863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AA48-D521-423D-B185-6490EF57B935}"/>
              </a:ext>
            </a:extLst>
          </p:cNvPr>
          <p:cNvSpPr>
            <a:spLocks noGrp="1"/>
          </p:cNvSpPr>
          <p:nvPr>
            <p:ph type="title"/>
          </p:nvPr>
        </p:nvSpPr>
        <p:spPr>
          <a:xfrm>
            <a:off x="572201" y="810344"/>
            <a:ext cx="3478084" cy="1408062"/>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B64E6DD-DDD2-4ED6-B8A9-A8B6D7656549}"/>
              </a:ext>
            </a:extLst>
          </p:cNvPr>
          <p:cNvSpPr>
            <a:spLocks noGrp="1"/>
          </p:cNvSpPr>
          <p:nvPr>
            <p:ph idx="1"/>
          </p:nvPr>
        </p:nvSpPr>
        <p:spPr>
          <a:xfrm>
            <a:off x="4919809" y="931232"/>
            <a:ext cx="6700679" cy="50793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A3F08F5E-AD33-4ACF-84C9-78B0FF6BE3AC}"/>
              </a:ext>
            </a:extLst>
          </p:cNvPr>
          <p:cNvSpPr>
            <a:spLocks noGrp="1"/>
          </p:cNvSpPr>
          <p:nvPr>
            <p:ph type="body" sz="half" idx="2"/>
          </p:nvPr>
        </p:nvSpPr>
        <p:spPr>
          <a:xfrm>
            <a:off x="571500" y="2578608"/>
            <a:ext cx="3478783" cy="34172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7604E-7DD4-4497-B325-74F899E8ACC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F02BEED-A8F6-4256-9539-4434694AA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1AA6-EE0B-48FD-A7DE-6CEE6A8C7DE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B3F35B32-9A23-4805-94A6-96826D202139}"/>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62BA7DA-3944-40D4-91CD-40CA24DBB79B}"/>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BEA0B78-39E7-4039-B8BE-4F425688C6DF}"/>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68B99C-0744-42EE-9713-AB0CEC3F5D8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456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12732-5D39-4B30-A499-D51BABC882EF}"/>
              </a:ext>
            </a:extLst>
          </p:cNvPr>
          <p:cNvSpPr>
            <a:spLocks noGrp="1"/>
          </p:cNvSpPr>
          <p:nvPr>
            <p:ph type="title"/>
          </p:nvPr>
        </p:nvSpPr>
        <p:spPr>
          <a:xfrm>
            <a:off x="571499" y="802204"/>
            <a:ext cx="3478787" cy="1408062"/>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3AF5AEC-77BC-4A52-8A56-C6479CA6A29D}"/>
              </a:ext>
            </a:extLst>
          </p:cNvPr>
          <p:cNvSpPr>
            <a:spLocks noGrp="1"/>
          </p:cNvSpPr>
          <p:nvPr>
            <p:ph type="pic" idx="1"/>
          </p:nvPr>
        </p:nvSpPr>
        <p:spPr>
          <a:xfrm>
            <a:off x="4723467" y="847384"/>
            <a:ext cx="6907844" cy="52168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0A9240-8762-4C7D-AF22-A844CB2EC871}"/>
              </a:ext>
            </a:extLst>
          </p:cNvPr>
          <p:cNvSpPr>
            <a:spLocks noGrp="1"/>
          </p:cNvSpPr>
          <p:nvPr>
            <p:ph type="body" sz="half" idx="2"/>
          </p:nvPr>
        </p:nvSpPr>
        <p:spPr>
          <a:xfrm>
            <a:off x="571498" y="2574906"/>
            <a:ext cx="3478787" cy="3435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95685-E45D-4E74-8B78-D3B8E85C434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21FCBA3-0FF5-47C2-901A-645F6185D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30381-5320-46AD-A0B9-7C04B3E5A202}"/>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5357A432-D933-402A-8657-216EE20450EE}"/>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B1E0F3-D71B-436F-A10B-B6EA7125F684}"/>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EE64F5-2B48-4A2E-BA5E-1D37F1A7C9A3}"/>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BF9AA-A2C8-4233-B597-EB11C6D6A0E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363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9A0A-70FC-426A-8B3B-60FAF9806EB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EF47EC6-9753-4ABC-BB66-64CCC8BA0808}"/>
              </a:ext>
            </a:extLst>
          </p:cNvPr>
          <p:cNvSpPr>
            <a:spLocks noGrp="1"/>
          </p:cNvSpPr>
          <p:nvPr>
            <p:ph type="body" orient="vert" idx="1"/>
          </p:nvPr>
        </p:nvSpPr>
        <p:spPr>
          <a:xfrm>
            <a:off x="571499" y="2036363"/>
            <a:ext cx="11059811" cy="38707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8884D9F-DC99-4B4C-98CF-178BBBB7664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A7A6840-AC0B-4260-8368-08E0A22D2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5DAB8-EC07-4CCF-96EA-5D8ACDAE6E4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0438F1AC-9961-4786-A189-20863DD97F68}"/>
              </a:ext>
            </a:extLst>
          </p:cNvPr>
          <p:cNvCxnSpPr>
            <a:cxnSpLocks/>
          </p:cNvCxnSpPr>
          <p:nvPr/>
        </p:nvCxnSpPr>
        <p:spPr>
          <a:xfrm flipH="1">
            <a:off x="571500" y="1780979"/>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0290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5F678-EC03-4845-A51B-C90FA6A15491}"/>
              </a:ext>
            </a:extLst>
          </p:cNvPr>
          <p:cNvSpPr>
            <a:spLocks noGrp="1"/>
          </p:cNvSpPr>
          <p:nvPr>
            <p:ph type="title" orient="vert"/>
          </p:nvPr>
        </p:nvSpPr>
        <p:spPr>
          <a:xfrm>
            <a:off x="9177953" y="797251"/>
            <a:ext cx="2483929" cy="528378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4A8B4D-A39F-4528-975A-9C84BEE778DF}"/>
              </a:ext>
            </a:extLst>
          </p:cNvPr>
          <p:cNvSpPr>
            <a:spLocks noGrp="1"/>
          </p:cNvSpPr>
          <p:nvPr>
            <p:ph type="body" orient="vert" idx="1"/>
          </p:nvPr>
        </p:nvSpPr>
        <p:spPr>
          <a:xfrm>
            <a:off x="566094" y="797251"/>
            <a:ext cx="8101072" cy="52837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5E4A23-6984-4AD1-A51D-600EDC26354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273E28-C341-49CC-BAAB-0C0D1982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6D54A-8E86-4026-8DD0-5B0979BB8C7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1CB05DA4-DF32-4D7A-9E4D-36309C90C5BB}"/>
              </a:ext>
            </a:extLst>
          </p:cNvPr>
          <p:cNvCxnSpPr>
            <a:cxnSpLocks/>
          </p:cNvCxnSpPr>
          <p:nvPr/>
        </p:nvCxnSpPr>
        <p:spPr>
          <a:xfrm flipH="1">
            <a:off x="566094" y="57711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7CC7262-4997-41E4-976D-BA82E148280F}"/>
              </a:ext>
            </a:extLst>
          </p:cNvPr>
          <p:cNvCxnSpPr>
            <a:cxnSpLocks/>
          </p:cNvCxnSpPr>
          <p:nvPr/>
        </p:nvCxnSpPr>
        <p:spPr>
          <a:xfrm flipV="1">
            <a:off x="8875226" y="571500"/>
            <a:ext cx="0" cy="5711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5063B5-E478-4C41-AD40-49A39AE07429}"/>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454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17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571499" y="1137256"/>
            <a:ext cx="11209376"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571499" y="348662"/>
            <a:ext cx="11209376" cy="464000"/>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8" name="Picture 7">
            <a:extLst>
              <a:ext uri="{FF2B5EF4-FFF2-40B4-BE49-F238E27FC236}">
                <a16:creationId xmlns:a16="http://schemas.microsoft.com/office/drawing/2014/main" id="{140DA784-0993-4F43-BA98-733CB6486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489" y="6369932"/>
            <a:ext cx="12218977" cy="521007"/>
          </a:xfrm>
          <a:prstGeom prst="rect">
            <a:avLst/>
          </a:prstGeom>
        </p:spPr>
      </p:pic>
      <p:pic>
        <p:nvPicPr>
          <p:cNvPr id="6" name="Picture 5">
            <a:extLst>
              <a:ext uri="{FF2B5EF4-FFF2-40B4-BE49-F238E27FC236}">
                <a16:creationId xmlns:a16="http://schemas.microsoft.com/office/drawing/2014/main" id="{D5D41DD4-A5E8-4552-814D-0D80AF0F22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26134" y="6490361"/>
            <a:ext cx="1781941" cy="314840"/>
          </a:xfrm>
          <a:prstGeom prst="rect">
            <a:avLst/>
          </a:prstGeom>
        </p:spPr>
      </p:pic>
    </p:spTree>
    <p:extLst>
      <p:ext uri="{BB962C8B-B14F-4D97-AF65-F5344CB8AC3E}">
        <p14:creationId xmlns:p14="http://schemas.microsoft.com/office/powerpoint/2010/main" val="387529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33832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40DA784-0993-4F43-BA98-733CB6486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53456"/>
            <a:ext cx="12218977" cy="521007"/>
          </a:xfrm>
          <a:prstGeom prst="rect">
            <a:avLst/>
          </a:prstGeom>
        </p:spPr>
      </p:pic>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571499" y="1137256"/>
            <a:ext cx="11209376"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571499" y="348662"/>
            <a:ext cx="11209376" cy="464000"/>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6" name="Picture 5">
            <a:extLst>
              <a:ext uri="{FF2B5EF4-FFF2-40B4-BE49-F238E27FC236}">
                <a16:creationId xmlns:a16="http://schemas.microsoft.com/office/drawing/2014/main" id="{D5D41DD4-A5E8-4552-814D-0D80AF0F22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26134" y="6490361"/>
            <a:ext cx="1781941" cy="314840"/>
          </a:xfrm>
          <a:prstGeom prst="rect">
            <a:avLst/>
          </a:prstGeom>
        </p:spPr>
      </p:pic>
      <p:sp>
        <p:nvSpPr>
          <p:cNvPr id="4" name="Slide Number Placeholder 6">
            <a:extLst>
              <a:ext uri="{FF2B5EF4-FFF2-40B4-BE49-F238E27FC236}">
                <a16:creationId xmlns:a16="http://schemas.microsoft.com/office/drawing/2014/main" id="{44B71D63-CC8F-7D5C-C54F-0439C001EC47}"/>
              </a:ext>
            </a:extLst>
          </p:cNvPr>
          <p:cNvSpPr>
            <a:spLocks noGrp="1"/>
          </p:cNvSpPr>
          <p:nvPr>
            <p:ph type="sldNum" sz="quarter" idx="12"/>
          </p:nvPr>
        </p:nvSpPr>
        <p:spPr>
          <a:xfrm>
            <a:off x="0" y="6525814"/>
            <a:ext cx="571499" cy="365125"/>
          </a:xfrm>
        </p:spPr>
        <p:txBody>
          <a:bodyPr/>
          <a:lstStyle>
            <a:lvl1pPr algn="l">
              <a:defRPr sz="1600" b="1">
                <a:solidFill>
                  <a:schemeClr val="bg1"/>
                </a:solidFill>
              </a:defRPr>
            </a:lvl1pPr>
          </a:lstStyle>
          <a:p>
            <a:fld id="{330EA680-D336-4FF7-8B7A-9848BB0A1C32}" type="slidenum">
              <a:rPr lang="en-US" smtClean="0"/>
              <a:pPr/>
              <a:t>‹#›</a:t>
            </a:fld>
            <a:endParaRPr lang="en-US"/>
          </a:p>
        </p:txBody>
      </p:sp>
      <p:sp>
        <p:nvSpPr>
          <p:cNvPr id="2" name="Slide Number Placeholder 6">
            <a:extLst>
              <a:ext uri="{FF2B5EF4-FFF2-40B4-BE49-F238E27FC236}">
                <a16:creationId xmlns:a16="http://schemas.microsoft.com/office/drawing/2014/main" id="{03E60720-4643-2A6C-4283-9BD3505F1DFE}"/>
              </a:ext>
            </a:extLst>
          </p:cNvPr>
          <p:cNvSpPr txBox="1">
            <a:spLocks/>
          </p:cNvSpPr>
          <p:nvPr userDrawn="1"/>
        </p:nvSpPr>
        <p:spPr>
          <a:xfrm>
            <a:off x="401263" y="6525813"/>
            <a:ext cx="1587335" cy="365125"/>
          </a:xfrm>
          <a:prstGeom prst="rect">
            <a:avLst/>
          </a:prstGeom>
        </p:spPr>
        <p:txBody>
          <a:bodyPr vert="horz" lIns="91440" tIns="45720" rIns="91440" bIns="45720" rtlCol="0" anchor="ctr"/>
          <a:lstStyle>
            <a:defPPr>
              <a:defRPr lang="en-US"/>
            </a:defPPr>
            <a:lvl1pPr marL="0" algn="l" defTabSz="914400" rtl="0" eaLnBrk="1" latinLnBrk="0" hangingPunct="1">
              <a:defRPr sz="16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226262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1467D-9ED1-4211-A71E-41C91C755C9D}"/>
              </a:ext>
            </a:extLst>
          </p:cNvPr>
          <p:cNvSpPr>
            <a:spLocks noGrp="1"/>
          </p:cNvSpPr>
          <p:nvPr>
            <p:ph type="title"/>
          </p:nvPr>
        </p:nvSpPr>
        <p:spPr>
          <a:xfrm>
            <a:off x="571500" y="689289"/>
            <a:ext cx="11049000" cy="10841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F8A6A1-C9C7-4FDF-B4DA-1E86B6A355F8}"/>
              </a:ext>
            </a:extLst>
          </p:cNvPr>
          <p:cNvSpPr>
            <a:spLocks noGrp="1"/>
          </p:cNvSpPr>
          <p:nvPr>
            <p:ph type="body" idx="1"/>
          </p:nvPr>
        </p:nvSpPr>
        <p:spPr>
          <a:xfrm>
            <a:off x="571499" y="2075688"/>
            <a:ext cx="11059811" cy="38180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AACC44A-C635-4CD0-90E9-D9503AF4CCF2}"/>
              </a:ext>
            </a:extLst>
          </p:cNvPr>
          <p:cNvSpPr>
            <a:spLocks noGrp="1"/>
          </p:cNvSpPr>
          <p:nvPr>
            <p:ph type="dt" sz="half" idx="2"/>
          </p:nvPr>
        </p:nvSpPr>
        <p:spPr>
          <a:xfrm>
            <a:off x="8036732" y="6397103"/>
            <a:ext cx="3091928" cy="365125"/>
          </a:xfrm>
          <a:prstGeom prst="rect">
            <a:avLst/>
          </a:prstGeom>
        </p:spPr>
        <p:txBody>
          <a:bodyPr vert="horz" lIns="91440" tIns="45720" rIns="91440" bIns="45720" rtlCol="0" anchor="ctr"/>
          <a:lstStyle>
            <a:lvl1pPr algn="r">
              <a:defRPr sz="800" cap="all" spc="200" baseline="0">
                <a:solidFill>
                  <a:schemeClr val="tx1"/>
                </a:solidFill>
              </a:defRPr>
            </a:lvl1pPr>
          </a:lstStyle>
          <a:p>
            <a:endParaRPr lang="en-US"/>
          </a:p>
        </p:txBody>
      </p:sp>
      <p:sp>
        <p:nvSpPr>
          <p:cNvPr id="5" name="Footer Placeholder 4">
            <a:extLst>
              <a:ext uri="{FF2B5EF4-FFF2-40B4-BE49-F238E27FC236}">
                <a16:creationId xmlns:a16="http://schemas.microsoft.com/office/drawing/2014/main" id="{58ABF682-1A47-492C-81E3-9DB0A50ECB1F}"/>
              </a:ext>
            </a:extLst>
          </p:cNvPr>
          <p:cNvSpPr>
            <a:spLocks noGrp="1"/>
          </p:cNvSpPr>
          <p:nvPr>
            <p:ph type="ftr" sz="quarter" idx="3"/>
          </p:nvPr>
        </p:nvSpPr>
        <p:spPr>
          <a:xfrm>
            <a:off x="475782" y="6397103"/>
            <a:ext cx="4114800" cy="365125"/>
          </a:xfrm>
          <a:prstGeom prst="rect">
            <a:avLst/>
          </a:prstGeom>
        </p:spPr>
        <p:txBody>
          <a:bodyPr vert="horz" lIns="91440" tIns="45720" rIns="91440" bIns="45720" rtlCol="0" anchor="ctr"/>
          <a:lstStyle>
            <a:lvl1pPr algn="l">
              <a:defRPr sz="800" cap="all" spc="2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CCC814B-9105-44ED-98A9-D326B2E2605C}"/>
              </a:ext>
            </a:extLst>
          </p:cNvPr>
          <p:cNvSpPr>
            <a:spLocks noGrp="1"/>
          </p:cNvSpPr>
          <p:nvPr>
            <p:ph type="sldNum" sz="quarter" idx="4"/>
          </p:nvPr>
        </p:nvSpPr>
        <p:spPr>
          <a:xfrm>
            <a:off x="11024553" y="6397103"/>
            <a:ext cx="700775" cy="365125"/>
          </a:xfrm>
          <a:prstGeom prst="rect">
            <a:avLst/>
          </a:prstGeom>
        </p:spPr>
        <p:txBody>
          <a:bodyPr vert="horz" lIns="91440" tIns="45720" rIns="91440" bIns="45720" rtlCol="0" anchor="ctr"/>
          <a:lstStyle>
            <a:lvl1pPr algn="r">
              <a:defRPr sz="800">
                <a:solidFill>
                  <a:schemeClr val="tx1"/>
                </a:solidFill>
              </a:defRPr>
            </a:lvl1pPr>
          </a:lstStyle>
          <a:p>
            <a:fld id="{5EEB83C2-341F-4C28-A243-1C56DDDA54D3}" type="slidenum">
              <a:rPr lang="en-US" smtClean="0"/>
              <a:t>‹#›</a:t>
            </a:fld>
            <a:endParaRPr lang="en-US"/>
          </a:p>
        </p:txBody>
      </p:sp>
      <p:cxnSp>
        <p:nvCxnSpPr>
          <p:cNvPr id="20" name="Straight Connector 19">
            <a:extLst>
              <a:ext uri="{FF2B5EF4-FFF2-40B4-BE49-F238E27FC236}">
                <a16:creationId xmlns:a16="http://schemas.microsoft.com/office/drawing/2014/main" id="{A6814345-41DE-42C5-8657-66C1417DF81A}"/>
              </a:ext>
            </a:extLst>
          </p:cNvPr>
          <p:cNvCxnSpPr>
            <a:cxnSpLocks/>
          </p:cNvCxnSpPr>
          <p:nvPr/>
        </p:nvCxnSpPr>
        <p:spPr>
          <a:xfrm flipH="1">
            <a:off x="566094" y="6286347"/>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E68E419-3727-4F5E-8840-AF149B33B0B7}"/>
              </a:ext>
            </a:extLst>
          </p:cNvPr>
          <p:cNvCxnSpPr>
            <a:cxnSpLocks/>
          </p:cNvCxnSpPr>
          <p:nvPr/>
        </p:nvCxnSpPr>
        <p:spPr>
          <a:xfrm flipH="1">
            <a:off x="577485" y="1883336"/>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9B6EC-D7AE-452F-8D0C-D11BD3377F3E}"/>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067970"/>
      </p:ext>
    </p:extLst>
  </p:cSld>
  <p:clrMap bg1="lt1" tx1="dk1" bg2="lt2" tx2="dk2" accent1="accent1" accent2="accent2" accent3="accent3" accent4="accent4" accent5="accent5" accent6="accent6" hlink="hlink" folHlink="folHlink"/>
  <p:sldLayoutIdLst>
    <p:sldLayoutId id="2147483687"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p:txStyles>
    <p:title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SzPct val="8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SzPct val="80000"/>
        <a:buFont typeface="Avenir Next LT Pro Light" panose="020B03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2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DC7025E-4863-6F49-AD01-8A5B65B0890F}"/>
              </a:ext>
            </a:extLst>
          </p:cNvPr>
          <p:cNvSpPr/>
          <p:nvPr/>
        </p:nvSpPr>
        <p:spPr>
          <a:xfrm>
            <a:off x="0" y="0"/>
            <a:ext cx="12191999" cy="68580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1350">
                <a:solidFill>
                  <a:prstClr val="white"/>
                </a:solidFill>
                <a:latin typeface="Calibri" panose="020F0502020204030204"/>
              </a:rPr>
              <a:t> </a:t>
            </a:r>
          </a:p>
        </p:txBody>
      </p:sp>
      <p:pic>
        <p:nvPicPr>
          <p:cNvPr id="7" name="Picture 6" descr="A picture containing drawing&#10;&#10;Description automatically generated">
            <a:extLst>
              <a:ext uri="{FF2B5EF4-FFF2-40B4-BE49-F238E27FC236}">
                <a16:creationId xmlns:a16="http://schemas.microsoft.com/office/drawing/2014/main" id="{80288CD4-7B52-C244-BAD4-BFF7D9DCE675}"/>
              </a:ext>
            </a:extLst>
          </p:cNvPr>
          <p:cNvPicPr>
            <a:picLocks noChangeAspect="1"/>
          </p:cNvPicPr>
          <p:nvPr/>
        </p:nvPicPr>
        <p:blipFill>
          <a:blip r:embed="rId2"/>
          <a:stretch>
            <a:fillRect/>
          </a:stretch>
        </p:blipFill>
        <p:spPr>
          <a:xfrm>
            <a:off x="1001154" y="2576466"/>
            <a:ext cx="3443174" cy="1104899"/>
          </a:xfrm>
          <a:prstGeom prst="rect">
            <a:avLst/>
          </a:prstGeom>
        </p:spPr>
      </p:pic>
      <p:cxnSp>
        <p:nvCxnSpPr>
          <p:cNvPr id="3" name="Straight Connector 2">
            <a:extLst>
              <a:ext uri="{FF2B5EF4-FFF2-40B4-BE49-F238E27FC236}">
                <a16:creationId xmlns:a16="http://schemas.microsoft.com/office/drawing/2014/main" id="{4BA58083-EF1A-427F-9030-DC289843A2BF}"/>
              </a:ext>
            </a:extLst>
          </p:cNvPr>
          <p:cNvCxnSpPr>
            <a:cxnSpLocks/>
          </p:cNvCxnSpPr>
          <p:nvPr/>
        </p:nvCxnSpPr>
        <p:spPr>
          <a:xfrm>
            <a:off x="4335124" y="2310508"/>
            <a:ext cx="0" cy="1636813"/>
          </a:xfrm>
          <a:prstGeom prst="line">
            <a:avLst/>
          </a:prstGeom>
          <a:ln>
            <a:solidFill>
              <a:srgbClr val="FFC000"/>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4FF19762-9449-7F8E-ED51-CE92E43F0E91}"/>
              </a:ext>
            </a:extLst>
          </p:cNvPr>
          <p:cNvSpPr txBox="1"/>
          <p:nvPr/>
        </p:nvSpPr>
        <p:spPr>
          <a:xfrm>
            <a:off x="4550229" y="1305342"/>
            <a:ext cx="7242626" cy="2123658"/>
          </a:xfrm>
          <a:prstGeom prst="rect">
            <a:avLst/>
          </a:prstGeom>
          <a:noFill/>
        </p:spPr>
        <p:txBody>
          <a:bodyPr wrap="square" lIns="91440" tIns="45720" rIns="91440" bIns="45720" rtlCol="0" anchor="t">
            <a:spAutoFit/>
          </a:bodyPr>
          <a:lstStyle/>
          <a:p>
            <a:pPr algn="ctr" defTabSz="457200"/>
            <a:r>
              <a:rPr lang="en-GB" sz="4400" b="1" dirty="0">
                <a:solidFill>
                  <a:schemeClr val="bg1"/>
                </a:solidFill>
                <a:latin typeface="Segoe UI"/>
                <a:cs typeface="Segoe UI"/>
              </a:rPr>
              <a:t>A Lightweight Health Risk Analysis App for the Elderly using Sleep Studies</a:t>
            </a:r>
            <a:endParaRPr lang="en-US" sz="4000" b="1" dirty="0">
              <a:solidFill>
                <a:schemeClr val="bg1"/>
              </a:solidFill>
              <a:latin typeface="Georgia" panose="02040502050405020303" pitchFamily="18" charset="0"/>
            </a:endParaRPr>
          </a:p>
        </p:txBody>
      </p:sp>
      <p:sp>
        <p:nvSpPr>
          <p:cNvPr id="4" name="TextBox 3">
            <a:extLst>
              <a:ext uri="{FF2B5EF4-FFF2-40B4-BE49-F238E27FC236}">
                <a16:creationId xmlns:a16="http://schemas.microsoft.com/office/drawing/2014/main" id="{9F92AFA7-A803-1602-35C8-C21ED8130634}"/>
              </a:ext>
            </a:extLst>
          </p:cNvPr>
          <p:cNvSpPr txBox="1"/>
          <p:nvPr/>
        </p:nvSpPr>
        <p:spPr>
          <a:xfrm>
            <a:off x="6617669" y="4954823"/>
            <a:ext cx="4420445" cy="646331"/>
          </a:xfrm>
          <a:prstGeom prst="rect">
            <a:avLst/>
          </a:prstGeom>
          <a:noFill/>
        </p:spPr>
        <p:txBody>
          <a:bodyPr wrap="square" lIns="91440" tIns="45720" rIns="91440" bIns="45720" rtlCol="0" anchor="t">
            <a:spAutoFit/>
          </a:bodyPr>
          <a:lstStyle/>
          <a:p>
            <a:r>
              <a:rPr lang="en-US" dirty="0" err="1">
                <a:solidFill>
                  <a:schemeClr val="bg1"/>
                </a:solidFill>
                <a:latin typeface="Times New Roman" panose="02020603050405020304" pitchFamily="18" charset="0"/>
                <a:cs typeface="Times New Roman" panose="02020603050405020304" pitchFamily="18" charset="0"/>
              </a:rPr>
              <a:t>Anuvind</a:t>
            </a:r>
            <a:r>
              <a:rPr lang="en-US" dirty="0">
                <a:solidFill>
                  <a:schemeClr val="bg1"/>
                </a:solidFill>
                <a:latin typeface="Times New Roman" panose="02020603050405020304" pitchFamily="18" charset="0"/>
                <a:cs typeface="Times New Roman" panose="02020603050405020304" pitchFamily="18" charset="0"/>
              </a:rPr>
              <a:t> MP (AM.EN.U4AIE22010)</a:t>
            </a:r>
            <a:endParaRPr lang="en-IN"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R S Harish Kumar (AM.EN</a:t>
            </a:r>
            <a:r>
              <a:rPr lang="en-US">
                <a:solidFill>
                  <a:schemeClr val="bg1"/>
                </a:solidFill>
                <a:latin typeface="Times New Roman" panose="02020603050405020304" pitchFamily="18" charset="0"/>
                <a:cs typeface="Times New Roman" panose="02020603050405020304" pitchFamily="18" charset="0"/>
              </a:rPr>
              <a:t>.U4AIE22042</a:t>
            </a:r>
            <a:r>
              <a:rPr lang="en-US" dirty="0">
                <a:solidFill>
                  <a:schemeClr val="bg1"/>
                </a:solidFill>
                <a:latin typeface="Times New Roman" panose="02020603050405020304" pitchFamily="18" charset="0"/>
                <a:cs typeface="Times New Roman" panose="02020603050405020304" pitchFamily="18" charset="0"/>
              </a:rPr>
              <a: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7B1EF1F-2300-829E-6E9B-9FE25D611E45}"/>
              </a:ext>
            </a:extLst>
          </p:cNvPr>
          <p:cNvSpPr txBox="1"/>
          <p:nvPr/>
        </p:nvSpPr>
        <p:spPr>
          <a:xfrm>
            <a:off x="6268045" y="3870094"/>
            <a:ext cx="4044353" cy="646331"/>
          </a:xfrm>
          <a:prstGeom prst="rect">
            <a:avLst/>
          </a:prstGeom>
          <a:noFill/>
        </p:spPr>
        <p:txBody>
          <a:bodyPr wrap="square" lIns="91440" tIns="45720" rIns="91440" bIns="45720" rtlCol="0" anchor="t">
            <a:spAutoFit/>
          </a:bodyPr>
          <a:lstStyle/>
          <a:p>
            <a:r>
              <a:rPr lang="en-IN" dirty="0">
                <a:solidFill>
                  <a:schemeClr val="bg1"/>
                </a:solidFill>
                <a:latin typeface="Times New Roman" panose="02020603050405020304" pitchFamily="18" charset="0"/>
                <a:cs typeface="Times New Roman" panose="02020603050405020304" pitchFamily="18" charset="0"/>
              </a:rPr>
              <a:t>Guided by,</a:t>
            </a:r>
          </a:p>
          <a:p>
            <a:r>
              <a:rPr lang="en-IN" dirty="0">
                <a:solidFill>
                  <a:schemeClr val="bg1"/>
                </a:solidFill>
                <a:latin typeface="Times New Roman" panose="02020603050405020304" pitchFamily="18" charset="0"/>
                <a:cs typeface="Times New Roman" panose="02020603050405020304" pitchFamily="18" charset="0"/>
              </a:rPr>
              <a:t>		Geetha Lekshmi V . </a:t>
            </a:r>
          </a:p>
        </p:txBody>
      </p:sp>
    </p:spTree>
    <p:extLst>
      <p:ext uri="{BB962C8B-B14F-4D97-AF65-F5344CB8AC3E}">
        <p14:creationId xmlns:p14="http://schemas.microsoft.com/office/powerpoint/2010/main" val="3005922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FB7946-4A61-F0D4-E3EF-98A282757125}"/>
              </a:ext>
            </a:extLst>
          </p:cNvPr>
          <p:cNvSpPr>
            <a:spLocks noGrp="1"/>
          </p:cNvSpPr>
          <p:nvPr>
            <p:ph idx="1"/>
          </p:nvPr>
        </p:nvSpPr>
        <p:spPr/>
        <p:txBody>
          <a:bodyPr vert="horz" lIns="91440" tIns="45720" rIns="91440" bIns="45720" rtlCol="0" anchor="t">
            <a:normAutofit fontScale="85000" lnSpcReduction="20000"/>
          </a:bodyPr>
          <a:lstStyle/>
          <a:p>
            <a:r>
              <a:rPr lang="en-IN" sz="2400" dirty="0"/>
              <a:t>Introduction</a:t>
            </a:r>
          </a:p>
          <a:p>
            <a:r>
              <a:rPr lang="en-IN" sz="2400" dirty="0"/>
              <a:t>Problem Definition</a:t>
            </a:r>
          </a:p>
          <a:p>
            <a:r>
              <a:rPr lang="en-IN" sz="2400" dirty="0"/>
              <a:t>Objectives</a:t>
            </a:r>
          </a:p>
          <a:p>
            <a:r>
              <a:rPr lang="en-IN" sz="2400" dirty="0"/>
              <a:t>Literature Review Summary(Table)</a:t>
            </a:r>
          </a:p>
          <a:p>
            <a:r>
              <a:rPr lang="en-IN" sz="2400" dirty="0"/>
              <a:t>Research Gap</a:t>
            </a:r>
          </a:p>
          <a:p>
            <a:r>
              <a:rPr lang="en-IN" sz="2400" dirty="0"/>
              <a:t>Dataset Description</a:t>
            </a:r>
          </a:p>
          <a:p>
            <a:r>
              <a:rPr lang="en-IN" sz="2400" dirty="0"/>
              <a:t>Methodology / Proposed Method</a:t>
            </a:r>
          </a:p>
          <a:p>
            <a:r>
              <a:rPr lang="en-IN" sz="2400" dirty="0"/>
              <a:t>Design/ Architecture</a:t>
            </a:r>
          </a:p>
          <a:p>
            <a:r>
              <a:rPr lang="en-IN" sz="2400" dirty="0"/>
              <a:t>Algorithms (if any)</a:t>
            </a:r>
          </a:p>
          <a:p>
            <a:r>
              <a:rPr lang="en-IN" sz="2400" dirty="0"/>
              <a:t>Evaluation Metrics</a:t>
            </a:r>
          </a:p>
          <a:p>
            <a:r>
              <a:rPr lang="en-IN" sz="2400" dirty="0"/>
              <a:t>Result Analysis</a:t>
            </a:r>
          </a:p>
          <a:p>
            <a:r>
              <a:rPr lang="en-IN" sz="2400"/>
              <a:t>Limitations</a:t>
            </a:r>
            <a:endParaRPr lang="en-IN" sz="2400" dirty="0"/>
          </a:p>
          <a:p>
            <a:r>
              <a:rPr lang="en-IN" sz="2400" dirty="0"/>
              <a:t>Phase II plan</a:t>
            </a:r>
          </a:p>
          <a:p>
            <a:r>
              <a:rPr lang="en-IN" sz="2400" dirty="0">
                <a:latin typeface="Georgia"/>
              </a:rPr>
              <a:t>Reference(APA style)</a:t>
            </a:r>
          </a:p>
        </p:txBody>
      </p:sp>
      <p:sp>
        <p:nvSpPr>
          <p:cNvPr id="3" name="Title 2">
            <a:extLst>
              <a:ext uri="{FF2B5EF4-FFF2-40B4-BE49-F238E27FC236}">
                <a16:creationId xmlns:a16="http://schemas.microsoft.com/office/drawing/2014/main" id="{E8F80A38-C040-884E-9416-3B2C3AC0417C}"/>
              </a:ext>
            </a:extLst>
          </p:cNvPr>
          <p:cNvSpPr>
            <a:spLocks noGrp="1"/>
          </p:cNvSpPr>
          <p:nvPr>
            <p:ph type="title"/>
          </p:nvPr>
        </p:nvSpPr>
        <p:spPr/>
        <p:txBody>
          <a:bodyPr/>
          <a:lstStyle/>
          <a:p>
            <a:r>
              <a:rPr lang="en-IN" dirty="0"/>
              <a:t>Outline</a:t>
            </a:r>
          </a:p>
        </p:txBody>
      </p:sp>
      <p:sp>
        <p:nvSpPr>
          <p:cNvPr id="4" name="Slide Number Placeholder 3">
            <a:extLst>
              <a:ext uri="{FF2B5EF4-FFF2-40B4-BE49-F238E27FC236}">
                <a16:creationId xmlns:a16="http://schemas.microsoft.com/office/drawing/2014/main" id="{8F7A0663-8695-8CFA-B1EF-3BA1E5427634}"/>
              </a:ext>
            </a:extLst>
          </p:cNvPr>
          <p:cNvSpPr>
            <a:spLocks noGrp="1"/>
          </p:cNvSpPr>
          <p:nvPr>
            <p:ph type="sldNum" sz="quarter" idx="12"/>
          </p:nvPr>
        </p:nvSpPr>
        <p:spPr/>
        <p:txBody>
          <a:bodyPr/>
          <a:lstStyle/>
          <a:p>
            <a:fld id="{330EA680-D336-4FF7-8B7A-9848BB0A1C32}" type="slidenum">
              <a:rPr lang="en-US" smtClean="0"/>
              <a:pPr/>
              <a:t>2</a:t>
            </a:fld>
            <a:endParaRPr lang="en-US"/>
          </a:p>
        </p:txBody>
      </p:sp>
      <p:sp>
        <p:nvSpPr>
          <p:cNvPr id="6" name="TextBox 5">
            <a:extLst>
              <a:ext uri="{FF2B5EF4-FFF2-40B4-BE49-F238E27FC236}">
                <a16:creationId xmlns:a16="http://schemas.microsoft.com/office/drawing/2014/main" id="{6A894FFD-4989-522F-352B-AB6F2C397014}"/>
              </a:ext>
            </a:extLst>
          </p:cNvPr>
          <p:cNvSpPr txBox="1"/>
          <p:nvPr/>
        </p:nvSpPr>
        <p:spPr>
          <a:xfrm>
            <a:off x="2976282" y="6488668"/>
            <a:ext cx="6714565" cy="323165"/>
          </a:xfrm>
          <a:prstGeom prst="rect">
            <a:avLst/>
          </a:prstGeom>
          <a:noFill/>
        </p:spPr>
        <p:txBody>
          <a:bodyPr wrap="square" rtlCol="0">
            <a:spAutoFit/>
          </a:bodyPr>
          <a:lstStyle/>
          <a:p>
            <a:r>
              <a:rPr lang="en-IN" sz="1500" dirty="0">
                <a:solidFill>
                  <a:schemeClr val="bg1">
                    <a:lumMod val="85000"/>
                  </a:schemeClr>
                </a:solidFill>
              </a:rPr>
              <a:t>Project title</a:t>
            </a:r>
          </a:p>
        </p:txBody>
      </p:sp>
    </p:spTree>
    <p:extLst>
      <p:ext uri="{BB962C8B-B14F-4D97-AF65-F5344CB8AC3E}">
        <p14:creationId xmlns:p14="http://schemas.microsoft.com/office/powerpoint/2010/main" val="2683305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9D34E0E-6139-7653-CCF6-3D7427E1BB89}"/>
              </a:ext>
            </a:extLst>
          </p:cNvPr>
          <p:cNvSpPr>
            <a:spLocks noGrp="1"/>
          </p:cNvSpPr>
          <p:nvPr>
            <p:ph idx="1"/>
          </p:nvPr>
        </p:nvSpPr>
        <p:spPr/>
        <p:txBody>
          <a:bodyPr vert="horz" lIns="91440" tIns="45720" rIns="91440" bIns="45720" rtlCol="0" anchor="t">
            <a:normAutofit/>
          </a:bodyPr>
          <a:lstStyle/>
          <a:p>
            <a:pPr marL="0" indent="0">
              <a:buNone/>
            </a:pPr>
            <a:endParaRPr lang="en-IN" b="1" dirty="0">
              <a:ea typeface="Calibri"/>
              <a:cs typeface="Calibri"/>
            </a:endParaRPr>
          </a:p>
          <a:p>
            <a:pPr marL="0" indent="0">
              <a:buNone/>
            </a:pPr>
            <a:endParaRPr lang="en-IN" b="1" dirty="0">
              <a:solidFill>
                <a:srgbClr val="00B050"/>
              </a:solidFill>
              <a:ea typeface="Calibri"/>
              <a:cs typeface="Calibri"/>
            </a:endParaRPr>
          </a:p>
        </p:txBody>
      </p:sp>
      <p:sp>
        <p:nvSpPr>
          <p:cNvPr id="4" name="Title 3">
            <a:extLst>
              <a:ext uri="{FF2B5EF4-FFF2-40B4-BE49-F238E27FC236}">
                <a16:creationId xmlns:a16="http://schemas.microsoft.com/office/drawing/2014/main" id="{E472E394-459F-B4D4-2B1F-A261E4719A79}"/>
              </a:ext>
            </a:extLst>
          </p:cNvPr>
          <p:cNvSpPr>
            <a:spLocks noGrp="1"/>
          </p:cNvSpPr>
          <p:nvPr>
            <p:ph type="title"/>
          </p:nvPr>
        </p:nvSpPr>
        <p:spPr/>
        <p:txBody>
          <a:bodyPr>
            <a:normAutofit fontScale="90000"/>
          </a:bodyPr>
          <a:lstStyle/>
          <a:p>
            <a:r>
              <a:rPr lang="en-IN" sz="4000" b="1" u="sng" dirty="0">
                <a:latin typeface="Calisto MT" panose="02040603050505030304" pitchFamily="18" charset="0"/>
              </a:rPr>
              <a:t>Introduction </a:t>
            </a:r>
            <a:endParaRPr lang="en-IN" b="1" i="1" u="sng" dirty="0">
              <a:latin typeface="Calisto MT" panose="02040603050505030304" pitchFamily="18" charset="0"/>
            </a:endParaRPr>
          </a:p>
        </p:txBody>
      </p:sp>
      <p:pic>
        <p:nvPicPr>
          <p:cNvPr id="2" name="Picture 1">
            <a:extLst>
              <a:ext uri="{FF2B5EF4-FFF2-40B4-BE49-F238E27FC236}">
                <a16:creationId xmlns:a16="http://schemas.microsoft.com/office/drawing/2014/main" id="{199AFD8A-B828-9635-58C8-0FE215F0ECB1}"/>
              </a:ext>
            </a:extLst>
          </p:cNvPr>
          <p:cNvPicPr>
            <a:picLocks noChangeAspect="1"/>
          </p:cNvPicPr>
          <p:nvPr/>
        </p:nvPicPr>
        <p:blipFill>
          <a:blip r:embed="rId3" cstate="print">
            <a:extLst>
              <a:ext uri="{28A0092B-C50C-407E-A947-70E740481C1C}">
                <a14:useLocalDpi xmlns:a14="http://schemas.microsoft.com/office/drawing/2010/main" val="0"/>
              </a:ext>
            </a:extLst>
          </a:blip>
          <a:srcRect l="10547" r="8570"/>
          <a:stretch>
            <a:fillRect/>
          </a:stretch>
        </p:blipFill>
        <p:spPr>
          <a:xfrm>
            <a:off x="3919895" y="2171746"/>
            <a:ext cx="3940995" cy="2290336"/>
          </a:xfrm>
          <a:prstGeom prst="rect">
            <a:avLst/>
          </a:prstGeom>
          <a:ln>
            <a:noFill/>
          </a:ln>
          <a:effectLst>
            <a:outerShdw blurRad="190500" algn="tl" rotWithShape="0">
              <a:srgbClr val="000000">
                <a:alpha val="70000"/>
              </a:srgbClr>
            </a:outerShdw>
          </a:effectLst>
        </p:spPr>
      </p:pic>
      <p:sp>
        <p:nvSpPr>
          <p:cNvPr id="10" name="TextBox 9">
            <a:extLst>
              <a:ext uri="{FF2B5EF4-FFF2-40B4-BE49-F238E27FC236}">
                <a16:creationId xmlns:a16="http://schemas.microsoft.com/office/drawing/2014/main" id="{043DBC1D-2937-74AF-1B6A-76030DD8BFF5}"/>
              </a:ext>
            </a:extLst>
          </p:cNvPr>
          <p:cNvSpPr txBox="1"/>
          <p:nvPr/>
        </p:nvSpPr>
        <p:spPr>
          <a:xfrm>
            <a:off x="212623" y="1650114"/>
            <a:ext cx="3355258" cy="923330"/>
          </a:xfrm>
          <a:prstGeom prst="rect">
            <a:avLst/>
          </a:prstGeom>
          <a:noFill/>
        </p:spPr>
        <p:txBody>
          <a:bodyPr wrap="square">
            <a:spAutoFit/>
          </a:bodyPr>
          <a:lstStyle/>
          <a:p>
            <a:pPr marL="285750" indent="-285750">
              <a:buFont typeface="Arial" panose="020B0604020202020204" pitchFamily="34" charset="0"/>
              <a:buChar char="•"/>
            </a:pPr>
            <a:r>
              <a:rPr lang="en-US" dirty="0">
                <a:latin typeface="Calisto MT" panose="02040603050505030304" pitchFamily="18" charset="0"/>
              </a:rPr>
              <a:t>Aging populations face </a:t>
            </a:r>
            <a:r>
              <a:rPr lang="en-US" b="1" dirty="0">
                <a:latin typeface="Calisto MT" panose="02040603050505030304" pitchFamily="18" charset="0"/>
              </a:rPr>
              <a:t>increasing risk of chronic diseases</a:t>
            </a:r>
            <a:r>
              <a:rPr lang="en-US" dirty="0">
                <a:latin typeface="Calisto MT" panose="02040603050505030304" pitchFamily="18" charset="0"/>
              </a:rPr>
              <a:t>.</a:t>
            </a:r>
            <a:endParaRPr lang="en-IN" dirty="0">
              <a:latin typeface="Calisto MT" panose="02040603050505030304" pitchFamily="18" charset="0"/>
            </a:endParaRPr>
          </a:p>
        </p:txBody>
      </p:sp>
      <p:sp>
        <p:nvSpPr>
          <p:cNvPr id="12" name="TextBox 11">
            <a:extLst>
              <a:ext uri="{FF2B5EF4-FFF2-40B4-BE49-F238E27FC236}">
                <a16:creationId xmlns:a16="http://schemas.microsoft.com/office/drawing/2014/main" id="{423B64E1-741A-A9EB-77DE-0C5F59BFA761}"/>
              </a:ext>
            </a:extLst>
          </p:cNvPr>
          <p:cNvSpPr txBox="1"/>
          <p:nvPr/>
        </p:nvSpPr>
        <p:spPr>
          <a:xfrm>
            <a:off x="212623" y="2637642"/>
            <a:ext cx="3650839" cy="646331"/>
          </a:xfrm>
          <a:prstGeom prst="rect">
            <a:avLst/>
          </a:prstGeom>
          <a:noFill/>
        </p:spPr>
        <p:txBody>
          <a:bodyPr wrap="square">
            <a:spAutoFit/>
          </a:bodyPr>
          <a:lstStyle/>
          <a:p>
            <a:pPr marL="285750" indent="-285750">
              <a:buFont typeface="Arial" panose="020B0604020202020204" pitchFamily="34" charset="0"/>
              <a:buChar char="•"/>
            </a:pPr>
            <a:r>
              <a:rPr lang="en-US" b="1" dirty="0">
                <a:latin typeface="Calisto MT" panose="02040603050505030304" pitchFamily="18" charset="0"/>
              </a:rPr>
              <a:t>Increasing</a:t>
            </a:r>
            <a:r>
              <a:rPr lang="en-US" dirty="0">
                <a:latin typeface="Calisto MT" panose="02040603050505030304" pitchFamily="18" charset="0"/>
              </a:rPr>
              <a:t> </a:t>
            </a:r>
            <a:r>
              <a:rPr lang="en-US" b="1" dirty="0">
                <a:latin typeface="Calisto MT" panose="02040603050505030304" pitchFamily="18" charset="0"/>
              </a:rPr>
              <a:t>healthcare costs </a:t>
            </a:r>
            <a:r>
              <a:rPr lang="en-US" dirty="0">
                <a:latin typeface="Calisto MT" panose="02040603050505030304" pitchFamily="18" charset="0"/>
              </a:rPr>
              <a:t>and morbidity.</a:t>
            </a:r>
            <a:endParaRPr lang="en-IN" dirty="0">
              <a:latin typeface="Calisto MT" panose="02040603050505030304" pitchFamily="18" charset="0"/>
            </a:endParaRPr>
          </a:p>
        </p:txBody>
      </p:sp>
      <p:sp>
        <p:nvSpPr>
          <p:cNvPr id="14" name="TextBox 13">
            <a:extLst>
              <a:ext uri="{FF2B5EF4-FFF2-40B4-BE49-F238E27FC236}">
                <a16:creationId xmlns:a16="http://schemas.microsoft.com/office/drawing/2014/main" id="{E81D2F71-2935-910C-B72A-908492677EE2}"/>
              </a:ext>
            </a:extLst>
          </p:cNvPr>
          <p:cNvSpPr txBox="1"/>
          <p:nvPr/>
        </p:nvSpPr>
        <p:spPr>
          <a:xfrm>
            <a:off x="212623" y="3584919"/>
            <a:ext cx="3529781" cy="1754326"/>
          </a:xfrm>
          <a:prstGeom prst="rect">
            <a:avLst/>
          </a:prstGeom>
          <a:noFill/>
        </p:spPr>
        <p:txBody>
          <a:bodyPr wrap="square">
            <a:spAutoFit/>
          </a:bodyPr>
          <a:lstStyle/>
          <a:p>
            <a:pPr marL="285750" indent="-285750">
              <a:buFont typeface="Arial" panose="020B0604020202020204" pitchFamily="34" charset="0"/>
              <a:buChar char="•"/>
            </a:pPr>
            <a:r>
              <a:rPr lang="en-GB" b="1" dirty="0">
                <a:latin typeface="Calisto MT" panose="02040603050505030304" pitchFamily="18" charset="0"/>
              </a:rPr>
              <a:t>Polysomnography (PSG) </a:t>
            </a:r>
            <a:r>
              <a:rPr lang="en-GB" dirty="0">
                <a:latin typeface="Calisto MT" panose="02040603050505030304" pitchFamily="18" charset="0"/>
              </a:rPr>
              <a:t>provides rich multi-modal signals that capture these sleep-related physiological changes.</a:t>
            </a:r>
          </a:p>
          <a:p>
            <a:endParaRPr lang="en-IN" b="1" dirty="0">
              <a:latin typeface="Calisto MT" panose="02040603050505030304" pitchFamily="18" charset="0"/>
            </a:endParaRPr>
          </a:p>
        </p:txBody>
      </p:sp>
      <p:sp>
        <p:nvSpPr>
          <p:cNvPr id="16" name="TextBox 15">
            <a:extLst>
              <a:ext uri="{FF2B5EF4-FFF2-40B4-BE49-F238E27FC236}">
                <a16:creationId xmlns:a16="http://schemas.microsoft.com/office/drawing/2014/main" id="{A18D54F8-1414-268E-9412-7F3F3AC4A32E}"/>
              </a:ext>
            </a:extLst>
          </p:cNvPr>
          <p:cNvSpPr txBox="1"/>
          <p:nvPr/>
        </p:nvSpPr>
        <p:spPr>
          <a:xfrm>
            <a:off x="7871950" y="1893954"/>
            <a:ext cx="3807542" cy="923330"/>
          </a:xfrm>
          <a:prstGeom prst="rect">
            <a:avLst/>
          </a:prstGeom>
          <a:noFill/>
        </p:spPr>
        <p:txBody>
          <a:bodyPr wrap="square">
            <a:spAutoFit/>
          </a:bodyPr>
          <a:lstStyle/>
          <a:p>
            <a:pPr marL="285750" indent="-285750">
              <a:buFont typeface="Arial" panose="020B0604020202020204" pitchFamily="34" charset="0"/>
              <a:buChar char="•"/>
            </a:pPr>
            <a:r>
              <a:rPr lang="en-US" b="1" dirty="0">
                <a:latin typeface="Calisto MT" panose="02040603050505030304" pitchFamily="18" charset="0"/>
              </a:rPr>
              <a:t>Automated system </a:t>
            </a:r>
            <a:r>
              <a:rPr lang="en-US" dirty="0">
                <a:latin typeface="Calisto MT" panose="02040603050505030304" pitchFamily="18" charset="0"/>
              </a:rPr>
              <a:t>using </a:t>
            </a:r>
            <a:r>
              <a:rPr lang="en-US" b="1" dirty="0">
                <a:latin typeface="Calisto MT" panose="02040603050505030304" pitchFamily="18" charset="0"/>
              </a:rPr>
              <a:t>sleep analysis </a:t>
            </a:r>
            <a:r>
              <a:rPr lang="en-US" dirty="0">
                <a:latin typeface="Calisto MT" panose="02040603050505030304" pitchFamily="18" charset="0"/>
              </a:rPr>
              <a:t>facilitates</a:t>
            </a:r>
            <a:r>
              <a:rPr lang="en-US" b="1" dirty="0">
                <a:latin typeface="Calisto MT" panose="02040603050505030304" pitchFamily="18" charset="0"/>
              </a:rPr>
              <a:t> timely interventions.</a:t>
            </a:r>
            <a:endParaRPr lang="en-IN" b="1" dirty="0">
              <a:latin typeface="Calisto MT" panose="02040603050505030304" pitchFamily="18" charset="0"/>
            </a:endParaRPr>
          </a:p>
        </p:txBody>
      </p:sp>
      <p:sp>
        <p:nvSpPr>
          <p:cNvPr id="18" name="TextBox 17">
            <a:extLst>
              <a:ext uri="{FF2B5EF4-FFF2-40B4-BE49-F238E27FC236}">
                <a16:creationId xmlns:a16="http://schemas.microsoft.com/office/drawing/2014/main" id="{4FE7AB44-DB07-881E-BFF8-FE0BA33B83AF}"/>
              </a:ext>
            </a:extLst>
          </p:cNvPr>
          <p:cNvSpPr txBox="1"/>
          <p:nvPr/>
        </p:nvSpPr>
        <p:spPr>
          <a:xfrm>
            <a:off x="7876253" y="3538752"/>
            <a:ext cx="4315747" cy="923330"/>
          </a:xfrm>
          <a:prstGeom prst="rect">
            <a:avLst/>
          </a:prstGeom>
          <a:noFill/>
        </p:spPr>
        <p:txBody>
          <a:bodyPr wrap="square">
            <a:spAutoFit/>
          </a:bodyPr>
          <a:lstStyle/>
          <a:p>
            <a:pPr marL="285750" indent="-285750">
              <a:buFont typeface="Arial" panose="020B0604020202020204" pitchFamily="34" charset="0"/>
              <a:buChar char="•"/>
            </a:pPr>
            <a:r>
              <a:rPr lang="en-US" dirty="0">
                <a:latin typeface="Calisto MT" panose="02040603050505030304" pitchFamily="18" charset="0"/>
              </a:rPr>
              <a:t>This can significantly</a:t>
            </a:r>
            <a:r>
              <a:rPr lang="en-US" b="1" dirty="0">
                <a:latin typeface="Calisto MT" panose="02040603050505030304" pitchFamily="18" charset="0"/>
              </a:rPr>
              <a:t> reduce healthcare costs</a:t>
            </a:r>
            <a:r>
              <a:rPr lang="en-US" dirty="0">
                <a:latin typeface="Calisto MT" panose="02040603050505030304" pitchFamily="18" charset="0"/>
              </a:rPr>
              <a:t> and </a:t>
            </a:r>
            <a:r>
              <a:rPr lang="en-US" b="1" dirty="0">
                <a:latin typeface="Calisto MT" panose="02040603050505030304" pitchFamily="18" charset="0"/>
              </a:rPr>
              <a:t>improve quality of life</a:t>
            </a:r>
            <a:r>
              <a:rPr lang="en-US" dirty="0">
                <a:latin typeface="Calisto MT" panose="02040603050505030304" pitchFamily="18" charset="0"/>
              </a:rPr>
              <a:t> for aging adults.</a:t>
            </a:r>
            <a:endParaRPr lang="en-IN" dirty="0">
              <a:latin typeface="Calisto MT" panose="02040603050505030304" pitchFamily="18" charset="0"/>
            </a:endParaRPr>
          </a:p>
        </p:txBody>
      </p:sp>
    </p:spTree>
    <p:extLst>
      <p:ext uri="{BB962C8B-B14F-4D97-AF65-F5344CB8AC3E}">
        <p14:creationId xmlns:p14="http://schemas.microsoft.com/office/powerpoint/2010/main" val="694009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C27BA-775F-97A2-A7B4-0BC28956115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105083-C65E-74EF-DECE-819E2BD85DFF}"/>
              </a:ext>
            </a:extLst>
          </p:cNvPr>
          <p:cNvSpPr>
            <a:spLocks noGrp="1"/>
          </p:cNvSpPr>
          <p:nvPr>
            <p:ph idx="1"/>
          </p:nvPr>
        </p:nvSpPr>
        <p:spPr/>
        <p:txBody>
          <a:bodyPr vert="horz" lIns="91440" tIns="45720" rIns="91440" bIns="45720" rtlCol="0" anchor="t">
            <a:normAutofit/>
          </a:bodyPr>
          <a:lstStyle/>
          <a:p>
            <a:r>
              <a:rPr lang="en-GB" dirty="0"/>
              <a:t>There is a growing need for automated health risk detection systems for elderly populations, as sleep data provides valuable indicators of cardiac, respiratory, and mental conditions. Manual PSG analysis is time-consuming, costly, and often unavailable in resource-limited regions, delaying early diagnosis. </a:t>
            </a:r>
          </a:p>
          <a:p>
            <a:pPr marL="0" indent="0">
              <a:buNone/>
            </a:pPr>
            <a:endParaRPr lang="en-GB" dirty="0"/>
          </a:p>
          <a:p>
            <a:r>
              <a:rPr lang="en-GB" dirty="0"/>
              <a:t>Existing AI-based PSG models are computationally intensive and unsuitable for deployment on low-end devices. Therefore, there is a need for a lightweight, efficient, and accurate model that can operate in constrained healthcare settings.</a:t>
            </a:r>
          </a:p>
        </p:txBody>
      </p:sp>
      <p:sp>
        <p:nvSpPr>
          <p:cNvPr id="3" name="Title 2">
            <a:extLst>
              <a:ext uri="{FF2B5EF4-FFF2-40B4-BE49-F238E27FC236}">
                <a16:creationId xmlns:a16="http://schemas.microsoft.com/office/drawing/2014/main" id="{6B4E45BD-E1F2-E43A-3B21-AFE31B059C8D}"/>
              </a:ext>
            </a:extLst>
          </p:cNvPr>
          <p:cNvSpPr>
            <a:spLocks noGrp="1"/>
          </p:cNvSpPr>
          <p:nvPr>
            <p:ph type="title"/>
          </p:nvPr>
        </p:nvSpPr>
        <p:spPr/>
        <p:txBody>
          <a:bodyPr/>
          <a:lstStyle/>
          <a:p>
            <a:r>
              <a:rPr lang="en-IN" dirty="0"/>
              <a:t>Problem Definition</a:t>
            </a:r>
          </a:p>
        </p:txBody>
      </p:sp>
      <p:sp>
        <p:nvSpPr>
          <p:cNvPr id="4" name="Slide Number Placeholder 3">
            <a:extLst>
              <a:ext uri="{FF2B5EF4-FFF2-40B4-BE49-F238E27FC236}">
                <a16:creationId xmlns:a16="http://schemas.microsoft.com/office/drawing/2014/main" id="{D3B8F97F-93A9-682C-DB50-8CEA82C89621}"/>
              </a:ext>
            </a:extLst>
          </p:cNvPr>
          <p:cNvSpPr>
            <a:spLocks noGrp="1"/>
          </p:cNvSpPr>
          <p:nvPr>
            <p:ph type="sldNum" sz="quarter" idx="12"/>
          </p:nvPr>
        </p:nvSpPr>
        <p:spPr/>
        <p:txBody>
          <a:bodyPr/>
          <a:lstStyle/>
          <a:p>
            <a:fld id="{330EA680-D336-4FF7-8B7A-9848BB0A1C32}" type="slidenum">
              <a:rPr lang="en-US" smtClean="0"/>
              <a:pPr/>
              <a:t>4</a:t>
            </a:fld>
            <a:endParaRPr lang="en-US"/>
          </a:p>
        </p:txBody>
      </p:sp>
      <p:sp>
        <p:nvSpPr>
          <p:cNvPr id="6" name="TextBox 5">
            <a:extLst>
              <a:ext uri="{FF2B5EF4-FFF2-40B4-BE49-F238E27FC236}">
                <a16:creationId xmlns:a16="http://schemas.microsoft.com/office/drawing/2014/main" id="{EF7FB811-7DF8-B9ED-D885-31E345968A1D}"/>
              </a:ext>
            </a:extLst>
          </p:cNvPr>
          <p:cNvSpPr txBox="1"/>
          <p:nvPr/>
        </p:nvSpPr>
        <p:spPr>
          <a:xfrm>
            <a:off x="2976282" y="6488668"/>
            <a:ext cx="6714565" cy="323165"/>
          </a:xfrm>
          <a:prstGeom prst="rect">
            <a:avLst/>
          </a:prstGeom>
          <a:noFill/>
        </p:spPr>
        <p:txBody>
          <a:bodyPr wrap="square" rtlCol="0">
            <a:spAutoFit/>
          </a:bodyPr>
          <a:lstStyle/>
          <a:p>
            <a:r>
              <a:rPr lang="en-IN" sz="1500" dirty="0">
                <a:solidFill>
                  <a:schemeClr val="bg1">
                    <a:lumMod val="85000"/>
                  </a:schemeClr>
                </a:solidFill>
              </a:rPr>
              <a:t>Project title</a:t>
            </a:r>
          </a:p>
        </p:txBody>
      </p:sp>
    </p:spTree>
    <p:extLst>
      <p:ext uri="{BB962C8B-B14F-4D97-AF65-F5344CB8AC3E}">
        <p14:creationId xmlns:p14="http://schemas.microsoft.com/office/powerpoint/2010/main" val="4294207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442F6-B951-4A5C-5586-1A97A4DD2B6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691182-A0B4-B4E3-B332-32C532F2E44C}"/>
              </a:ext>
            </a:extLst>
          </p:cNvPr>
          <p:cNvSpPr>
            <a:spLocks noGrp="1"/>
          </p:cNvSpPr>
          <p:nvPr>
            <p:ph idx="1"/>
          </p:nvPr>
        </p:nvSpPr>
        <p:spPr/>
        <p:txBody>
          <a:bodyPr vert="horz" lIns="91440" tIns="45720" rIns="91440" bIns="45720" rtlCol="0" anchor="t">
            <a:normAutofit/>
          </a:bodyPr>
          <a:lstStyle/>
          <a:p>
            <a:r>
              <a:rPr lang="en-GB" dirty="0"/>
              <a:t>Design​‍​‌‍​‍‌ an efficient network that is easy to be installed on a low-end hardware and can contribute to green AI.</a:t>
            </a:r>
          </a:p>
          <a:p>
            <a:r>
              <a:rPr lang="en-GB" dirty="0"/>
              <a:t>Extend the representation of the population by unifying various datasets from different groups of people.</a:t>
            </a:r>
          </a:p>
          <a:p>
            <a:r>
              <a:rPr lang="en-GB" dirty="0"/>
              <a:t>Offer disease risk profiles especially for those which are under the spotlight of the society such as mental disorders where diagnosis is considered shameful in the Indian community.</a:t>
            </a:r>
          </a:p>
          <a:p>
            <a:r>
              <a:rPr lang="en-GB" dirty="0"/>
              <a:t>Try different search strategies for NAS such as DARTS, RL, Genetic/Hierarchical, Random ​‍​‌‍​‍‌search.</a:t>
            </a:r>
          </a:p>
          <a:p>
            <a:pPr fontAlgn="base"/>
            <a:endParaRPr lang="en-AE" dirty="0"/>
          </a:p>
        </p:txBody>
      </p:sp>
      <p:sp>
        <p:nvSpPr>
          <p:cNvPr id="3" name="Title 2">
            <a:extLst>
              <a:ext uri="{FF2B5EF4-FFF2-40B4-BE49-F238E27FC236}">
                <a16:creationId xmlns:a16="http://schemas.microsoft.com/office/drawing/2014/main" id="{4844D56C-C0AA-5BA6-6C77-F9ECDACEB547}"/>
              </a:ext>
            </a:extLst>
          </p:cNvPr>
          <p:cNvSpPr>
            <a:spLocks noGrp="1"/>
          </p:cNvSpPr>
          <p:nvPr>
            <p:ph type="title"/>
          </p:nvPr>
        </p:nvSpPr>
        <p:spPr/>
        <p:txBody>
          <a:bodyPr/>
          <a:lstStyle/>
          <a:p>
            <a:r>
              <a:rPr lang="en-IN" dirty="0"/>
              <a:t>Objectives</a:t>
            </a:r>
          </a:p>
        </p:txBody>
      </p:sp>
      <p:sp>
        <p:nvSpPr>
          <p:cNvPr id="4" name="Slide Number Placeholder 3">
            <a:extLst>
              <a:ext uri="{FF2B5EF4-FFF2-40B4-BE49-F238E27FC236}">
                <a16:creationId xmlns:a16="http://schemas.microsoft.com/office/drawing/2014/main" id="{59B901A7-9A14-B0BE-C34B-A2782F34077E}"/>
              </a:ext>
            </a:extLst>
          </p:cNvPr>
          <p:cNvSpPr>
            <a:spLocks noGrp="1"/>
          </p:cNvSpPr>
          <p:nvPr>
            <p:ph type="sldNum" sz="quarter" idx="12"/>
          </p:nvPr>
        </p:nvSpPr>
        <p:spPr/>
        <p:txBody>
          <a:bodyPr/>
          <a:lstStyle/>
          <a:p>
            <a:fld id="{330EA680-D336-4FF7-8B7A-9848BB0A1C32}" type="slidenum">
              <a:rPr lang="en-US" smtClean="0"/>
              <a:pPr/>
              <a:t>5</a:t>
            </a:fld>
            <a:endParaRPr lang="en-US"/>
          </a:p>
        </p:txBody>
      </p:sp>
      <p:sp>
        <p:nvSpPr>
          <p:cNvPr id="6" name="TextBox 5">
            <a:extLst>
              <a:ext uri="{FF2B5EF4-FFF2-40B4-BE49-F238E27FC236}">
                <a16:creationId xmlns:a16="http://schemas.microsoft.com/office/drawing/2014/main" id="{87BB24E8-00FD-F198-087E-95209BA11426}"/>
              </a:ext>
            </a:extLst>
          </p:cNvPr>
          <p:cNvSpPr txBox="1"/>
          <p:nvPr/>
        </p:nvSpPr>
        <p:spPr>
          <a:xfrm>
            <a:off x="2976282" y="6488668"/>
            <a:ext cx="6714565" cy="323165"/>
          </a:xfrm>
          <a:prstGeom prst="rect">
            <a:avLst/>
          </a:prstGeom>
          <a:noFill/>
        </p:spPr>
        <p:txBody>
          <a:bodyPr wrap="square" rtlCol="0">
            <a:spAutoFit/>
          </a:bodyPr>
          <a:lstStyle/>
          <a:p>
            <a:r>
              <a:rPr lang="en-IN" sz="1500" dirty="0">
                <a:solidFill>
                  <a:schemeClr val="bg1">
                    <a:lumMod val="85000"/>
                  </a:schemeClr>
                </a:solidFill>
              </a:rPr>
              <a:t>Project title</a:t>
            </a:r>
          </a:p>
        </p:txBody>
      </p:sp>
    </p:spTree>
    <p:extLst>
      <p:ext uri="{BB962C8B-B14F-4D97-AF65-F5344CB8AC3E}">
        <p14:creationId xmlns:p14="http://schemas.microsoft.com/office/powerpoint/2010/main" val="1724409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47442D-8B7B-63BC-15BE-5CA6B5637CC7}"/>
              </a:ext>
            </a:extLst>
          </p:cNvPr>
          <p:cNvSpPr>
            <a:spLocks noGrp="1"/>
          </p:cNvSpPr>
          <p:nvPr>
            <p:ph type="title"/>
          </p:nvPr>
        </p:nvSpPr>
        <p:spPr/>
        <p:txBody>
          <a:bodyPr/>
          <a:lstStyle/>
          <a:p>
            <a:r>
              <a:rPr lang="en-GB" dirty="0"/>
              <a:t>Literature Review Summary (Table)</a:t>
            </a:r>
            <a:endParaRPr lang="en-AE" dirty="0"/>
          </a:p>
        </p:txBody>
      </p:sp>
      <p:sp>
        <p:nvSpPr>
          <p:cNvPr id="4" name="Slide Number Placeholder 3">
            <a:extLst>
              <a:ext uri="{FF2B5EF4-FFF2-40B4-BE49-F238E27FC236}">
                <a16:creationId xmlns:a16="http://schemas.microsoft.com/office/drawing/2014/main" id="{553D7FB1-F640-118E-E355-707C018346A6}"/>
              </a:ext>
            </a:extLst>
          </p:cNvPr>
          <p:cNvSpPr>
            <a:spLocks noGrp="1"/>
          </p:cNvSpPr>
          <p:nvPr>
            <p:ph type="sldNum" sz="quarter" idx="12"/>
          </p:nvPr>
        </p:nvSpPr>
        <p:spPr/>
        <p:txBody>
          <a:bodyPr/>
          <a:lstStyle/>
          <a:p>
            <a:fld id="{330EA680-D336-4FF7-8B7A-9848BB0A1C32}" type="slidenum">
              <a:rPr lang="en-US" smtClean="0"/>
              <a:pPr/>
              <a:t>6</a:t>
            </a:fld>
            <a:endParaRPr lang="en-US"/>
          </a:p>
        </p:txBody>
      </p:sp>
      <p:pic>
        <p:nvPicPr>
          <p:cNvPr id="5" name="Picture 4" descr="A table of information&#10;&#10;AI-generated content may be incorrect.">
            <a:extLst>
              <a:ext uri="{FF2B5EF4-FFF2-40B4-BE49-F238E27FC236}">
                <a16:creationId xmlns:a16="http://schemas.microsoft.com/office/drawing/2014/main" id="{0B5EABE5-6DC9-D92D-3684-3B5FC84A1A94}"/>
              </a:ext>
            </a:extLst>
          </p:cNvPr>
          <p:cNvPicPr>
            <a:picLocks noChangeAspect="1"/>
          </p:cNvPicPr>
          <p:nvPr/>
        </p:nvPicPr>
        <p:blipFill>
          <a:blip r:embed="rId2"/>
          <a:stretch>
            <a:fillRect/>
          </a:stretch>
        </p:blipFill>
        <p:spPr>
          <a:xfrm>
            <a:off x="2495227" y="1021937"/>
            <a:ext cx="7811146" cy="5203040"/>
          </a:xfrm>
          <a:prstGeom prst="rect">
            <a:avLst/>
          </a:prstGeom>
        </p:spPr>
      </p:pic>
    </p:spTree>
    <p:extLst>
      <p:ext uri="{BB962C8B-B14F-4D97-AF65-F5344CB8AC3E}">
        <p14:creationId xmlns:p14="http://schemas.microsoft.com/office/powerpoint/2010/main" val="2271451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1A3B4-B25C-81CD-F3CB-0D98F51B15A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96F663-B656-8FAC-1754-E521477F3B4C}"/>
              </a:ext>
            </a:extLst>
          </p:cNvPr>
          <p:cNvSpPr>
            <a:spLocks noGrp="1"/>
          </p:cNvSpPr>
          <p:nvPr>
            <p:ph type="title"/>
          </p:nvPr>
        </p:nvSpPr>
        <p:spPr/>
        <p:txBody>
          <a:bodyPr/>
          <a:lstStyle/>
          <a:p>
            <a:r>
              <a:rPr lang="en-GB" dirty="0"/>
              <a:t>Research Gap</a:t>
            </a:r>
            <a:endParaRPr lang="en-AE" dirty="0"/>
          </a:p>
        </p:txBody>
      </p:sp>
      <p:sp>
        <p:nvSpPr>
          <p:cNvPr id="4" name="Slide Number Placeholder 3">
            <a:extLst>
              <a:ext uri="{FF2B5EF4-FFF2-40B4-BE49-F238E27FC236}">
                <a16:creationId xmlns:a16="http://schemas.microsoft.com/office/drawing/2014/main" id="{3257FC53-2522-8ECB-85AB-3039901C511E}"/>
              </a:ext>
            </a:extLst>
          </p:cNvPr>
          <p:cNvSpPr>
            <a:spLocks noGrp="1"/>
          </p:cNvSpPr>
          <p:nvPr>
            <p:ph type="sldNum" sz="quarter" idx="12"/>
          </p:nvPr>
        </p:nvSpPr>
        <p:spPr/>
        <p:txBody>
          <a:bodyPr/>
          <a:lstStyle/>
          <a:p>
            <a:fld id="{330EA680-D336-4FF7-8B7A-9848BB0A1C32}" type="slidenum">
              <a:rPr lang="en-US" smtClean="0"/>
              <a:pPr/>
              <a:t>7</a:t>
            </a:fld>
            <a:endParaRPr lang="en-US"/>
          </a:p>
        </p:txBody>
      </p:sp>
      <p:sp>
        <p:nvSpPr>
          <p:cNvPr id="9" name="Content Placeholder 1">
            <a:extLst>
              <a:ext uri="{FF2B5EF4-FFF2-40B4-BE49-F238E27FC236}">
                <a16:creationId xmlns:a16="http://schemas.microsoft.com/office/drawing/2014/main" id="{F2D13416-B035-9180-9A9C-8D9AC661055E}"/>
              </a:ext>
            </a:extLst>
          </p:cNvPr>
          <p:cNvSpPr>
            <a:spLocks noGrp="1"/>
          </p:cNvSpPr>
          <p:nvPr>
            <p:ph idx="1"/>
          </p:nvPr>
        </p:nvSpPr>
        <p:spPr>
          <a:xfrm>
            <a:off x="571499" y="1137256"/>
            <a:ext cx="11209376" cy="4908082"/>
          </a:xfrm>
        </p:spPr>
        <p:txBody>
          <a:bodyPr vert="horz" lIns="91440" tIns="45720" rIns="91440" bIns="45720" rtlCol="0" anchor="t">
            <a:normAutofit/>
          </a:bodyPr>
          <a:lstStyle/>
          <a:p>
            <a:r>
              <a:rPr lang="en-GB" dirty="0"/>
              <a:t>Optimizing​‍​‌‍​‍‌ resource constraints such as memory, computation, and model complexity for health risk analysis.</a:t>
            </a:r>
          </a:p>
          <a:p>
            <a:pPr marL="0" indent="0">
              <a:buNone/>
            </a:pPr>
            <a:endParaRPr lang="en-GB" dirty="0"/>
          </a:p>
          <a:p>
            <a:r>
              <a:rPr lang="en-GB" dirty="0"/>
              <a:t>Serving assistive technologies to elderly people in their early detection of diseases.</a:t>
            </a:r>
          </a:p>
          <a:p>
            <a:pPr marL="0" indent="0">
              <a:buNone/>
            </a:pPr>
            <a:endParaRPr lang="en-GB" dirty="0"/>
          </a:p>
          <a:p>
            <a:r>
              <a:rPr lang="en-GB" dirty="0"/>
              <a:t>Existing systems exhibits potential bias due to underrepresented population cohorts in the training data, hence, a generalized model is needed to mitigate ​‍​‌‍​‍‌bias.</a:t>
            </a:r>
          </a:p>
          <a:p>
            <a:endParaRPr lang="en-GB" dirty="0"/>
          </a:p>
        </p:txBody>
      </p:sp>
    </p:spTree>
    <p:extLst>
      <p:ext uri="{BB962C8B-B14F-4D97-AF65-F5344CB8AC3E}">
        <p14:creationId xmlns:p14="http://schemas.microsoft.com/office/powerpoint/2010/main" val="1033506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2A7CB-E3FD-261E-B2F2-63EC6C42B9E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9AD6E9-2A51-5D7C-E209-6BC20C2185E4}"/>
              </a:ext>
            </a:extLst>
          </p:cNvPr>
          <p:cNvSpPr>
            <a:spLocks noGrp="1"/>
          </p:cNvSpPr>
          <p:nvPr>
            <p:ph idx="1"/>
          </p:nvPr>
        </p:nvSpPr>
        <p:spPr/>
        <p:txBody>
          <a:bodyPr>
            <a:normAutofit/>
          </a:bodyPr>
          <a:lstStyle/>
          <a:p>
            <a:r>
              <a:rPr lang="de-DE" sz="2600" dirty="0"/>
              <a:t>Multiple publicly available PSG datasets were surveyed, including Cleveland Family Study (CFS), Wisconsin Sleep Cohort (WSC), MrOS Sleep Study (MROS), Sleep Heart Health Study (SHHS) and Multi-Ethnic Study of Atherosclerosis (MESA), to capture diverse populations and acquisition protocols.​</a:t>
            </a:r>
          </a:p>
          <a:p>
            <a:r>
              <a:rPr lang="de-DE" sz="2600" dirty="0"/>
              <a:t>A common multimodal PSG representation was defined by identifying seven channels consistently available across these datasets: EEG, EOG, ECG, EMG, leg movement, thoracic movement, and SpO₂, ensuring cross-dataset compatibility.​</a:t>
            </a:r>
          </a:p>
          <a:p>
            <a:r>
              <a:rPr lang="en-GB" sz="2600" dirty="0"/>
              <a:t>The current phase focuses on the Cleveland Family Study (CFS) dataset, using its PSG recordings and clinical labels to build cardiac, respiratory, and mental health risk detection system.</a:t>
            </a:r>
            <a:endParaRPr lang="en-AE" sz="2600" dirty="0"/>
          </a:p>
        </p:txBody>
      </p:sp>
      <p:sp>
        <p:nvSpPr>
          <p:cNvPr id="3" name="Title 2">
            <a:extLst>
              <a:ext uri="{FF2B5EF4-FFF2-40B4-BE49-F238E27FC236}">
                <a16:creationId xmlns:a16="http://schemas.microsoft.com/office/drawing/2014/main" id="{ECE405E4-C141-2C30-B899-5C8B7BC7CA76}"/>
              </a:ext>
            </a:extLst>
          </p:cNvPr>
          <p:cNvSpPr>
            <a:spLocks noGrp="1"/>
          </p:cNvSpPr>
          <p:nvPr>
            <p:ph type="title"/>
          </p:nvPr>
        </p:nvSpPr>
        <p:spPr/>
        <p:txBody>
          <a:bodyPr/>
          <a:lstStyle/>
          <a:p>
            <a:r>
              <a:rPr lang="en-GB" dirty="0"/>
              <a:t>Dataset Description</a:t>
            </a:r>
            <a:endParaRPr lang="en-AE" dirty="0"/>
          </a:p>
        </p:txBody>
      </p:sp>
      <p:sp>
        <p:nvSpPr>
          <p:cNvPr id="4" name="Slide Number Placeholder 3">
            <a:extLst>
              <a:ext uri="{FF2B5EF4-FFF2-40B4-BE49-F238E27FC236}">
                <a16:creationId xmlns:a16="http://schemas.microsoft.com/office/drawing/2014/main" id="{141B8ADF-B854-C312-1328-94A647D53EA9}"/>
              </a:ext>
            </a:extLst>
          </p:cNvPr>
          <p:cNvSpPr>
            <a:spLocks noGrp="1"/>
          </p:cNvSpPr>
          <p:nvPr>
            <p:ph type="sldNum" sz="quarter" idx="12"/>
          </p:nvPr>
        </p:nvSpPr>
        <p:spPr/>
        <p:txBody>
          <a:bodyPr/>
          <a:lstStyle/>
          <a:p>
            <a:fld id="{330EA680-D336-4FF7-8B7A-9848BB0A1C32}" type="slidenum">
              <a:rPr lang="en-US" smtClean="0"/>
              <a:pPr/>
              <a:t>8</a:t>
            </a:fld>
            <a:endParaRPr lang="en-US"/>
          </a:p>
        </p:txBody>
      </p:sp>
    </p:spTree>
    <p:extLst>
      <p:ext uri="{BB962C8B-B14F-4D97-AF65-F5344CB8AC3E}">
        <p14:creationId xmlns:p14="http://schemas.microsoft.com/office/powerpoint/2010/main" val="2019118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30DAB-9301-36D5-568D-090E6AA4E501}"/>
            </a:ext>
          </a:extLst>
        </p:cNvPr>
        <p:cNvGrpSpPr/>
        <p:nvPr/>
      </p:nvGrpSpPr>
      <p:grpSpPr>
        <a:xfrm>
          <a:off x="0" y="0"/>
          <a:ext cx="0" cy="0"/>
          <a:chOff x="0" y="0"/>
          <a:chExt cx="0" cy="0"/>
        </a:xfrm>
      </p:grpSpPr>
      <p:pic>
        <p:nvPicPr>
          <p:cNvPr id="6" name="Picture 5" descr="A diagram of a data processing process&#10;&#10;AI-generated content may be incorrect.">
            <a:extLst>
              <a:ext uri="{FF2B5EF4-FFF2-40B4-BE49-F238E27FC236}">
                <a16:creationId xmlns:a16="http://schemas.microsoft.com/office/drawing/2014/main" id="{0BA2B6DA-0FEE-EC08-10ED-DC3B42827F1D}"/>
              </a:ext>
            </a:extLst>
          </p:cNvPr>
          <p:cNvPicPr>
            <a:picLocks noChangeAspect="1"/>
          </p:cNvPicPr>
          <p:nvPr/>
        </p:nvPicPr>
        <p:blipFill>
          <a:blip r:embed="rId2"/>
          <a:stretch>
            <a:fillRect/>
          </a:stretch>
        </p:blipFill>
        <p:spPr>
          <a:xfrm>
            <a:off x="1219200" y="745615"/>
            <a:ext cx="9906000" cy="5600964"/>
          </a:xfrm>
          <a:prstGeom prst="rect">
            <a:avLst/>
          </a:prstGeom>
        </p:spPr>
      </p:pic>
      <p:sp>
        <p:nvSpPr>
          <p:cNvPr id="3" name="Title 2">
            <a:extLst>
              <a:ext uri="{FF2B5EF4-FFF2-40B4-BE49-F238E27FC236}">
                <a16:creationId xmlns:a16="http://schemas.microsoft.com/office/drawing/2014/main" id="{E721F6E4-FFA8-2E17-1389-546CB01C7D4F}"/>
              </a:ext>
            </a:extLst>
          </p:cNvPr>
          <p:cNvSpPr>
            <a:spLocks noGrp="1"/>
          </p:cNvSpPr>
          <p:nvPr>
            <p:ph type="title"/>
          </p:nvPr>
        </p:nvSpPr>
        <p:spPr/>
        <p:txBody>
          <a:bodyPr/>
          <a:lstStyle/>
          <a:p>
            <a:r>
              <a:rPr lang="en-GB" dirty="0"/>
              <a:t>Methodology</a:t>
            </a:r>
            <a:endParaRPr lang="en-AE" dirty="0"/>
          </a:p>
        </p:txBody>
      </p:sp>
      <p:sp>
        <p:nvSpPr>
          <p:cNvPr id="4" name="Slide Number Placeholder 3">
            <a:extLst>
              <a:ext uri="{FF2B5EF4-FFF2-40B4-BE49-F238E27FC236}">
                <a16:creationId xmlns:a16="http://schemas.microsoft.com/office/drawing/2014/main" id="{DD13A8C4-56A1-B883-D2FA-280AE0AC2355}"/>
              </a:ext>
            </a:extLst>
          </p:cNvPr>
          <p:cNvSpPr>
            <a:spLocks noGrp="1"/>
          </p:cNvSpPr>
          <p:nvPr>
            <p:ph type="sldNum" sz="quarter" idx="12"/>
          </p:nvPr>
        </p:nvSpPr>
        <p:spPr/>
        <p:txBody>
          <a:bodyPr/>
          <a:lstStyle/>
          <a:p>
            <a:fld id="{330EA680-D336-4FF7-8B7A-9848BB0A1C32}" type="slidenum">
              <a:rPr lang="en-US" smtClean="0"/>
              <a:pPr/>
              <a:t>9</a:t>
            </a:fld>
            <a:endParaRPr lang="en-US"/>
          </a:p>
        </p:txBody>
      </p:sp>
    </p:spTree>
    <p:extLst>
      <p:ext uri="{BB962C8B-B14F-4D97-AF65-F5344CB8AC3E}">
        <p14:creationId xmlns:p14="http://schemas.microsoft.com/office/powerpoint/2010/main" val="2087511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FE2DB-4460-83C0-254B-5477F99912F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477AD15-9EE7-767F-53DC-82BD6CF28AC6}"/>
              </a:ext>
            </a:extLst>
          </p:cNvPr>
          <p:cNvSpPr>
            <a:spLocks noGrp="1"/>
          </p:cNvSpPr>
          <p:nvPr>
            <p:ph type="title"/>
          </p:nvPr>
        </p:nvSpPr>
        <p:spPr/>
        <p:txBody>
          <a:bodyPr/>
          <a:lstStyle/>
          <a:p>
            <a:r>
              <a:rPr lang="en-GB" dirty="0"/>
              <a:t>Optimal light-weight Architecture</a:t>
            </a:r>
            <a:endParaRPr lang="en-AE" dirty="0"/>
          </a:p>
        </p:txBody>
      </p:sp>
      <p:sp>
        <p:nvSpPr>
          <p:cNvPr id="4" name="Slide Number Placeholder 3">
            <a:extLst>
              <a:ext uri="{FF2B5EF4-FFF2-40B4-BE49-F238E27FC236}">
                <a16:creationId xmlns:a16="http://schemas.microsoft.com/office/drawing/2014/main" id="{8D9AC045-A0E9-DD2B-684E-9F9D01FA5CD1}"/>
              </a:ext>
            </a:extLst>
          </p:cNvPr>
          <p:cNvSpPr>
            <a:spLocks noGrp="1"/>
          </p:cNvSpPr>
          <p:nvPr>
            <p:ph type="sldNum" sz="quarter" idx="12"/>
          </p:nvPr>
        </p:nvSpPr>
        <p:spPr/>
        <p:txBody>
          <a:bodyPr/>
          <a:lstStyle/>
          <a:p>
            <a:fld id="{330EA680-D336-4FF7-8B7A-9848BB0A1C32}" type="slidenum">
              <a:rPr lang="en-US" smtClean="0"/>
              <a:pPr/>
              <a:t>10</a:t>
            </a:fld>
            <a:endParaRPr lang="en-US"/>
          </a:p>
        </p:txBody>
      </p:sp>
      <p:pic>
        <p:nvPicPr>
          <p:cNvPr id="6" name="Picture 5" descr="A diagram of a pool&#10;&#10;AI-generated content may be incorrect.">
            <a:extLst>
              <a:ext uri="{FF2B5EF4-FFF2-40B4-BE49-F238E27FC236}">
                <a16:creationId xmlns:a16="http://schemas.microsoft.com/office/drawing/2014/main" id="{D8C7F311-ABDB-350A-1B3A-321F8A699ACD}"/>
              </a:ext>
            </a:extLst>
          </p:cNvPr>
          <p:cNvPicPr>
            <a:picLocks noChangeAspect="1"/>
          </p:cNvPicPr>
          <p:nvPr/>
        </p:nvPicPr>
        <p:blipFill>
          <a:blip r:embed="rId2"/>
          <a:stretch>
            <a:fillRect/>
          </a:stretch>
        </p:blipFill>
        <p:spPr>
          <a:xfrm>
            <a:off x="7934025" y="732182"/>
            <a:ext cx="3686476" cy="5393636"/>
          </a:xfrm>
          <a:prstGeom prst="rect">
            <a:avLst/>
          </a:prstGeom>
        </p:spPr>
      </p:pic>
      <p:sp>
        <p:nvSpPr>
          <p:cNvPr id="10" name="TextBox 9">
            <a:extLst>
              <a:ext uri="{FF2B5EF4-FFF2-40B4-BE49-F238E27FC236}">
                <a16:creationId xmlns:a16="http://schemas.microsoft.com/office/drawing/2014/main" id="{DA105F10-7E6F-4346-0389-C75D142733B7}"/>
              </a:ext>
            </a:extLst>
          </p:cNvPr>
          <p:cNvSpPr txBox="1"/>
          <p:nvPr/>
        </p:nvSpPr>
        <p:spPr>
          <a:xfrm>
            <a:off x="507999" y="936171"/>
            <a:ext cx="7426025" cy="4893647"/>
          </a:xfrm>
          <a:prstGeom prst="rect">
            <a:avLst/>
          </a:prstGeom>
          <a:noFill/>
        </p:spPr>
        <p:txBody>
          <a:bodyPr wrap="square" rtlCol="0">
            <a:spAutoFit/>
          </a:bodyPr>
          <a:lstStyle/>
          <a:p>
            <a:pPr lvl="0" eaLnBrk="0" fontAlgn="base" hangingPunct="0">
              <a:spcBef>
                <a:spcPct val="0"/>
              </a:spcBef>
              <a:spcAft>
                <a:spcPct val="0"/>
              </a:spcAft>
              <a:buFontTx/>
              <a:buChar char="•"/>
            </a:pPr>
            <a:r>
              <a:rPr lang="en-GB" sz="2600" dirty="0">
                <a:latin typeface="Georgia" panose="02040502050405020303" pitchFamily="18" charset="0"/>
              </a:rPr>
              <a:t> </a:t>
            </a:r>
            <a:r>
              <a:rPr lang="en-US" altLang="en-US" sz="2600" b="1" dirty="0">
                <a:latin typeface="Georgia" panose="02040502050405020303" pitchFamily="18" charset="0"/>
              </a:rPr>
              <a:t>Multi-branch feature extraction:</a:t>
            </a:r>
            <a:r>
              <a:rPr lang="en-US" altLang="en-US" sz="2600" dirty="0">
                <a:latin typeface="Georgia" panose="02040502050405020303" pitchFamily="18" charset="0"/>
              </a:rPr>
              <a:t> The NAS-designed block combines dilated convolutions, separable convolutions, and pooling to capture features at multiple receptive fields.</a:t>
            </a:r>
          </a:p>
          <a:p>
            <a:pPr lvl="0" eaLnBrk="0" fontAlgn="base" hangingPunct="0">
              <a:spcBef>
                <a:spcPct val="0"/>
              </a:spcBef>
              <a:spcAft>
                <a:spcPct val="0"/>
              </a:spcAft>
              <a:buFontTx/>
              <a:buChar char="•"/>
            </a:pPr>
            <a:r>
              <a:rPr lang="en-US" altLang="en-US" sz="2600" b="1" dirty="0">
                <a:latin typeface="Georgia" panose="02040502050405020303" pitchFamily="18" charset="0"/>
              </a:rPr>
              <a:t>Progressive fusion:</a:t>
            </a:r>
            <a:r>
              <a:rPr lang="en-US" altLang="en-US" sz="2600" dirty="0">
                <a:latin typeface="Georgia" panose="02040502050405020303" pitchFamily="18" charset="0"/>
              </a:rPr>
              <a:t> Intermediate features are repeatedly concatenated, enabling richer representation learning across stages.</a:t>
            </a:r>
          </a:p>
          <a:p>
            <a:pPr lvl="0" eaLnBrk="0" fontAlgn="base" hangingPunct="0">
              <a:spcBef>
                <a:spcPct val="0"/>
              </a:spcBef>
              <a:spcAft>
                <a:spcPct val="0"/>
              </a:spcAft>
              <a:buFontTx/>
              <a:buChar char="•"/>
            </a:pPr>
            <a:r>
              <a:rPr lang="en-US" altLang="en-US" sz="2600" b="1" dirty="0">
                <a:latin typeface="Georgia" panose="02040502050405020303" pitchFamily="18" charset="0"/>
              </a:rPr>
              <a:t>Attention-enhanced output:</a:t>
            </a:r>
            <a:r>
              <a:rPr lang="en-US" altLang="en-US" sz="2600" dirty="0">
                <a:latin typeface="Georgia" panose="02040502050405020303" pitchFamily="18" charset="0"/>
              </a:rPr>
              <a:t> Stacked attention modules refine important features before final aggregation, improving focus on salient patterns.</a:t>
            </a:r>
          </a:p>
          <a:p>
            <a:endParaRPr lang="en-AE" sz="2600" dirty="0">
              <a:latin typeface="Georgia" panose="02040502050405020303" pitchFamily="18" charset="0"/>
            </a:endParaRPr>
          </a:p>
        </p:txBody>
      </p:sp>
    </p:spTree>
    <p:extLst>
      <p:ext uri="{BB962C8B-B14F-4D97-AF65-F5344CB8AC3E}">
        <p14:creationId xmlns:p14="http://schemas.microsoft.com/office/powerpoint/2010/main" val="2113255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EEC62-C92A-A2AE-4C1C-12005BCCB1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A710D5-5CBF-CE04-A00A-376DD8967EF2}"/>
              </a:ext>
            </a:extLst>
          </p:cNvPr>
          <p:cNvSpPr>
            <a:spLocks noGrp="1"/>
          </p:cNvSpPr>
          <p:nvPr>
            <p:ph idx="1"/>
          </p:nvPr>
        </p:nvSpPr>
        <p:spPr/>
        <p:txBody>
          <a:bodyPr/>
          <a:lstStyle/>
          <a:p>
            <a:endParaRPr lang="en-AE" dirty="0"/>
          </a:p>
        </p:txBody>
      </p:sp>
      <p:sp>
        <p:nvSpPr>
          <p:cNvPr id="3" name="Title 2">
            <a:extLst>
              <a:ext uri="{FF2B5EF4-FFF2-40B4-BE49-F238E27FC236}">
                <a16:creationId xmlns:a16="http://schemas.microsoft.com/office/drawing/2014/main" id="{3D6D88A9-F0A6-1C19-9995-4EB3062C8540}"/>
              </a:ext>
            </a:extLst>
          </p:cNvPr>
          <p:cNvSpPr>
            <a:spLocks noGrp="1"/>
          </p:cNvSpPr>
          <p:nvPr>
            <p:ph type="title"/>
          </p:nvPr>
        </p:nvSpPr>
        <p:spPr/>
        <p:txBody>
          <a:bodyPr/>
          <a:lstStyle/>
          <a:p>
            <a:r>
              <a:rPr lang="en-GB" dirty="0"/>
              <a:t>Methodology</a:t>
            </a:r>
            <a:endParaRPr lang="en-AE" dirty="0"/>
          </a:p>
        </p:txBody>
      </p:sp>
      <p:sp>
        <p:nvSpPr>
          <p:cNvPr id="4" name="Slide Number Placeholder 3">
            <a:extLst>
              <a:ext uri="{FF2B5EF4-FFF2-40B4-BE49-F238E27FC236}">
                <a16:creationId xmlns:a16="http://schemas.microsoft.com/office/drawing/2014/main" id="{69ECE579-2BF4-11DB-7558-8D20F72D126E}"/>
              </a:ext>
            </a:extLst>
          </p:cNvPr>
          <p:cNvSpPr>
            <a:spLocks noGrp="1"/>
          </p:cNvSpPr>
          <p:nvPr>
            <p:ph type="sldNum" sz="quarter" idx="12"/>
          </p:nvPr>
        </p:nvSpPr>
        <p:spPr/>
        <p:txBody>
          <a:bodyPr/>
          <a:lstStyle/>
          <a:p>
            <a:fld id="{330EA680-D336-4FF7-8B7A-9848BB0A1C32}" type="slidenum">
              <a:rPr lang="en-US" smtClean="0"/>
              <a:pPr/>
              <a:t>11</a:t>
            </a:fld>
            <a:endParaRPr lang="en-US"/>
          </a:p>
        </p:txBody>
      </p:sp>
    </p:spTree>
    <p:extLst>
      <p:ext uri="{BB962C8B-B14F-4D97-AF65-F5344CB8AC3E}">
        <p14:creationId xmlns:p14="http://schemas.microsoft.com/office/powerpoint/2010/main" val="1553534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7F256-4982-E281-CBAF-BEABACB9745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7E5633-15A4-97E1-F50E-5F5FA36E7692}"/>
              </a:ext>
            </a:extLst>
          </p:cNvPr>
          <p:cNvSpPr>
            <a:spLocks noGrp="1"/>
          </p:cNvSpPr>
          <p:nvPr>
            <p:ph idx="1"/>
          </p:nvPr>
        </p:nvSpPr>
        <p:spPr/>
        <p:txBody>
          <a:bodyPr/>
          <a:lstStyle/>
          <a:p>
            <a:r>
              <a:rPr lang="de-DE" b="1" dirty="0"/>
              <a:t>1. Classification Performance (Multi-label, Imbalanced Data)</a:t>
            </a:r>
            <a:endParaRPr lang="de-DE" dirty="0"/>
          </a:p>
          <a:p>
            <a:r>
              <a:rPr lang="de-DE" sz="2500" b="1" dirty="0"/>
              <a:t>ROC Curves:</a:t>
            </a:r>
            <a:r>
              <a:rPr lang="de-DE" sz="2500" dirty="0"/>
              <a:t> Measure diagnostic discrimination across thresholds</a:t>
            </a:r>
          </a:p>
          <a:p>
            <a:r>
              <a:rPr lang="de-DE" sz="2500" b="1" dirty="0"/>
              <a:t>Precision–Recall Curves:</a:t>
            </a:r>
            <a:r>
              <a:rPr lang="de-DE" sz="2500" dirty="0"/>
              <a:t> Emphasize performance on rare disease conditions</a:t>
            </a:r>
          </a:p>
          <a:p>
            <a:r>
              <a:rPr lang="de-DE" sz="2500" b="1" dirty="0"/>
              <a:t>Confusion Matrices:</a:t>
            </a:r>
            <a:r>
              <a:rPr lang="de-DE" sz="2500" dirty="0"/>
              <a:t> TP, TN, FP, FN analysis per disease (D = 20)</a:t>
            </a:r>
          </a:p>
          <a:p>
            <a:r>
              <a:rPr lang="de-DE" b="1" dirty="0"/>
              <a:t>2. Computational Efficiency (Lightweight Constraints)</a:t>
            </a:r>
            <a:endParaRPr lang="de-DE" dirty="0"/>
          </a:p>
          <a:p>
            <a:r>
              <a:rPr lang="de-DE" sz="2600" b="1" dirty="0"/>
              <a:t>FLOPs:</a:t>
            </a:r>
            <a:r>
              <a:rPr lang="de-DE" sz="2600" dirty="0"/>
              <a:t> Forward-pass computational complexity</a:t>
            </a:r>
          </a:p>
          <a:p>
            <a:r>
              <a:rPr lang="de-DE" sz="2600" b="1" dirty="0"/>
              <a:t>MACs:</a:t>
            </a:r>
            <a:r>
              <a:rPr lang="de-DE" sz="2600" dirty="0"/>
              <a:t> Arithmetic operation cost</a:t>
            </a:r>
          </a:p>
          <a:p>
            <a:r>
              <a:rPr lang="de-DE" sz="2600" b="1" dirty="0"/>
              <a:t>Parameter Count:</a:t>
            </a:r>
            <a:r>
              <a:rPr lang="de-DE" sz="2600" dirty="0"/>
              <a:t> Trainable weights (regularized during NAS)</a:t>
            </a:r>
          </a:p>
          <a:p>
            <a:endParaRPr lang="en-AE" dirty="0"/>
          </a:p>
        </p:txBody>
      </p:sp>
      <p:sp>
        <p:nvSpPr>
          <p:cNvPr id="3" name="Title 2">
            <a:extLst>
              <a:ext uri="{FF2B5EF4-FFF2-40B4-BE49-F238E27FC236}">
                <a16:creationId xmlns:a16="http://schemas.microsoft.com/office/drawing/2014/main" id="{D21DF468-F1B3-4D19-D2CF-16AD6B963C64}"/>
              </a:ext>
            </a:extLst>
          </p:cNvPr>
          <p:cNvSpPr>
            <a:spLocks noGrp="1"/>
          </p:cNvSpPr>
          <p:nvPr>
            <p:ph type="title"/>
          </p:nvPr>
        </p:nvSpPr>
        <p:spPr/>
        <p:txBody>
          <a:bodyPr/>
          <a:lstStyle/>
          <a:p>
            <a:r>
              <a:rPr lang="en-GB" dirty="0"/>
              <a:t>Evaluation Metrics</a:t>
            </a:r>
            <a:endParaRPr lang="en-AE" dirty="0"/>
          </a:p>
        </p:txBody>
      </p:sp>
      <p:sp>
        <p:nvSpPr>
          <p:cNvPr id="4" name="Slide Number Placeholder 3">
            <a:extLst>
              <a:ext uri="{FF2B5EF4-FFF2-40B4-BE49-F238E27FC236}">
                <a16:creationId xmlns:a16="http://schemas.microsoft.com/office/drawing/2014/main" id="{93F9836D-5196-0A15-69EB-045A924E16EF}"/>
              </a:ext>
            </a:extLst>
          </p:cNvPr>
          <p:cNvSpPr>
            <a:spLocks noGrp="1"/>
          </p:cNvSpPr>
          <p:nvPr>
            <p:ph type="sldNum" sz="quarter" idx="12"/>
          </p:nvPr>
        </p:nvSpPr>
        <p:spPr/>
        <p:txBody>
          <a:bodyPr/>
          <a:lstStyle/>
          <a:p>
            <a:fld id="{330EA680-D336-4FF7-8B7A-9848BB0A1C32}" type="slidenum">
              <a:rPr lang="en-US" smtClean="0"/>
              <a:pPr/>
              <a:t>12</a:t>
            </a:fld>
            <a:endParaRPr lang="en-US"/>
          </a:p>
        </p:txBody>
      </p:sp>
    </p:spTree>
    <p:extLst>
      <p:ext uri="{BB962C8B-B14F-4D97-AF65-F5344CB8AC3E}">
        <p14:creationId xmlns:p14="http://schemas.microsoft.com/office/powerpoint/2010/main" val="1968040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17D8B-FD5E-B1DC-8813-B4E1EF60E8A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9655D0-DE2F-DFA3-2898-69601D38F9AD}"/>
              </a:ext>
            </a:extLst>
          </p:cNvPr>
          <p:cNvSpPr>
            <a:spLocks noGrp="1"/>
          </p:cNvSpPr>
          <p:nvPr>
            <p:ph idx="1"/>
          </p:nvPr>
        </p:nvSpPr>
        <p:spPr/>
        <p:txBody>
          <a:bodyPr>
            <a:normAutofit fontScale="92500" lnSpcReduction="10000"/>
          </a:bodyPr>
          <a:lstStyle/>
          <a:p>
            <a:r>
              <a:rPr lang="en-GB" b="1" dirty="0"/>
              <a:t>Search Convergence &amp; Stability</a:t>
            </a:r>
            <a:endParaRPr lang="en-GB" dirty="0"/>
          </a:p>
          <a:p>
            <a:pPr lvl="1"/>
            <a:r>
              <a:rPr lang="en-GB" dirty="0"/>
              <a:t>Training loss decreased steadily (</a:t>
            </a:r>
            <a:r>
              <a:rPr lang="en-GB" b="1" dirty="0"/>
              <a:t>0.348 → 0.289</a:t>
            </a:r>
            <a:r>
              <a:rPr lang="en-GB" dirty="0"/>
              <a:t>), with stable validation loss (~</a:t>
            </a:r>
            <a:r>
              <a:rPr lang="en-GB" b="1" dirty="0"/>
              <a:t>0.312</a:t>
            </a:r>
            <a:r>
              <a:rPr lang="en-GB" dirty="0"/>
              <a:t>), indicating reliable convergence.</a:t>
            </a:r>
          </a:p>
          <a:p>
            <a:pPr lvl="1"/>
            <a:r>
              <a:rPr lang="en-GB" dirty="0"/>
              <a:t>Best </a:t>
            </a:r>
            <a:r>
              <a:rPr lang="en-GB" b="1" dirty="0"/>
              <a:t>validation accuracy: 90.6%</a:t>
            </a:r>
            <a:r>
              <a:rPr lang="en-GB" dirty="0"/>
              <a:t>, with a small train–</a:t>
            </a:r>
            <a:r>
              <a:rPr lang="en-GB" dirty="0" err="1"/>
              <a:t>val</a:t>
            </a:r>
            <a:r>
              <a:rPr lang="en-GB" dirty="0"/>
              <a:t> gap, suggesting good generalization and no </a:t>
            </a:r>
            <a:r>
              <a:rPr lang="en-GB" dirty="0" err="1"/>
              <a:t>supernet</a:t>
            </a:r>
            <a:r>
              <a:rPr lang="en-GB" dirty="0"/>
              <a:t> overfitting.</a:t>
            </a:r>
          </a:p>
          <a:p>
            <a:r>
              <a:rPr lang="en-GB" b="1" dirty="0"/>
              <a:t>Efficiency–Performance Trade-off</a:t>
            </a:r>
            <a:endParaRPr lang="en-GB" dirty="0"/>
          </a:p>
          <a:p>
            <a:pPr lvl="1"/>
            <a:r>
              <a:rPr lang="en-GB" dirty="0"/>
              <a:t>FLOPs increased gradually (</a:t>
            </a:r>
            <a:r>
              <a:rPr lang="en-GB" b="1" dirty="0"/>
              <a:t>1.28×10⁸ → 1.67×10⁸</a:t>
            </a:r>
            <a:r>
              <a:rPr lang="en-GB" dirty="0"/>
              <a:t>), correlating with accuracy gains.</a:t>
            </a:r>
          </a:p>
          <a:p>
            <a:r>
              <a:rPr lang="en-GB" b="1" dirty="0"/>
              <a:t>Discovered Architecture Characteristics</a:t>
            </a:r>
            <a:endParaRPr lang="en-GB" dirty="0"/>
          </a:p>
          <a:p>
            <a:pPr lvl="1"/>
            <a:r>
              <a:rPr lang="en-GB" b="1" dirty="0"/>
              <a:t>Multi-scale parallel branches</a:t>
            </a:r>
            <a:r>
              <a:rPr lang="en-GB" dirty="0"/>
              <a:t> capture temporal features at different resolutions.</a:t>
            </a:r>
          </a:p>
          <a:p>
            <a:pPr lvl="1"/>
            <a:r>
              <a:rPr lang="en-GB" b="1" dirty="0"/>
              <a:t>Dilated 5×1 convolutions</a:t>
            </a:r>
            <a:r>
              <a:rPr lang="en-GB" dirty="0"/>
              <a:t> dominate, expanding receptive field without parameter growth.</a:t>
            </a:r>
          </a:p>
          <a:p>
            <a:pPr lvl="1"/>
            <a:r>
              <a:rPr lang="en-GB" b="1" dirty="0"/>
              <a:t>Stacked attention blocks</a:t>
            </a:r>
            <a:r>
              <a:rPr lang="en-GB" dirty="0"/>
              <a:t> integrate local temporal patterns with global context.</a:t>
            </a:r>
          </a:p>
          <a:p>
            <a:endParaRPr lang="en-AE" dirty="0"/>
          </a:p>
        </p:txBody>
      </p:sp>
      <p:sp>
        <p:nvSpPr>
          <p:cNvPr id="3" name="Title 2">
            <a:extLst>
              <a:ext uri="{FF2B5EF4-FFF2-40B4-BE49-F238E27FC236}">
                <a16:creationId xmlns:a16="http://schemas.microsoft.com/office/drawing/2014/main" id="{DBF718DA-C6DC-4613-11D3-9B98537860E9}"/>
              </a:ext>
            </a:extLst>
          </p:cNvPr>
          <p:cNvSpPr>
            <a:spLocks noGrp="1"/>
          </p:cNvSpPr>
          <p:nvPr>
            <p:ph type="title"/>
          </p:nvPr>
        </p:nvSpPr>
        <p:spPr/>
        <p:txBody>
          <a:bodyPr/>
          <a:lstStyle/>
          <a:p>
            <a:r>
              <a:rPr lang="en-GB" dirty="0"/>
              <a:t>Result Analysis</a:t>
            </a:r>
            <a:endParaRPr lang="en-AE" dirty="0"/>
          </a:p>
        </p:txBody>
      </p:sp>
      <p:sp>
        <p:nvSpPr>
          <p:cNvPr id="4" name="Slide Number Placeholder 3">
            <a:extLst>
              <a:ext uri="{FF2B5EF4-FFF2-40B4-BE49-F238E27FC236}">
                <a16:creationId xmlns:a16="http://schemas.microsoft.com/office/drawing/2014/main" id="{27998A78-9AAC-16F2-5AD3-03BB1566F299}"/>
              </a:ext>
            </a:extLst>
          </p:cNvPr>
          <p:cNvSpPr>
            <a:spLocks noGrp="1"/>
          </p:cNvSpPr>
          <p:nvPr>
            <p:ph type="sldNum" sz="quarter" idx="12"/>
          </p:nvPr>
        </p:nvSpPr>
        <p:spPr/>
        <p:txBody>
          <a:bodyPr/>
          <a:lstStyle/>
          <a:p>
            <a:fld id="{330EA680-D336-4FF7-8B7A-9848BB0A1C32}" type="slidenum">
              <a:rPr lang="en-US" smtClean="0"/>
              <a:pPr/>
              <a:t>13</a:t>
            </a:fld>
            <a:endParaRPr lang="en-US"/>
          </a:p>
        </p:txBody>
      </p:sp>
    </p:spTree>
    <p:extLst>
      <p:ext uri="{BB962C8B-B14F-4D97-AF65-F5344CB8AC3E}">
        <p14:creationId xmlns:p14="http://schemas.microsoft.com/office/powerpoint/2010/main" val="1933232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45D36-DA2C-7969-4164-92FF777A3AA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241D30-5E14-1978-7456-717A2240C12C}"/>
              </a:ext>
            </a:extLst>
          </p:cNvPr>
          <p:cNvSpPr>
            <a:spLocks noGrp="1"/>
          </p:cNvSpPr>
          <p:nvPr>
            <p:ph idx="1"/>
          </p:nvPr>
        </p:nvSpPr>
        <p:spPr/>
        <p:txBody>
          <a:bodyPr>
            <a:normAutofit fontScale="92500" lnSpcReduction="10000"/>
          </a:bodyPr>
          <a:lstStyle/>
          <a:p>
            <a:r>
              <a:rPr lang="de-DE" b="1" dirty="0"/>
              <a:t>Cardiovascular:</a:t>
            </a:r>
            <a:endParaRPr lang="de-DE" dirty="0"/>
          </a:p>
          <a:p>
            <a:pPr lvl="1"/>
            <a:r>
              <a:rPr lang="de-DE" i="1" dirty="0"/>
              <a:t>Hypertension</a:t>
            </a:r>
            <a:r>
              <a:rPr lang="de-DE" dirty="0"/>
              <a:t>: High sensitivity (224 TP), </a:t>
            </a:r>
            <a:r>
              <a:rPr lang="de-DE" b="1" dirty="0"/>
              <a:t>AUC ≈ 0.90</a:t>
            </a:r>
            <a:r>
              <a:rPr lang="de-DE" dirty="0"/>
              <a:t>, strong ECG-based discrimination.</a:t>
            </a:r>
          </a:p>
          <a:p>
            <a:pPr lvl="1"/>
            <a:r>
              <a:rPr lang="de-DE" i="1" dirty="0"/>
              <a:t>Irregular heartbeat</a:t>
            </a:r>
            <a:r>
              <a:rPr lang="de-DE" dirty="0"/>
              <a:t>: High specificity (TN &gt; 700), effective detection of clear arrhythmia cases.</a:t>
            </a:r>
          </a:p>
          <a:p>
            <a:r>
              <a:rPr lang="de-DE" b="1" dirty="0"/>
              <a:t>Respiratory:</a:t>
            </a:r>
            <a:endParaRPr lang="de-DE" dirty="0"/>
          </a:p>
          <a:p>
            <a:pPr lvl="1"/>
            <a:r>
              <a:rPr lang="de-DE" dirty="0"/>
              <a:t>Asthma &amp; bronchitis show </a:t>
            </a:r>
            <a:r>
              <a:rPr lang="de-DE" b="1" dirty="0"/>
              <a:t>very high specificity (TN &gt; 650)</a:t>
            </a:r>
            <a:r>
              <a:rPr lang="de-DE" dirty="0"/>
              <a:t>, driven by RIP signals.</a:t>
            </a:r>
          </a:p>
          <a:p>
            <a:r>
              <a:rPr lang="de-DE" b="1" dirty="0"/>
              <a:t>Mental Health:</a:t>
            </a:r>
            <a:endParaRPr lang="de-DE" dirty="0"/>
          </a:p>
          <a:p>
            <a:pPr lvl="1"/>
            <a:r>
              <a:rPr lang="de-DE" dirty="0"/>
              <a:t>ADHD detection is robust, with sustained precision in PR curves using EEG features.</a:t>
            </a:r>
          </a:p>
          <a:p>
            <a:r>
              <a:rPr lang="de-DE" b="1" dirty="0"/>
              <a:t>Class Imbalance Effects</a:t>
            </a:r>
            <a:endParaRPr lang="de-DE" dirty="0"/>
          </a:p>
          <a:p>
            <a:pPr lvl="1"/>
            <a:r>
              <a:rPr lang="de-DE" dirty="0"/>
              <a:t>Rare conditions (e.g., stroke, myocardial infarction) show step-like PR behavior due to limited positive samples in CFS.</a:t>
            </a:r>
          </a:p>
        </p:txBody>
      </p:sp>
      <p:sp>
        <p:nvSpPr>
          <p:cNvPr id="3" name="Title 2">
            <a:extLst>
              <a:ext uri="{FF2B5EF4-FFF2-40B4-BE49-F238E27FC236}">
                <a16:creationId xmlns:a16="http://schemas.microsoft.com/office/drawing/2014/main" id="{8D82EE6A-4CCA-9856-37CB-EBA9407D63DD}"/>
              </a:ext>
            </a:extLst>
          </p:cNvPr>
          <p:cNvSpPr>
            <a:spLocks noGrp="1"/>
          </p:cNvSpPr>
          <p:nvPr>
            <p:ph type="title"/>
          </p:nvPr>
        </p:nvSpPr>
        <p:spPr/>
        <p:txBody>
          <a:bodyPr/>
          <a:lstStyle/>
          <a:p>
            <a:r>
              <a:rPr lang="en-GB" dirty="0"/>
              <a:t>Result Analysis</a:t>
            </a:r>
            <a:endParaRPr lang="en-AE" dirty="0"/>
          </a:p>
        </p:txBody>
      </p:sp>
      <p:sp>
        <p:nvSpPr>
          <p:cNvPr id="4" name="Slide Number Placeholder 3">
            <a:extLst>
              <a:ext uri="{FF2B5EF4-FFF2-40B4-BE49-F238E27FC236}">
                <a16:creationId xmlns:a16="http://schemas.microsoft.com/office/drawing/2014/main" id="{0F48263A-370B-E4F2-A3F5-CA62CAB9C82D}"/>
              </a:ext>
            </a:extLst>
          </p:cNvPr>
          <p:cNvSpPr>
            <a:spLocks noGrp="1"/>
          </p:cNvSpPr>
          <p:nvPr>
            <p:ph type="sldNum" sz="quarter" idx="12"/>
          </p:nvPr>
        </p:nvSpPr>
        <p:spPr/>
        <p:txBody>
          <a:bodyPr/>
          <a:lstStyle/>
          <a:p>
            <a:fld id="{330EA680-D336-4FF7-8B7A-9848BB0A1C32}" type="slidenum">
              <a:rPr lang="en-US" smtClean="0"/>
              <a:pPr/>
              <a:t>14</a:t>
            </a:fld>
            <a:endParaRPr lang="en-US"/>
          </a:p>
        </p:txBody>
      </p:sp>
    </p:spTree>
    <p:extLst>
      <p:ext uri="{BB962C8B-B14F-4D97-AF65-F5344CB8AC3E}">
        <p14:creationId xmlns:p14="http://schemas.microsoft.com/office/powerpoint/2010/main" val="4209832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AD85D-CDB0-4E03-EDBE-E9A08A59110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659CB10-3EA2-8EEC-5375-9684C10D9B9B}"/>
              </a:ext>
            </a:extLst>
          </p:cNvPr>
          <p:cNvSpPr>
            <a:spLocks noGrp="1"/>
          </p:cNvSpPr>
          <p:nvPr>
            <p:ph type="title"/>
          </p:nvPr>
        </p:nvSpPr>
        <p:spPr/>
        <p:txBody>
          <a:bodyPr/>
          <a:lstStyle/>
          <a:p>
            <a:r>
              <a:rPr lang="en-GB" dirty="0"/>
              <a:t>Result Analysis</a:t>
            </a:r>
            <a:endParaRPr lang="en-AE" dirty="0"/>
          </a:p>
        </p:txBody>
      </p:sp>
      <p:sp>
        <p:nvSpPr>
          <p:cNvPr id="4" name="Slide Number Placeholder 3">
            <a:extLst>
              <a:ext uri="{FF2B5EF4-FFF2-40B4-BE49-F238E27FC236}">
                <a16:creationId xmlns:a16="http://schemas.microsoft.com/office/drawing/2014/main" id="{5D8FC089-ECFB-3FF2-1161-4399BA6783A5}"/>
              </a:ext>
            </a:extLst>
          </p:cNvPr>
          <p:cNvSpPr>
            <a:spLocks noGrp="1"/>
          </p:cNvSpPr>
          <p:nvPr>
            <p:ph type="sldNum" sz="quarter" idx="12"/>
          </p:nvPr>
        </p:nvSpPr>
        <p:spPr/>
        <p:txBody>
          <a:bodyPr/>
          <a:lstStyle/>
          <a:p>
            <a:fld id="{330EA680-D336-4FF7-8B7A-9848BB0A1C32}" type="slidenum">
              <a:rPr lang="en-US" smtClean="0"/>
              <a:pPr/>
              <a:t>15</a:t>
            </a:fld>
            <a:endParaRPr lang="en-US"/>
          </a:p>
        </p:txBody>
      </p:sp>
      <p:pic>
        <p:nvPicPr>
          <p:cNvPr id="6" name="Picture 5" descr="A graph with lines and numbers&#10;&#10;AI-generated content may be incorrect.">
            <a:extLst>
              <a:ext uri="{FF2B5EF4-FFF2-40B4-BE49-F238E27FC236}">
                <a16:creationId xmlns:a16="http://schemas.microsoft.com/office/drawing/2014/main" id="{5F57EE97-6696-C47B-0F8C-708DC7AFD988}"/>
              </a:ext>
            </a:extLst>
          </p:cNvPr>
          <p:cNvPicPr>
            <a:picLocks noChangeAspect="1"/>
          </p:cNvPicPr>
          <p:nvPr/>
        </p:nvPicPr>
        <p:blipFill>
          <a:blip r:embed="rId2"/>
          <a:stretch>
            <a:fillRect/>
          </a:stretch>
        </p:blipFill>
        <p:spPr>
          <a:xfrm>
            <a:off x="401336" y="1270001"/>
            <a:ext cx="11504180" cy="4361542"/>
          </a:xfrm>
          <a:prstGeom prst="rect">
            <a:avLst/>
          </a:prstGeom>
        </p:spPr>
      </p:pic>
    </p:spTree>
    <p:extLst>
      <p:ext uri="{BB962C8B-B14F-4D97-AF65-F5344CB8AC3E}">
        <p14:creationId xmlns:p14="http://schemas.microsoft.com/office/powerpoint/2010/main" val="234442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A2296-03FD-7F6E-D9A0-7FE508B7C2A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F7102B-D706-547B-AF3D-58FFB44B16D0}"/>
              </a:ext>
            </a:extLst>
          </p:cNvPr>
          <p:cNvSpPr>
            <a:spLocks noGrp="1"/>
          </p:cNvSpPr>
          <p:nvPr>
            <p:ph type="title"/>
          </p:nvPr>
        </p:nvSpPr>
        <p:spPr/>
        <p:txBody>
          <a:bodyPr/>
          <a:lstStyle/>
          <a:p>
            <a:r>
              <a:rPr lang="en-GB" dirty="0"/>
              <a:t>Limitations</a:t>
            </a:r>
            <a:endParaRPr lang="en-AE" dirty="0"/>
          </a:p>
        </p:txBody>
      </p:sp>
      <p:sp>
        <p:nvSpPr>
          <p:cNvPr id="4" name="Slide Number Placeholder 3">
            <a:extLst>
              <a:ext uri="{FF2B5EF4-FFF2-40B4-BE49-F238E27FC236}">
                <a16:creationId xmlns:a16="http://schemas.microsoft.com/office/drawing/2014/main" id="{88082F50-25C6-92B6-8C1D-459A5BA350C9}"/>
              </a:ext>
            </a:extLst>
          </p:cNvPr>
          <p:cNvSpPr>
            <a:spLocks noGrp="1"/>
          </p:cNvSpPr>
          <p:nvPr>
            <p:ph type="sldNum" sz="quarter" idx="12"/>
          </p:nvPr>
        </p:nvSpPr>
        <p:spPr/>
        <p:txBody>
          <a:bodyPr/>
          <a:lstStyle/>
          <a:p>
            <a:fld id="{330EA680-D336-4FF7-8B7A-9848BB0A1C32}" type="slidenum">
              <a:rPr lang="en-US" smtClean="0"/>
              <a:pPr/>
              <a:t>16</a:t>
            </a:fld>
            <a:endParaRPr lang="en-US"/>
          </a:p>
        </p:txBody>
      </p:sp>
      <p:sp>
        <p:nvSpPr>
          <p:cNvPr id="5" name="Rectangle 1">
            <a:extLst>
              <a:ext uri="{FF2B5EF4-FFF2-40B4-BE49-F238E27FC236}">
                <a16:creationId xmlns:a16="http://schemas.microsoft.com/office/drawing/2014/main" id="{003E610E-EEE6-9106-AF27-61376A7ED952}"/>
              </a:ext>
            </a:extLst>
          </p:cNvPr>
          <p:cNvSpPr>
            <a:spLocks noGrp="1" noChangeArrowheads="1"/>
          </p:cNvSpPr>
          <p:nvPr>
            <p:ph idx="1"/>
          </p:nvPr>
        </p:nvSpPr>
        <p:spPr bwMode="auto">
          <a:xfrm>
            <a:off x="576808" y="1079024"/>
            <a:ext cx="11038383" cy="4966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sz="2600" b="1" dirty="0"/>
              <a:t>Class​‍​‌‍​‍‌ Imbalance Sensitivity</a:t>
            </a:r>
            <a:r>
              <a:rPr lang="en-GB" sz="2600" dirty="0"/>
              <a:t>: The effectiveness of the system goes down for rare comorbidities (like myocardial infarction, stroke) as the number of positives is very low.</a:t>
            </a:r>
          </a:p>
          <a:p>
            <a:pPr marL="0" indent="0">
              <a:buNone/>
            </a:pPr>
            <a:endParaRPr lang="en-GB" sz="2600" dirty="0"/>
          </a:p>
          <a:p>
            <a:r>
              <a:rPr lang="en-GB" sz="2600" b="1" dirty="0"/>
              <a:t>Bias toward Majority Classes</a:t>
            </a:r>
            <a:r>
              <a:rPr lang="en-GB" sz="2600" dirty="0"/>
              <a:t>: The NAS search goal is to increase the overall accuracy, hence the result is that the model is mostly tuned on the majority of the frequent disease labels in the multi-label settings.</a:t>
            </a:r>
          </a:p>
          <a:p>
            <a:pPr marL="0" indent="0">
              <a:buNone/>
            </a:pPr>
            <a:endParaRPr lang="en-GB" sz="2600" dirty="0"/>
          </a:p>
          <a:p>
            <a:r>
              <a:rPr lang="en-GB" sz="2600" b="1" dirty="0"/>
              <a:t>Reduced Sensitivity for Rare Events</a:t>
            </a:r>
            <a:r>
              <a:rPr lang="en-GB" sz="2600" dirty="0"/>
              <a:t>: Overall, the framework is highly efficient and accurate, but it exhibits lower recall for rare acute ​‍​‌‍​‍‌conditions.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6846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4D284-3C75-E532-4D97-4F8752D9CD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FF0527A-4332-6251-7B62-47558179F0F1}"/>
              </a:ext>
            </a:extLst>
          </p:cNvPr>
          <p:cNvSpPr>
            <a:spLocks noGrp="1"/>
          </p:cNvSpPr>
          <p:nvPr>
            <p:ph type="title"/>
          </p:nvPr>
        </p:nvSpPr>
        <p:spPr/>
        <p:txBody>
          <a:bodyPr/>
          <a:lstStyle/>
          <a:p>
            <a:r>
              <a:rPr lang="en-GB" dirty="0"/>
              <a:t>Phase 2 Plan</a:t>
            </a:r>
            <a:endParaRPr lang="en-AE" dirty="0"/>
          </a:p>
        </p:txBody>
      </p:sp>
      <p:sp>
        <p:nvSpPr>
          <p:cNvPr id="4" name="Slide Number Placeholder 3">
            <a:extLst>
              <a:ext uri="{FF2B5EF4-FFF2-40B4-BE49-F238E27FC236}">
                <a16:creationId xmlns:a16="http://schemas.microsoft.com/office/drawing/2014/main" id="{9463ADC9-9C84-8D62-508B-5529A868D3F1}"/>
              </a:ext>
            </a:extLst>
          </p:cNvPr>
          <p:cNvSpPr>
            <a:spLocks noGrp="1"/>
          </p:cNvSpPr>
          <p:nvPr>
            <p:ph type="sldNum" sz="quarter" idx="12"/>
          </p:nvPr>
        </p:nvSpPr>
        <p:spPr/>
        <p:txBody>
          <a:bodyPr/>
          <a:lstStyle/>
          <a:p>
            <a:fld id="{330EA680-D336-4FF7-8B7A-9848BB0A1C32}" type="slidenum">
              <a:rPr lang="en-US" smtClean="0"/>
              <a:pPr/>
              <a:t>17</a:t>
            </a:fld>
            <a:endParaRPr lang="en-US"/>
          </a:p>
        </p:txBody>
      </p:sp>
      <p:sp>
        <p:nvSpPr>
          <p:cNvPr id="5" name="Rectangle 1">
            <a:extLst>
              <a:ext uri="{FF2B5EF4-FFF2-40B4-BE49-F238E27FC236}">
                <a16:creationId xmlns:a16="http://schemas.microsoft.com/office/drawing/2014/main" id="{C63D5C3C-F403-75C1-896B-62D57BD9DA97}"/>
              </a:ext>
            </a:extLst>
          </p:cNvPr>
          <p:cNvSpPr>
            <a:spLocks noGrp="1" noChangeArrowheads="1"/>
          </p:cNvSpPr>
          <p:nvPr>
            <p:ph idx="1"/>
          </p:nvPr>
        </p:nvSpPr>
        <p:spPr bwMode="auto">
          <a:xfrm>
            <a:off x="571499" y="1220005"/>
            <a:ext cx="10880987"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2400" b="1" dirty="0"/>
              <a:t>Data Expansion &amp; Validation:</a:t>
            </a:r>
            <a:br>
              <a:rPr lang="en-US" altLang="en-US" sz="2400" dirty="0"/>
            </a:br>
            <a:r>
              <a:rPr lang="en-US" altLang="en-US" sz="2400" dirty="0"/>
              <a:t>Integrate large multi-center cohorts (WSC, SHHS, MESA, APPLES, </a:t>
            </a:r>
            <a:r>
              <a:rPr lang="en-US" altLang="en-US" sz="2400" dirty="0" err="1"/>
              <a:t>MrOS</a:t>
            </a:r>
            <a:r>
              <a:rPr lang="en-US" altLang="en-US" sz="2400" dirty="0"/>
              <a:t>) to improve robustness, address class imbalance, and enhance cross-cohort generalization.</a:t>
            </a:r>
          </a:p>
          <a:p>
            <a:pPr marL="0" lvl="0" indent="0" eaLnBrk="0" fontAlgn="base" hangingPunct="0">
              <a:lnSpc>
                <a:spcPct val="100000"/>
              </a:lnSpc>
              <a:spcBef>
                <a:spcPct val="0"/>
              </a:spcBef>
              <a:spcAft>
                <a:spcPct val="0"/>
              </a:spcAft>
              <a:buFontTx/>
              <a:buChar char="•"/>
            </a:pPr>
            <a:r>
              <a:rPr lang="en-US" altLang="en-US" sz="2400" b="1" dirty="0"/>
              <a:t>Clinical Desktop Application:</a:t>
            </a:r>
            <a:br>
              <a:rPr lang="en-US" altLang="en-US" sz="2400" dirty="0"/>
            </a:br>
            <a:r>
              <a:rPr lang="en-US" altLang="en-US" sz="2400" dirty="0"/>
              <a:t>Develop a user-friendly desktop tool enabling clinicians to upload raw EDF files and receive automated risk assessments without requiring Python expertise.</a:t>
            </a:r>
          </a:p>
          <a:p>
            <a:pPr marL="0" lvl="0" indent="0" eaLnBrk="0" fontAlgn="base" hangingPunct="0">
              <a:lnSpc>
                <a:spcPct val="100000"/>
              </a:lnSpc>
              <a:spcBef>
                <a:spcPct val="0"/>
              </a:spcBef>
              <a:spcAft>
                <a:spcPct val="0"/>
              </a:spcAft>
              <a:buFontTx/>
              <a:buChar char="•"/>
            </a:pPr>
            <a:r>
              <a:rPr lang="en-US" altLang="en-US" sz="2400" b="1" dirty="0"/>
              <a:t>Deployment &amp; Packaging:</a:t>
            </a:r>
            <a:br>
              <a:rPr lang="en-US" altLang="en-US" sz="2400" dirty="0"/>
            </a:br>
            <a:r>
              <a:rPr lang="en-US" altLang="en-US" sz="2400" dirty="0"/>
              <a:t>Package the optimized model and application into a single executable for seamless installation on standard clinical workstations, including low-end systems.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15937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1D222-B7FB-70A1-C9C7-D1DB54D9F24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CFC4A1-0418-D93A-CEDD-A6C7F31C11E1}"/>
              </a:ext>
            </a:extLst>
          </p:cNvPr>
          <p:cNvSpPr>
            <a:spLocks noGrp="1"/>
          </p:cNvSpPr>
          <p:nvPr>
            <p:ph idx="1"/>
          </p:nvPr>
        </p:nvSpPr>
        <p:spPr/>
        <p:txBody>
          <a:bodyPr>
            <a:normAutofit fontScale="85000" lnSpcReduction="20000"/>
          </a:bodyPr>
          <a:lstStyle/>
          <a:p>
            <a:r>
              <a:rPr lang="de-DE" dirty="0"/>
              <a:t>Kim, Y., Jang, T. G., Park, S. Y., Park, H. Y., Lee, J. A., Oyun-Erdene, T., ... &amp; Urtnasan, E. (2025). Multimodal AI-approach for the automatic screening of cardiovascular diseases based on nocturnal physiological signals. </a:t>
            </a:r>
            <a:r>
              <a:rPr lang="de-DE" i="1" dirty="0"/>
              <a:t>npj Cardiovascular Health</a:t>
            </a:r>
            <a:r>
              <a:rPr lang="de-DE" dirty="0"/>
              <a:t>, </a:t>
            </a:r>
            <a:r>
              <a:rPr lang="de-DE" i="1" dirty="0"/>
              <a:t>2</a:t>
            </a:r>
            <a:r>
              <a:rPr lang="de-DE" dirty="0"/>
              <a:t>(1), 15.</a:t>
            </a:r>
          </a:p>
          <a:p>
            <a:r>
              <a:rPr lang="de-DE" dirty="0"/>
              <a:t>Lee, H., Choi, Y. R., Lee, H. K., Jeong, J., Hong, J., Shin, H. W., &amp; Kim, H. S. (2025). Explainable vision transformer for automatic visual sleep staging on multimodal PSG signals. </a:t>
            </a:r>
            <a:r>
              <a:rPr lang="de-DE" i="1" dirty="0"/>
              <a:t>npj Digital Medicine</a:t>
            </a:r>
            <a:r>
              <a:rPr lang="de-DE" dirty="0"/>
              <a:t>, </a:t>
            </a:r>
            <a:r>
              <a:rPr lang="de-DE" i="1" dirty="0"/>
              <a:t>8</a:t>
            </a:r>
            <a:r>
              <a:rPr lang="de-DE" dirty="0"/>
              <a:t>(1), 55.</a:t>
            </a:r>
          </a:p>
          <a:p>
            <a:r>
              <a:rPr lang="de-DE" dirty="0"/>
              <a:t>Zhang, Z., Lin, B. S., Peng, C. W., &amp; Lin, B. S. (2024). Multi-modal sleep stage classification with two-stream encoder-decoder. </a:t>
            </a:r>
            <a:r>
              <a:rPr lang="de-DE" i="1" dirty="0"/>
              <a:t>IEEE Transactions on Neural Systems and Rehabilitation Engineering</a:t>
            </a:r>
            <a:r>
              <a:rPr lang="de-DE" dirty="0"/>
              <a:t>, </a:t>
            </a:r>
            <a:r>
              <a:rPr lang="de-DE" i="1" dirty="0"/>
              <a:t>32</a:t>
            </a:r>
            <a:r>
              <a:rPr lang="de-DE" dirty="0"/>
              <a:t>, 2096-2105.</a:t>
            </a:r>
          </a:p>
          <a:p>
            <a:r>
              <a:rPr lang="de-DE" dirty="0"/>
              <a:t>Liu, R., Li, J., Wen, Y., Huang, X., Sheng, B., Feng, D. D., &amp; Zhang, P. (2025). MHFNet: a multimodal hybrid-embedding fusion network for automatic sleep staging. </a:t>
            </a:r>
            <a:r>
              <a:rPr lang="de-DE" i="1" dirty="0"/>
              <a:t>IEEE Journal of Biomedical and Health Informatics</a:t>
            </a:r>
            <a:r>
              <a:rPr lang="de-DE" dirty="0"/>
              <a:t>.</a:t>
            </a:r>
          </a:p>
          <a:p>
            <a:r>
              <a:rPr lang="de-DE" dirty="0"/>
              <a:t>Jiang, X., Zhao, J., Du, B., &amp; Yuan, Z. (2021, July). Self-supervised contrastive learning for EEG-based sleep staging. In </a:t>
            </a:r>
            <a:r>
              <a:rPr lang="de-DE" i="1" dirty="0"/>
              <a:t>2021 International Joint Conference on Neural Networks (IJCNN)</a:t>
            </a:r>
            <a:r>
              <a:rPr lang="de-DE" dirty="0"/>
              <a:t> (pp. 1-8). IEEE.</a:t>
            </a:r>
            <a:endParaRPr lang="en-AE" dirty="0"/>
          </a:p>
        </p:txBody>
      </p:sp>
      <p:sp>
        <p:nvSpPr>
          <p:cNvPr id="3" name="Title 2">
            <a:extLst>
              <a:ext uri="{FF2B5EF4-FFF2-40B4-BE49-F238E27FC236}">
                <a16:creationId xmlns:a16="http://schemas.microsoft.com/office/drawing/2014/main" id="{57EBB3AF-8C3E-EF4C-709E-98C4F2A4B774}"/>
              </a:ext>
            </a:extLst>
          </p:cNvPr>
          <p:cNvSpPr>
            <a:spLocks noGrp="1"/>
          </p:cNvSpPr>
          <p:nvPr>
            <p:ph type="title"/>
          </p:nvPr>
        </p:nvSpPr>
        <p:spPr/>
        <p:txBody>
          <a:bodyPr/>
          <a:lstStyle/>
          <a:p>
            <a:r>
              <a:rPr lang="en-GB" dirty="0"/>
              <a:t>References(APA Style)</a:t>
            </a:r>
            <a:endParaRPr lang="en-AE" dirty="0"/>
          </a:p>
        </p:txBody>
      </p:sp>
      <p:sp>
        <p:nvSpPr>
          <p:cNvPr id="4" name="Slide Number Placeholder 3">
            <a:extLst>
              <a:ext uri="{FF2B5EF4-FFF2-40B4-BE49-F238E27FC236}">
                <a16:creationId xmlns:a16="http://schemas.microsoft.com/office/drawing/2014/main" id="{E51294BA-4928-FACF-C9D9-C83679A7A795}"/>
              </a:ext>
            </a:extLst>
          </p:cNvPr>
          <p:cNvSpPr>
            <a:spLocks noGrp="1"/>
          </p:cNvSpPr>
          <p:nvPr>
            <p:ph type="sldNum" sz="quarter" idx="12"/>
          </p:nvPr>
        </p:nvSpPr>
        <p:spPr/>
        <p:txBody>
          <a:bodyPr/>
          <a:lstStyle/>
          <a:p>
            <a:fld id="{330EA680-D336-4FF7-8B7A-9848BB0A1C32}" type="slidenum">
              <a:rPr lang="en-US" smtClean="0"/>
              <a:pPr/>
              <a:t>18</a:t>
            </a:fld>
            <a:endParaRPr lang="en-US"/>
          </a:p>
        </p:txBody>
      </p:sp>
    </p:spTree>
    <p:extLst>
      <p:ext uri="{BB962C8B-B14F-4D97-AF65-F5344CB8AC3E}">
        <p14:creationId xmlns:p14="http://schemas.microsoft.com/office/powerpoint/2010/main" val="1453087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DF20A-1C2B-ABE4-74C1-A73754A2EF6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2C049F-092D-4933-0295-01838C217BB8}"/>
              </a:ext>
            </a:extLst>
          </p:cNvPr>
          <p:cNvSpPr>
            <a:spLocks noGrp="1"/>
          </p:cNvSpPr>
          <p:nvPr>
            <p:ph idx="1"/>
          </p:nvPr>
        </p:nvSpPr>
        <p:spPr/>
        <p:txBody>
          <a:bodyPr>
            <a:normAutofit fontScale="85000" lnSpcReduction="20000"/>
          </a:bodyPr>
          <a:lstStyle/>
          <a:p>
            <a:r>
              <a:rPr lang="de-DE" dirty="0"/>
              <a:t>Weng, W., Gu, Y., Guo, S., Ma, Y., Yang, Z., Liu, Y., &amp; Chen, Y. (2025). Self-supervised learning for electroencephalogram: A systematic survey. </a:t>
            </a:r>
            <a:r>
              <a:rPr lang="de-DE" i="1" dirty="0"/>
              <a:t>ACM Computing Surveys</a:t>
            </a:r>
            <a:r>
              <a:rPr lang="de-DE" dirty="0"/>
              <a:t>, </a:t>
            </a:r>
            <a:r>
              <a:rPr lang="de-DE" i="1" dirty="0"/>
              <a:t>57</a:t>
            </a:r>
            <a:r>
              <a:rPr lang="de-DE" dirty="0"/>
              <a:t>(12), 1-38.</a:t>
            </a:r>
          </a:p>
          <a:p>
            <a:r>
              <a:rPr lang="en-GB" dirty="0"/>
              <a:t>LeCun, Y., Bengio, Y., &amp; Hinton, G. (2015). Deep learning. </a:t>
            </a:r>
            <a:r>
              <a:rPr lang="en-GB" i="1" dirty="0"/>
              <a:t>nature</a:t>
            </a:r>
            <a:r>
              <a:rPr lang="en-GB" dirty="0"/>
              <a:t>, </a:t>
            </a:r>
            <a:r>
              <a:rPr lang="en-GB" i="1" dirty="0"/>
              <a:t>521</a:t>
            </a:r>
            <a:r>
              <a:rPr lang="en-GB" dirty="0"/>
              <a:t>(7553), 436-444.</a:t>
            </a:r>
          </a:p>
          <a:p>
            <a:r>
              <a:rPr lang="de-DE" dirty="0"/>
              <a:t>Nie, G., Chen, X., Wang, Y., Chen, J., Shi, Y., Zhong, J., ... &amp; Leng, Y. (2025). A Zero-Burden Sleep Foundation Model Built on Cardiorespiratory Signals from 800,000+ Hours of Multi-Ethnic Sleep Recordings. </a:t>
            </a:r>
            <a:r>
              <a:rPr lang="de-DE" i="1" dirty="0"/>
              <a:t>medRxiv</a:t>
            </a:r>
            <a:r>
              <a:rPr lang="de-DE" dirty="0"/>
              <a:t>, 2025-09.</a:t>
            </a:r>
          </a:p>
          <a:p>
            <a:r>
              <a:rPr lang="de-DE" dirty="0"/>
              <a:t>Kjaer, M. R., Thapa, R., Ganjoo, G., Moore IV, H., Jennum, P. J., Westover, B. M., ... &amp; Brink-Kjaer, A. (2025). Stanford Sleep Bench: Evaluating Polysomnography Pre-training Methods for Sleep Foundation Models. </a:t>
            </a:r>
            <a:r>
              <a:rPr lang="de-DE" i="1" dirty="0"/>
              <a:t>arXiv preprint arXiv:2512.09591</a:t>
            </a:r>
            <a:r>
              <a:rPr lang="de-DE" dirty="0"/>
              <a:t>.</a:t>
            </a:r>
          </a:p>
          <a:p>
            <a:r>
              <a:rPr lang="en-GB" dirty="0"/>
              <a:t>Thapa, R., Kjær, M. R., He, B., Covert, I., Moore, H., Hanif, U., ... &amp; Zou, J. (2025). A multimodal sleep foundation model developed with 500k hours of sleep recordings for disease predictions. </a:t>
            </a:r>
            <a:r>
              <a:rPr lang="en-GB" i="1" dirty="0" err="1"/>
              <a:t>medRxiv</a:t>
            </a:r>
            <a:r>
              <a:rPr lang="en-GB" dirty="0"/>
              <a:t>.</a:t>
            </a:r>
            <a:endParaRPr lang="en-AE" dirty="0"/>
          </a:p>
        </p:txBody>
      </p:sp>
      <p:sp>
        <p:nvSpPr>
          <p:cNvPr id="3" name="Title 2">
            <a:extLst>
              <a:ext uri="{FF2B5EF4-FFF2-40B4-BE49-F238E27FC236}">
                <a16:creationId xmlns:a16="http://schemas.microsoft.com/office/drawing/2014/main" id="{4FE1B9E3-1105-EA09-22CE-3F60EE90D1E0}"/>
              </a:ext>
            </a:extLst>
          </p:cNvPr>
          <p:cNvSpPr>
            <a:spLocks noGrp="1"/>
          </p:cNvSpPr>
          <p:nvPr>
            <p:ph type="title"/>
          </p:nvPr>
        </p:nvSpPr>
        <p:spPr/>
        <p:txBody>
          <a:bodyPr/>
          <a:lstStyle/>
          <a:p>
            <a:r>
              <a:rPr lang="en-GB" dirty="0"/>
              <a:t>References(APA Style)</a:t>
            </a:r>
            <a:endParaRPr lang="en-AE" dirty="0"/>
          </a:p>
        </p:txBody>
      </p:sp>
      <p:sp>
        <p:nvSpPr>
          <p:cNvPr id="4" name="Slide Number Placeholder 3">
            <a:extLst>
              <a:ext uri="{FF2B5EF4-FFF2-40B4-BE49-F238E27FC236}">
                <a16:creationId xmlns:a16="http://schemas.microsoft.com/office/drawing/2014/main" id="{3F768528-EA78-8399-D32C-2120F83B07D2}"/>
              </a:ext>
            </a:extLst>
          </p:cNvPr>
          <p:cNvSpPr>
            <a:spLocks noGrp="1"/>
          </p:cNvSpPr>
          <p:nvPr>
            <p:ph type="sldNum" sz="quarter" idx="12"/>
          </p:nvPr>
        </p:nvSpPr>
        <p:spPr/>
        <p:txBody>
          <a:bodyPr/>
          <a:lstStyle/>
          <a:p>
            <a:fld id="{330EA680-D336-4FF7-8B7A-9848BB0A1C32}" type="slidenum">
              <a:rPr lang="en-US" smtClean="0"/>
              <a:pPr/>
              <a:t>19</a:t>
            </a:fld>
            <a:endParaRPr lang="en-US"/>
          </a:p>
        </p:txBody>
      </p:sp>
    </p:spTree>
    <p:extLst>
      <p:ext uri="{BB962C8B-B14F-4D97-AF65-F5344CB8AC3E}">
        <p14:creationId xmlns:p14="http://schemas.microsoft.com/office/powerpoint/2010/main" val="708406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D14A-90D7-C202-6737-A03239C5E0F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FEC6AD-66CC-3A21-F7D4-7F35F751028F}"/>
              </a:ext>
            </a:extLst>
          </p:cNvPr>
          <p:cNvSpPr>
            <a:spLocks noGrp="1"/>
          </p:cNvSpPr>
          <p:nvPr>
            <p:ph idx="1"/>
          </p:nvPr>
        </p:nvSpPr>
        <p:spPr/>
        <p:txBody>
          <a:bodyPr>
            <a:normAutofit fontScale="85000" lnSpcReduction="20000"/>
          </a:bodyPr>
          <a:lstStyle/>
          <a:p>
            <a:r>
              <a:rPr lang="de-DE" dirty="0"/>
              <a:t>Weng, W., Gu, Y., Guo, S., Ma, Y., Yang, Z., Liu, Y., &amp; Chen, Y. (2025). Self-supervised learning for electroencephalogram: A systematic survey. </a:t>
            </a:r>
            <a:r>
              <a:rPr lang="de-DE" i="1" dirty="0"/>
              <a:t>ACM Computing Surveys</a:t>
            </a:r>
            <a:r>
              <a:rPr lang="de-DE" dirty="0"/>
              <a:t>, </a:t>
            </a:r>
            <a:r>
              <a:rPr lang="de-DE" i="1" dirty="0"/>
              <a:t>57</a:t>
            </a:r>
            <a:r>
              <a:rPr lang="de-DE" dirty="0"/>
              <a:t>(12), 1-38.</a:t>
            </a:r>
          </a:p>
          <a:p>
            <a:r>
              <a:rPr lang="en-GB" dirty="0"/>
              <a:t>LeCun, Y., Bengio, Y., &amp; Hinton, G. (2015). Deep learning. </a:t>
            </a:r>
            <a:r>
              <a:rPr lang="en-GB" i="1" dirty="0"/>
              <a:t>nature</a:t>
            </a:r>
            <a:r>
              <a:rPr lang="en-GB" dirty="0"/>
              <a:t>, </a:t>
            </a:r>
            <a:r>
              <a:rPr lang="en-GB" i="1" dirty="0"/>
              <a:t>521</a:t>
            </a:r>
            <a:r>
              <a:rPr lang="en-GB" dirty="0"/>
              <a:t>(7553), 436-444.</a:t>
            </a:r>
          </a:p>
          <a:p>
            <a:r>
              <a:rPr lang="de-DE" dirty="0"/>
              <a:t>Nie, G., Chen, X., Wang, Y., Chen, J., Shi, Y., Zhong, J., ... &amp; Leng, Y. (2025). A Zero-Burden Sleep Foundation Model Built on Cardiorespiratory Signals from 800,000+ Hours of Multi-Ethnic Sleep Recordings. </a:t>
            </a:r>
            <a:r>
              <a:rPr lang="de-DE" i="1" dirty="0"/>
              <a:t>medRxiv</a:t>
            </a:r>
            <a:r>
              <a:rPr lang="de-DE" dirty="0"/>
              <a:t>, 2025-09.</a:t>
            </a:r>
          </a:p>
          <a:p>
            <a:r>
              <a:rPr lang="de-DE" dirty="0"/>
              <a:t>Kjaer, M. R., Thapa, R., Ganjoo, G., Moore IV, H., Jennum, P. J., Westover, B. M., ... &amp; Brink-Kjaer, A. (2025). Stanford Sleep Bench: Evaluating Polysomnography Pre-training Methods for Sleep Foundation Models. </a:t>
            </a:r>
            <a:r>
              <a:rPr lang="de-DE" i="1" dirty="0"/>
              <a:t>arXiv preprint arXiv:2512.09591</a:t>
            </a:r>
            <a:r>
              <a:rPr lang="de-DE" dirty="0"/>
              <a:t>.</a:t>
            </a:r>
          </a:p>
          <a:p>
            <a:r>
              <a:rPr lang="en-GB" dirty="0"/>
              <a:t>Thapa, R., Kjær, M. R., He, B., Covert, I., Moore, H., Hanif, U., ... &amp; Zou, J. (2025). A multimodal sleep foundation model developed with 500k hours of sleep recordings for disease predictions. </a:t>
            </a:r>
            <a:r>
              <a:rPr lang="en-GB" i="1" dirty="0" err="1"/>
              <a:t>medRxiv</a:t>
            </a:r>
            <a:r>
              <a:rPr lang="en-GB" dirty="0"/>
              <a:t>.</a:t>
            </a:r>
            <a:endParaRPr lang="en-AE" dirty="0"/>
          </a:p>
        </p:txBody>
      </p:sp>
      <p:sp>
        <p:nvSpPr>
          <p:cNvPr id="3" name="Title 2">
            <a:extLst>
              <a:ext uri="{FF2B5EF4-FFF2-40B4-BE49-F238E27FC236}">
                <a16:creationId xmlns:a16="http://schemas.microsoft.com/office/drawing/2014/main" id="{CF1B05D2-D85F-8548-076D-3BE4F11042D4}"/>
              </a:ext>
            </a:extLst>
          </p:cNvPr>
          <p:cNvSpPr>
            <a:spLocks noGrp="1"/>
          </p:cNvSpPr>
          <p:nvPr>
            <p:ph type="title"/>
          </p:nvPr>
        </p:nvSpPr>
        <p:spPr/>
        <p:txBody>
          <a:bodyPr/>
          <a:lstStyle/>
          <a:p>
            <a:r>
              <a:rPr lang="en-GB" dirty="0"/>
              <a:t>References(APA Style)</a:t>
            </a:r>
            <a:endParaRPr lang="en-AE" dirty="0"/>
          </a:p>
        </p:txBody>
      </p:sp>
      <p:sp>
        <p:nvSpPr>
          <p:cNvPr id="4" name="Slide Number Placeholder 3">
            <a:extLst>
              <a:ext uri="{FF2B5EF4-FFF2-40B4-BE49-F238E27FC236}">
                <a16:creationId xmlns:a16="http://schemas.microsoft.com/office/drawing/2014/main" id="{33E4B7C6-A0C9-52BC-3294-AC07C3B50349}"/>
              </a:ext>
            </a:extLst>
          </p:cNvPr>
          <p:cNvSpPr>
            <a:spLocks noGrp="1"/>
          </p:cNvSpPr>
          <p:nvPr>
            <p:ph type="sldNum" sz="quarter" idx="12"/>
          </p:nvPr>
        </p:nvSpPr>
        <p:spPr/>
        <p:txBody>
          <a:bodyPr/>
          <a:lstStyle/>
          <a:p>
            <a:fld id="{330EA680-D336-4FF7-8B7A-9848BB0A1C32}" type="slidenum">
              <a:rPr lang="en-US" smtClean="0"/>
              <a:pPr/>
              <a:t>20</a:t>
            </a:fld>
            <a:endParaRPr lang="en-US"/>
          </a:p>
        </p:txBody>
      </p:sp>
    </p:spTree>
    <p:extLst>
      <p:ext uri="{BB962C8B-B14F-4D97-AF65-F5344CB8AC3E}">
        <p14:creationId xmlns:p14="http://schemas.microsoft.com/office/powerpoint/2010/main" val="2299864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3019A-C5E6-CDD6-87A0-8A1ABA46EA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5C7515-6AA8-C4E0-298C-2CBF430337C2}"/>
              </a:ext>
            </a:extLst>
          </p:cNvPr>
          <p:cNvSpPr>
            <a:spLocks noGrp="1"/>
          </p:cNvSpPr>
          <p:nvPr>
            <p:ph idx="1"/>
          </p:nvPr>
        </p:nvSpPr>
        <p:spPr/>
        <p:txBody>
          <a:bodyPr>
            <a:normAutofit fontScale="85000" lnSpcReduction="20000"/>
          </a:bodyPr>
          <a:lstStyle/>
          <a:p>
            <a:r>
              <a:rPr lang="de-DE" dirty="0"/>
              <a:t>Bilal, E., Araujo, M. L. D., Beck, K. L., Heinzinger, C. M., Ghosn, S., Saab, C. Y., ... &amp; Mehra, R. (2025). A Foundation Model for Sleep-Based Risk Stratification and Clinical Outcomes. </a:t>
            </a:r>
            <a:r>
              <a:rPr lang="de-DE" i="1" dirty="0"/>
              <a:t>Research Square</a:t>
            </a:r>
            <a:r>
              <a:rPr lang="de-DE" dirty="0"/>
              <a:t>, rs-3.</a:t>
            </a:r>
          </a:p>
          <a:p>
            <a:r>
              <a:rPr lang="de-DE" dirty="0"/>
              <a:t>He, Z., Li, H., Yuan, G., Killgore, W. D., Quan, S. F., Chen, C. X., &amp; Li, A. (2025). Multimodal Cardiovascular Risk Profiling Using Self-Supervised Learning of Polysomnography. </a:t>
            </a:r>
            <a:r>
              <a:rPr lang="de-DE" i="1" dirty="0"/>
              <a:t>SLEEPJ</a:t>
            </a:r>
            <a:r>
              <a:rPr lang="de-DE" dirty="0"/>
              <a:t>, zsaf371.</a:t>
            </a:r>
          </a:p>
          <a:p>
            <a:r>
              <a:rPr lang="de-DE" dirty="0"/>
              <a:t>Manimaran, G., Puthusserypady, S., Dominguez, H., &amp; Bardram, J. E. (2025). Cardiovascular Risk Assessment via Sleep Patterns and ECG-Based Biological Age Estimation. </a:t>
            </a:r>
            <a:r>
              <a:rPr lang="de-DE" i="1" dirty="0"/>
              <a:t>Journal of Clinical Medicine</a:t>
            </a:r>
            <a:r>
              <a:rPr lang="de-DE" dirty="0"/>
              <a:t>, </a:t>
            </a:r>
            <a:r>
              <a:rPr lang="de-DE" i="1" dirty="0"/>
              <a:t>14</a:t>
            </a:r>
            <a:r>
              <a:rPr lang="de-DE" dirty="0"/>
              <a:t>(10), 3339.</a:t>
            </a:r>
          </a:p>
          <a:p>
            <a:r>
              <a:rPr lang="de-DE" dirty="0"/>
              <a:t>Blanchard, M., Feuilloy, M., Gervès-Pinquié, C., Trzepizur, W., Meslier, N., Goupil, F., ... &amp; ERMES study group. (2021). Cardiovascular risk and mortality prediction in patients suspected of sleep apnea: a model based on an artificial intelligence system. </a:t>
            </a:r>
            <a:r>
              <a:rPr lang="de-DE" i="1" dirty="0"/>
              <a:t>Physiological Measurement</a:t>
            </a:r>
            <a:r>
              <a:rPr lang="de-DE" dirty="0"/>
              <a:t>, </a:t>
            </a:r>
            <a:r>
              <a:rPr lang="de-DE" i="1" dirty="0"/>
              <a:t>42</a:t>
            </a:r>
            <a:r>
              <a:rPr lang="de-DE" dirty="0"/>
              <a:t>(10), 105010.</a:t>
            </a:r>
          </a:p>
          <a:p>
            <a:r>
              <a:rPr lang="en-GB" dirty="0" err="1"/>
              <a:t>Fallmann</a:t>
            </a:r>
            <a:r>
              <a:rPr lang="en-GB" dirty="0"/>
              <a:t>, S., &amp; Chen, L. (2018, November). Detecting chronic diseases from sleep-wake behaviour and clinical features. In </a:t>
            </a:r>
            <a:r>
              <a:rPr lang="en-GB" i="1" dirty="0"/>
              <a:t>2018 5th international conference on systems and informatics (ICSAI)</a:t>
            </a:r>
            <a:r>
              <a:rPr lang="en-GB" dirty="0"/>
              <a:t> (pp. 1076-1084). </a:t>
            </a:r>
            <a:r>
              <a:rPr lang="en-GB"/>
              <a:t>IEEE.</a:t>
            </a:r>
            <a:endParaRPr lang="en-AE" dirty="0"/>
          </a:p>
        </p:txBody>
      </p:sp>
      <p:sp>
        <p:nvSpPr>
          <p:cNvPr id="3" name="Title 2">
            <a:extLst>
              <a:ext uri="{FF2B5EF4-FFF2-40B4-BE49-F238E27FC236}">
                <a16:creationId xmlns:a16="http://schemas.microsoft.com/office/drawing/2014/main" id="{798E7123-4F73-9F97-F1A6-FBF53B9E1886}"/>
              </a:ext>
            </a:extLst>
          </p:cNvPr>
          <p:cNvSpPr>
            <a:spLocks noGrp="1"/>
          </p:cNvSpPr>
          <p:nvPr>
            <p:ph type="title"/>
          </p:nvPr>
        </p:nvSpPr>
        <p:spPr/>
        <p:txBody>
          <a:bodyPr/>
          <a:lstStyle/>
          <a:p>
            <a:r>
              <a:rPr lang="en-GB" dirty="0"/>
              <a:t>References(APA Style)</a:t>
            </a:r>
            <a:endParaRPr lang="en-AE" dirty="0"/>
          </a:p>
        </p:txBody>
      </p:sp>
      <p:sp>
        <p:nvSpPr>
          <p:cNvPr id="4" name="Slide Number Placeholder 3">
            <a:extLst>
              <a:ext uri="{FF2B5EF4-FFF2-40B4-BE49-F238E27FC236}">
                <a16:creationId xmlns:a16="http://schemas.microsoft.com/office/drawing/2014/main" id="{1303A19A-8539-3FE4-8BF1-50F07A6B1083}"/>
              </a:ext>
            </a:extLst>
          </p:cNvPr>
          <p:cNvSpPr>
            <a:spLocks noGrp="1"/>
          </p:cNvSpPr>
          <p:nvPr>
            <p:ph type="sldNum" sz="quarter" idx="12"/>
          </p:nvPr>
        </p:nvSpPr>
        <p:spPr/>
        <p:txBody>
          <a:bodyPr/>
          <a:lstStyle/>
          <a:p>
            <a:fld id="{330EA680-D336-4FF7-8B7A-9848BB0A1C32}" type="slidenum">
              <a:rPr lang="en-US" smtClean="0"/>
              <a:pPr/>
              <a:t>21</a:t>
            </a:fld>
            <a:endParaRPr lang="en-US"/>
          </a:p>
        </p:txBody>
      </p:sp>
    </p:spTree>
    <p:extLst>
      <p:ext uri="{BB962C8B-B14F-4D97-AF65-F5344CB8AC3E}">
        <p14:creationId xmlns:p14="http://schemas.microsoft.com/office/powerpoint/2010/main" val="3674325920"/>
      </p:ext>
    </p:extLst>
  </p:cSld>
  <p:clrMapOvr>
    <a:masterClrMapping/>
  </p:clrMapOvr>
</p:sld>
</file>

<file path=ppt/theme/theme1.xml><?xml version="1.0" encoding="utf-8"?>
<a:theme xmlns:a="http://schemas.openxmlformats.org/drawingml/2006/main" name="AlignmentVTI">
  <a:themeElements>
    <a:clrScheme name="AnalogousFromLightSeed_2SEEDS">
      <a:dk1>
        <a:srgbClr val="000000"/>
      </a:dk1>
      <a:lt1>
        <a:srgbClr val="FFFFFF"/>
      </a:lt1>
      <a:dk2>
        <a:srgbClr val="243741"/>
      </a:dk2>
      <a:lt2>
        <a:srgbClr val="E2E5E8"/>
      </a:lt2>
      <a:accent1>
        <a:srgbClr val="BB9D7E"/>
      </a:accent1>
      <a:accent2>
        <a:srgbClr val="C59791"/>
      </a:accent2>
      <a:accent3>
        <a:srgbClr val="A5A27B"/>
      </a:accent3>
      <a:accent4>
        <a:srgbClr val="74ADA7"/>
      </a:accent4>
      <a:accent5>
        <a:srgbClr val="7EA7BB"/>
      </a:accent5>
      <a:accent6>
        <a:srgbClr val="7E8DBB"/>
      </a:accent6>
      <a:hlink>
        <a:srgbClr val="6184A9"/>
      </a:hlink>
      <a:folHlink>
        <a:srgbClr val="7F7F7F"/>
      </a:folHlink>
    </a:clrScheme>
    <a:fontScheme name="Custom 1">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ignmentVTI" id="{606D7720-FAA0-4ADC-B967-3239DA8ECA1A}" vid="{10074623-6FCC-4A3C-AAA5-58644BD8FF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3203</TotalTime>
  <Words>2208</Words>
  <Application>Microsoft Office PowerPoint</Application>
  <PresentationFormat>Widescreen</PresentationFormat>
  <Paragraphs>148</Paragraphs>
  <Slides>21</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21</vt:i4>
      </vt:variant>
    </vt:vector>
  </HeadingPairs>
  <TitlesOfParts>
    <vt:vector size="33" baseType="lpstr">
      <vt:lpstr>Batang</vt:lpstr>
      <vt:lpstr>Aptos</vt:lpstr>
      <vt:lpstr>Aptos Display</vt:lpstr>
      <vt:lpstr>Arial</vt:lpstr>
      <vt:lpstr>Avenir Next LT Pro Light</vt:lpstr>
      <vt:lpstr>Calibri</vt:lpstr>
      <vt:lpstr>Calisto MT</vt:lpstr>
      <vt:lpstr>Georgia</vt:lpstr>
      <vt:lpstr>Segoe UI</vt:lpstr>
      <vt:lpstr>Times New Roman</vt:lpstr>
      <vt:lpstr>AlignmentVTI</vt:lpstr>
      <vt:lpstr>office theme</vt:lpstr>
      <vt:lpstr>PowerPoint Presentation</vt:lpstr>
      <vt:lpstr>Outline</vt:lpstr>
      <vt:lpstr>Introduction </vt:lpstr>
      <vt:lpstr>Problem Definition</vt:lpstr>
      <vt:lpstr>Objectives</vt:lpstr>
      <vt:lpstr>Literature Review Summary (Table)</vt:lpstr>
      <vt:lpstr>Research Gap</vt:lpstr>
      <vt:lpstr>Dataset Description</vt:lpstr>
      <vt:lpstr>Methodology</vt:lpstr>
      <vt:lpstr>Optimal light-weight Architecture</vt:lpstr>
      <vt:lpstr>Methodology</vt:lpstr>
      <vt:lpstr>Evaluation Metrics</vt:lpstr>
      <vt:lpstr>Result Analysis</vt:lpstr>
      <vt:lpstr>Result Analysis</vt:lpstr>
      <vt:lpstr>Result Analysis</vt:lpstr>
      <vt:lpstr>Limitations</vt:lpstr>
      <vt:lpstr>Phase 2 Plan</vt:lpstr>
      <vt:lpstr>References(APA Style)</vt:lpstr>
      <vt:lpstr>References(APA Style)</vt:lpstr>
      <vt:lpstr>References(APA Style)</vt:lpstr>
      <vt:lpstr>References(APA Style)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Sunitha EV</dc:creator>
  <cp:lastModifiedBy>Harishankar Binu Nair</cp:lastModifiedBy>
  <cp:revision>510</cp:revision>
  <dcterms:created xsi:type="dcterms:W3CDTF">2025-02-06T04:27:38Z</dcterms:created>
  <dcterms:modified xsi:type="dcterms:W3CDTF">2025-12-21T07:54:58Z</dcterms:modified>
</cp:coreProperties>
</file>