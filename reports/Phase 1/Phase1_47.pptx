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6" r:id="rId1"/>
    <p:sldMasterId id="2147483660" r:id="rId2"/>
  </p:sldMasterIdLst>
  <p:notesMasterIdLst>
    <p:notesMasterId r:id="rId18"/>
  </p:notesMasterIdLst>
  <p:sldIdLst>
    <p:sldId id="261" r:id="rId3"/>
    <p:sldId id="328" r:id="rId4"/>
    <p:sldId id="1100" r:id="rId5"/>
    <p:sldId id="329" r:id="rId6"/>
    <p:sldId id="330" r:id="rId7"/>
    <p:sldId id="1101" r:id="rId8"/>
    <p:sldId id="1102" r:id="rId9"/>
    <p:sldId id="1103" r:id="rId10"/>
    <p:sldId id="1104" r:id="rId11"/>
    <p:sldId id="1107" r:id="rId12"/>
    <p:sldId id="1106" r:id="rId13"/>
    <p:sldId id="1105" r:id="rId14"/>
    <p:sldId id="1108" r:id="rId15"/>
    <p:sldId id="1109" r:id="rId16"/>
    <p:sldId id="111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A8D5F-86FC-FF78-68DF-296C943650AC}" v="36" dt="2025-11-12T09:10:22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88" d="100"/>
          <a:sy n="88" d="100"/>
        </p:scale>
        <p:origin x="676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84B3B-E091-4218-B734-7F09C964D9E9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A2D287-CFE8-45F7-B578-1940EAB6BD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211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Cite the work that detects dementia, Parkinson’s using polysomnography data.. </a:t>
            </a:r>
          </a:p>
          <a:p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latin typeface="Calisto MT" panose="02040603050505030304" pitchFamily="18" charset="0"/>
              </a:rPr>
              <a:t>Early detection </a:t>
            </a:r>
            <a:r>
              <a:rPr lang="en-US" dirty="0">
                <a:latin typeface="Calisto MT" panose="02040603050505030304" pitchFamily="18" charset="0"/>
              </a:rPr>
              <a:t>through</a:t>
            </a:r>
            <a:r>
              <a:rPr lang="en-US" b="1" dirty="0">
                <a:latin typeface="Calisto MT" panose="02040603050505030304" pitchFamily="18" charset="0"/>
              </a:rPr>
              <a:t> sleep analysis </a:t>
            </a:r>
            <a:r>
              <a:rPr lang="en-US" dirty="0">
                <a:latin typeface="Calisto MT" panose="02040603050505030304" pitchFamily="18" charset="0"/>
              </a:rPr>
              <a:t>facilitates</a:t>
            </a:r>
            <a:r>
              <a:rPr lang="en-US" b="1" dirty="0">
                <a:latin typeface="Calisto MT" panose="02040603050505030304" pitchFamily="18" charset="0"/>
              </a:rPr>
              <a:t> timely interventions – of cardiovascular disease. Dementia ,Parkinson’s???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latin typeface="Calisto MT" panose="0204060305050503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Introduction should align with disease risk prediction, which are the systems currently using </a:t>
            </a:r>
            <a:r>
              <a:rPr lang="en-IN" b="1" dirty="0" err="1">
                <a:latin typeface="Calisto MT" panose="02040603050505030304" pitchFamily="18" charset="0"/>
              </a:rPr>
              <a:t>polysomnograpy</a:t>
            </a:r>
            <a:r>
              <a:rPr lang="en-IN" b="1" dirty="0">
                <a:latin typeface="Calisto MT" panose="02040603050505030304" pitchFamily="18" charset="0"/>
              </a:rPr>
              <a:t> data and what are the limitations?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Corrections/Modifications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Problem with sleep in elderly?? Statistics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Relation of sleep with cardio vascular disease, any info from papers??give ref also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EE30E6-9EB3-46B3-B453-23E1904BDDC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2135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214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09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6208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007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2563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883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6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456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36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290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454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5175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1137256"/>
            <a:ext cx="11209376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1499" y="348662"/>
            <a:ext cx="11209376" cy="464000"/>
          </a:xfrm>
        </p:spPr>
        <p:txBody>
          <a:bodyPr>
            <a:noAutofit/>
          </a:bodyPr>
          <a:lstStyle>
            <a:lvl1pPr>
              <a:defRPr sz="32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9" y="6369932"/>
            <a:ext cx="12218977" cy="5210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D41DD4-A5E8-4552-814D-0D80AF0F22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134" y="6490361"/>
            <a:ext cx="1781941" cy="31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291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3832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3456"/>
            <a:ext cx="12218977" cy="52100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1137256"/>
            <a:ext cx="11209376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1499" y="348662"/>
            <a:ext cx="11209376" cy="464000"/>
          </a:xfrm>
        </p:spPr>
        <p:txBody>
          <a:bodyPr>
            <a:noAutofit/>
          </a:bodyPr>
          <a:lstStyle>
            <a:lvl1pPr>
              <a:defRPr sz="32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D41DD4-A5E8-4552-814D-0D80AF0F22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134" y="6490361"/>
            <a:ext cx="1781941" cy="314840"/>
          </a:xfrm>
          <a:prstGeom prst="rect">
            <a:avLst/>
          </a:prstGeom>
        </p:spPr>
      </p:pic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44B71D63-CC8F-7D5C-C54F-0439C001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525814"/>
            <a:ext cx="571499" cy="365125"/>
          </a:xfrm>
        </p:spPr>
        <p:txBody>
          <a:bodyPr/>
          <a:lstStyle>
            <a:lvl1pPr algn="l">
              <a:defRPr sz="1600" b="1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03E60720-4643-2A6C-4283-9BD3505F1DFE}"/>
              </a:ext>
            </a:extLst>
          </p:cNvPr>
          <p:cNvSpPr txBox="1">
            <a:spLocks/>
          </p:cNvSpPr>
          <p:nvPr userDrawn="1"/>
        </p:nvSpPr>
        <p:spPr>
          <a:xfrm>
            <a:off x="401263" y="6525813"/>
            <a:ext cx="15873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26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06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C7025E-4863-6F49-AD01-8A5B65B0890F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B811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r>
              <a:rPr lang="en-US" sz="1350">
                <a:solidFill>
                  <a:prstClr val="white"/>
                </a:solidFill>
                <a:latin typeface="Calibri" panose="020F0502020204030204"/>
              </a:rPr>
              <a:t> </a:t>
            </a:r>
          </a:p>
        </p:txBody>
      </p:sp>
      <p:pic>
        <p:nvPicPr>
          <p:cNvPr id="7" name="Picture 6" descr="A picture containing drawing&#10;&#10;Description automatically generated">
            <a:extLst>
              <a:ext uri="{FF2B5EF4-FFF2-40B4-BE49-F238E27FC236}">
                <a16:creationId xmlns:a16="http://schemas.microsoft.com/office/drawing/2014/main" id="{80288CD4-7B52-C244-BAD4-BFF7D9DCE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154" y="2576466"/>
            <a:ext cx="3443174" cy="1104899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A58083-EF1A-427F-9030-DC289843A2BF}"/>
              </a:ext>
            </a:extLst>
          </p:cNvPr>
          <p:cNvCxnSpPr>
            <a:cxnSpLocks/>
          </p:cNvCxnSpPr>
          <p:nvPr/>
        </p:nvCxnSpPr>
        <p:spPr>
          <a:xfrm>
            <a:off x="4335124" y="2310508"/>
            <a:ext cx="0" cy="163681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FF19762-9449-7F8E-ED51-CE92E43F0E91}"/>
              </a:ext>
            </a:extLst>
          </p:cNvPr>
          <p:cNvSpPr txBox="1"/>
          <p:nvPr/>
        </p:nvSpPr>
        <p:spPr>
          <a:xfrm>
            <a:off x="4550229" y="1305342"/>
            <a:ext cx="7242626" cy="2123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defTabSz="457200"/>
            <a:r>
              <a:rPr lang="en-GB" sz="4400" b="1" dirty="0">
                <a:solidFill>
                  <a:schemeClr val="bg1"/>
                </a:solidFill>
                <a:latin typeface="Segoe UI"/>
                <a:cs typeface="Segoe UI"/>
              </a:rPr>
              <a:t>A Lightweight Health Risk Analysis App for the Elderly using </a:t>
            </a:r>
            <a:r>
              <a:rPr lang="en-GB" sz="4400" b="1" dirty="0" err="1">
                <a:solidFill>
                  <a:schemeClr val="bg1"/>
                </a:solidFill>
                <a:latin typeface="Segoe UI"/>
                <a:cs typeface="Segoe UI"/>
              </a:rPr>
              <a:t>SleepStudies</a:t>
            </a:r>
            <a:endParaRPr lang="en-US" sz="4000" b="1" dirty="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92AFA7-A803-1602-35C8-C21ED8130634}"/>
              </a:ext>
            </a:extLst>
          </p:cNvPr>
          <p:cNvSpPr txBox="1"/>
          <p:nvPr/>
        </p:nvSpPr>
        <p:spPr>
          <a:xfrm>
            <a:off x="6617669" y="4954823"/>
            <a:ext cx="442044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Anuvind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MP (AM.EN.U4AIE22010)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 S Harish Kumar (AM.EN.U4CSE22042)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B1EF1F-2300-829E-6E9B-9FE25D611E45}"/>
              </a:ext>
            </a:extLst>
          </p:cNvPr>
          <p:cNvSpPr txBox="1"/>
          <p:nvPr/>
        </p:nvSpPr>
        <p:spPr>
          <a:xfrm>
            <a:off x="6268045" y="3870094"/>
            <a:ext cx="4044353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by,</a:t>
            </a:r>
          </a:p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Geetha Lekshmi V . </a:t>
            </a:r>
          </a:p>
        </p:txBody>
      </p:sp>
    </p:spTree>
    <p:extLst>
      <p:ext uri="{BB962C8B-B14F-4D97-AF65-F5344CB8AC3E}">
        <p14:creationId xmlns:p14="http://schemas.microsoft.com/office/powerpoint/2010/main" val="3005922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FB7946-4A61-F0D4-E3EF-98A28275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IN" sz="2400" dirty="0"/>
              <a:t>Introduction</a:t>
            </a:r>
          </a:p>
          <a:p>
            <a:r>
              <a:rPr lang="en-IN" sz="2400" dirty="0"/>
              <a:t>Problem Definition</a:t>
            </a:r>
          </a:p>
          <a:p>
            <a:r>
              <a:rPr lang="en-IN" sz="2400" dirty="0"/>
              <a:t>Objectives</a:t>
            </a:r>
          </a:p>
          <a:p>
            <a:r>
              <a:rPr lang="en-IN" sz="2400" dirty="0"/>
              <a:t>Literature Review Summary(Table)</a:t>
            </a:r>
          </a:p>
          <a:p>
            <a:r>
              <a:rPr lang="en-IN" sz="2400" dirty="0"/>
              <a:t>Research Gap</a:t>
            </a:r>
          </a:p>
          <a:p>
            <a:r>
              <a:rPr lang="en-IN" sz="2400" dirty="0"/>
              <a:t>Dataset Description</a:t>
            </a:r>
          </a:p>
          <a:p>
            <a:r>
              <a:rPr lang="en-IN" sz="2400" dirty="0"/>
              <a:t>Methodology / Proposed Method</a:t>
            </a:r>
          </a:p>
          <a:p>
            <a:r>
              <a:rPr lang="en-IN" sz="2400" dirty="0"/>
              <a:t>Design/ Architecture</a:t>
            </a:r>
          </a:p>
          <a:p>
            <a:r>
              <a:rPr lang="en-IN" sz="2400" dirty="0"/>
              <a:t>Algorithms (if any)</a:t>
            </a:r>
          </a:p>
          <a:p>
            <a:r>
              <a:rPr lang="en-IN" sz="2400" dirty="0"/>
              <a:t>Evaluation Metrics</a:t>
            </a:r>
          </a:p>
          <a:p>
            <a:r>
              <a:rPr lang="en-IN" sz="2400" dirty="0"/>
              <a:t>Result Analysis</a:t>
            </a:r>
          </a:p>
          <a:p>
            <a:r>
              <a:rPr lang="en-IN" sz="2400"/>
              <a:t>Limitations</a:t>
            </a:r>
            <a:endParaRPr lang="en-IN" sz="2400" dirty="0"/>
          </a:p>
          <a:p>
            <a:r>
              <a:rPr lang="en-IN" sz="2400" dirty="0"/>
              <a:t>Phase II plan</a:t>
            </a:r>
          </a:p>
          <a:p>
            <a:r>
              <a:rPr lang="en-IN" sz="2400" dirty="0">
                <a:latin typeface="Georgia"/>
              </a:rPr>
              <a:t>Reference(APA style)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F80A38-C040-884E-9416-3B2C3AC04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A0663-8695-8CFA-B1EF-3BA1E542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94FFD-4989-522F-352B-AB6F2C397014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2683305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D34E0E-6139-7653-CCF6-3D7427E1B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b="1" dirty="0">
              <a:ea typeface="Calibri"/>
              <a:cs typeface="Calibri"/>
            </a:endParaRPr>
          </a:p>
          <a:p>
            <a:pPr marL="0" indent="0">
              <a:buNone/>
            </a:pPr>
            <a:endParaRPr lang="en-IN" b="1" dirty="0">
              <a:solidFill>
                <a:srgbClr val="00B050"/>
              </a:solidFill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72E394-459F-B4D4-2B1F-A261E4719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4000" b="1" u="sng" dirty="0">
                <a:latin typeface="Calisto MT" panose="02040603050505030304" pitchFamily="18" charset="0"/>
              </a:rPr>
              <a:t>Introduction </a:t>
            </a:r>
            <a:endParaRPr lang="en-IN" b="1" i="1" u="sng" dirty="0">
              <a:latin typeface="Calisto MT" panose="0204060305050503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9AFD8A-B828-9635-58C8-0FE215F0EC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7" r="8570"/>
          <a:stretch>
            <a:fillRect/>
          </a:stretch>
        </p:blipFill>
        <p:spPr>
          <a:xfrm>
            <a:off x="3919895" y="2171746"/>
            <a:ext cx="3940995" cy="22903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3DBC1D-2937-74AF-1B6A-76030DD8BFF5}"/>
              </a:ext>
            </a:extLst>
          </p:cNvPr>
          <p:cNvSpPr txBox="1"/>
          <p:nvPr/>
        </p:nvSpPr>
        <p:spPr>
          <a:xfrm>
            <a:off x="212623" y="1650114"/>
            <a:ext cx="33552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sto MT" panose="02040603050505030304" pitchFamily="18" charset="0"/>
              </a:rPr>
              <a:t>Aging populations face </a:t>
            </a:r>
            <a:r>
              <a:rPr lang="en-US" b="1" dirty="0">
                <a:latin typeface="Calisto MT" panose="02040603050505030304" pitchFamily="18" charset="0"/>
              </a:rPr>
              <a:t>increasing chronic disease </a:t>
            </a:r>
            <a:r>
              <a:rPr lang="en-US" dirty="0">
                <a:latin typeface="Calisto MT" panose="02040603050505030304" pitchFamily="18" charset="0"/>
              </a:rPr>
              <a:t>burdens.</a:t>
            </a:r>
            <a:endParaRPr lang="en-IN" dirty="0">
              <a:latin typeface="Calisto MT" panose="0204060305050503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3B64E1-741A-A9EB-77DE-0C5F59BFA761}"/>
              </a:ext>
            </a:extLst>
          </p:cNvPr>
          <p:cNvSpPr txBox="1"/>
          <p:nvPr/>
        </p:nvSpPr>
        <p:spPr>
          <a:xfrm>
            <a:off x="212623" y="2637642"/>
            <a:ext cx="3650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alisto MT" panose="02040603050505030304" pitchFamily="18" charset="0"/>
              </a:rPr>
              <a:t>Increasing</a:t>
            </a:r>
            <a:r>
              <a:rPr lang="en-US" dirty="0">
                <a:latin typeface="Calisto MT" panose="02040603050505030304" pitchFamily="18" charset="0"/>
              </a:rPr>
              <a:t> </a:t>
            </a:r>
            <a:r>
              <a:rPr lang="en-US" b="1" dirty="0">
                <a:latin typeface="Calisto MT" panose="02040603050505030304" pitchFamily="18" charset="0"/>
              </a:rPr>
              <a:t>healthcare costs </a:t>
            </a:r>
            <a:r>
              <a:rPr lang="en-US" dirty="0">
                <a:latin typeface="Calisto MT" panose="02040603050505030304" pitchFamily="18" charset="0"/>
              </a:rPr>
              <a:t>and morbidity.</a:t>
            </a:r>
            <a:endParaRPr lang="en-IN" dirty="0">
              <a:latin typeface="Calisto MT" panose="0204060305050503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1D2F71-2935-910C-B72A-908492677EE2}"/>
              </a:ext>
            </a:extLst>
          </p:cNvPr>
          <p:cNvSpPr txBox="1"/>
          <p:nvPr/>
        </p:nvSpPr>
        <p:spPr>
          <a:xfrm>
            <a:off x="212623" y="3584919"/>
            <a:ext cx="35297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sto MT" panose="02040603050505030304" pitchFamily="18" charset="0"/>
              </a:rPr>
              <a:t>Polysomnography (PSG) </a:t>
            </a:r>
            <a:r>
              <a:rPr lang="en-GB" dirty="0">
                <a:latin typeface="Calisto MT" panose="02040603050505030304" pitchFamily="18" charset="0"/>
              </a:rPr>
              <a:t>provides rich multi-modal signals that capture these sleep-related physiological changes.</a:t>
            </a:r>
          </a:p>
          <a:p>
            <a:endParaRPr lang="en-IN" b="1" dirty="0">
              <a:latin typeface="Calisto MT" panose="0204060305050503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8D54F8-1414-268E-9412-7F3F3AC4A32E}"/>
              </a:ext>
            </a:extLst>
          </p:cNvPr>
          <p:cNvSpPr txBox="1"/>
          <p:nvPr/>
        </p:nvSpPr>
        <p:spPr>
          <a:xfrm>
            <a:off x="7871950" y="1893954"/>
            <a:ext cx="38075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alisto MT" panose="02040603050505030304" pitchFamily="18" charset="0"/>
              </a:rPr>
              <a:t>Early detection </a:t>
            </a:r>
            <a:r>
              <a:rPr lang="en-US" dirty="0">
                <a:latin typeface="Calisto MT" panose="02040603050505030304" pitchFamily="18" charset="0"/>
              </a:rPr>
              <a:t>through</a:t>
            </a:r>
            <a:r>
              <a:rPr lang="en-US" b="1" dirty="0">
                <a:latin typeface="Calisto MT" panose="02040603050505030304" pitchFamily="18" charset="0"/>
              </a:rPr>
              <a:t> sleep analysis </a:t>
            </a:r>
            <a:r>
              <a:rPr lang="en-US" dirty="0">
                <a:latin typeface="Calisto MT" panose="02040603050505030304" pitchFamily="18" charset="0"/>
              </a:rPr>
              <a:t>facilitates</a:t>
            </a:r>
            <a:r>
              <a:rPr lang="en-US" b="1" dirty="0">
                <a:latin typeface="Calisto MT" panose="02040603050505030304" pitchFamily="18" charset="0"/>
              </a:rPr>
              <a:t> timely interventions.</a:t>
            </a:r>
            <a:endParaRPr lang="en-IN" b="1" dirty="0">
              <a:latin typeface="Calisto MT" panose="0204060305050503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E7AB44-DB07-881E-BFF8-FE0BA33B83AF}"/>
              </a:ext>
            </a:extLst>
          </p:cNvPr>
          <p:cNvSpPr txBox="1"/>
          <p:nvPr/>
        </p:nvSpPr>
        <p:spPr>
          <a:xfrm>
            <a:off x="7876253" y="3538752"/>
            <a:ext cx="43157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sto MT" panose="02040603050505030304" pitchFamily="18" charset="0"/>
              </a:rPr>
              <a:t>This can significantly</a:t>
            </a:r>
            <a:r>
              <a:rPr lang="en-US" b="1" dirty="0">
                <a:latin typeface="Calisto MT" panose="02040603050505030304" pitchFamily="18" charset="0"/>
              </a:rPr>
              <a:t> reduce healthcare costs</a:t>
            </a:r>
            <a:r>
              <a:rPr lang="en-US" dirty="0">
                <a:latin typeface="Calisto MT" panose="02040603050505030304" pitchFamily="18" charset="0"/>
              </a:rPr>
              <a:t> and </a:t>
            </a:r>
            <a:r>
              <a:rPr lang="en-US" b="1" dirty="0">
                <a:latin typeface="Calisto MT" panose="02040603050505030304" pitchFamily="18" charset="0"/>
              </a:rPr>
              <a:t>improve quality of life</a:t>
            </a:r>
            <a:r>
              <a:rPr lang="en-US" dirty="0">
                <a:latin typeface="Calisto MT" panose="02040603050505030304" pitchFamily="18" charset="0"/>
              </a:rPr>
              <a:t> for aging adults.</a:t>
            </a:r>
            <a:endParaRPr lang="en-IN" dirty="0"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009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27BA-775F-97A2-A7B4-0BC28956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105083-C65E-74EF-DECE-819E2BD8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Manual PSG analysis is time-consuming, expensive, and inaccessible in resource-limited regions, limiting early health risk detection for elderly populations.</a:t>
            </a:r>
          </a:p>
          <a:p>
            <a:r>
              <a:rPr lang="en-GB" dirty="0"/>
              <a:t>Existing AI models for PSG analysis are computationally heavy and unsuitable for deployment on low-end devices, preventing practical implementation where it's needed most.</a:t>
            </a:r>
          </a:p>
          <a:p>
            <a:r>
              <a:rPr lang="en-GB" dirty="0"/>
              <a:t>There is a need for a lightweight, efficient framework that can reliably assess cardiac, respiratory, and mental health risks while remaining deployable in constrained healthcare environments.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4E45BD-E1F2-E43A-3B21-AFE31B059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8F97F-93A9-682C-DB50-8CEA82C8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7FB811-7DF8-B9ED-D885-31E345968A1D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4294207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442F6-B951-4A5C-5586-1A97A4DD2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691182-A0B4-B4E3-B332-32C532F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GB" dirty="0"/>
              <a:t>Generate an lightweight architecture to deploy on low-end systems and to promote green AI.</a:t>
            </a:r>
          </a:p>
          <a:p>
            <a:pPr fontAlgn="base"/>
            <a:r>
              <a:rPr lang="en-GB" dirty="0"/>
              <a:t>Generalize the population representation by harmonizing multiple datasets from different cohorts.</a:t>
            </a:r>
          </a:p>
          <a:p>
            <a:pPr fontAlgn="base"/>
            <a:r>
              <a:rPr lang="en-GB" dirty="0"/>
              <a:t>Provide risk profiles for under represented ailments such as mental disorders which has a negative perception or social stigma for diagnosing in the Indian community.</a:t>
            </a:r>
          </a:p>
          <a:p>
            <a:pPr fontAlgn="base"/>
            <a:r>
              <a:rPr lang="en-GB" dirty="0"/>
              <a:t>Experimentation between various search strategies for NAS such as DARTS, RL, Genetic/Hierarchical, Random search.</a:t>
            </a:r>
          </a:p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44D56C-C0AA-5BA6-6C77-F9ECDACEB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01A7-9A14-B0BE-C34B-A2782F340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BB24E8-00FD-F198-087E-95209BA11426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1724409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44B9F-47AA-AB65-0C9C-CCF9FD2EB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47442D-8B7B-63BC-15BE-5CA6B563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 Review Summary (Table)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D7FB1-F640-118E-E355-707C0183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4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1A3B4-B25C-81CD-F3CB-0D98F51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1A3FC-2962-FED4-44B3-80F5C541F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96F663-B656-8FAC-1754-E521477F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 Gap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7FC53-2522-8ECB-85AB-3039901C5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506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2A7CB-E3FD-261E-B2F2-63EC6C42B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9AD6E9-2A51-5D7C-E209-6BC20C218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/>
              <a:t>Multiple publicly available PSG datasets were surveyed, including Cleveland Family Study (CFS), Wisconsin Sleep Cohort (WSC), MrOS Sleep Study (MROS), Sleep Heart Health Study (SHHS) and Multi-Ethnic Study of Atherosclerosis (MESA), to capture diverse populations and acquisition protocols.​</a:t>
            </a:r>
          </a:p>
          <a:p>
            <a:r>
              <a:rPr lang="de-DE" sz="2600" dirty="0"/>
              <a:t>A common multimodal PSG representation was defined by identifying seven channels consistently available across these datasets: EEG, EOG, ECG, EMG, leg movement, thoracic movement, and SpO₂, ensuring cross-dataset compatibility.​</a:t>
            </a:r>
          </a:p>
          <a:p>
            <a:r>
              <a:rPr lang="en-GB" sz="2600" dirty="0"/>
              <a:t>The current phase focuses on the Cleveland Family Study (CFS) dataset, using its PSG recordings and clinical labels to build cardiac, respiratory, and mental health risk cohorts.</a:t>
            </a:r>
            <a:endParaRPr lang="en-AE" sz="26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E405E4-C141-2C30-B899-5C8B7BC7C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Dataset Description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B8ADF-B854-C312-1328-94A647D5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1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30DAB-9301-36D5-568D-090E6AA4E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77E79C-3E0C-CECE-ADBE-A830BC977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21F6E4-FFA8-2E17-1389-546CB01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3A8C4-56A1-B883-D2FA-280AE0AC2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1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FE2DB-4460-83C0-254B-5477F9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0C52D7-367C-FEEA-A380-97D1671D9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77AD15-9EE7-767F-53DC-82BD6CF28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AC045-A0E9-DD2B-684E-9F9D01FA5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55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74DF-7BCD-9BC5-6CAE-844755B55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0F6A6A-FC25-DA67-CBFE-52B792CB8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F9F9E6-0189-533B-9B51-6506667C1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Algorithm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3A670-71EE-9288-0667-E6C560E4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2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EEC62-C92A-A2AE-4C1C-12005BC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A710D5-5CBF-CE04-A00A-376DD8967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6D88A9-F0A6-1C19-9995-4EB3062C8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CE579-2BF4-11DB-7558-8D20F72D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534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F256-4982-E281-CBAF-BEABACB97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7E5633-15A4-97E1-F50E-5F5FA36E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1DF468-F1B3-4D19-D2CF-16AD6B963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Metrics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9836D-5196-0A15-69EB-045A924E1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0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17D8B-FD5E-B1DC-8813-B4E1EF60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9655D0-DE2F-DFA3-2898-69601D38F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F718DA-C6DC-4613-11D3-9B985378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 Analysis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98A78-9AAC-16F2-5AD3-03BB1566F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2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2296-03FD-7F6E-D9A0-7FE508B7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8D451C-D6F7-7EB4-0776-83981646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F7102B-D706-547B-AF3D-58FFB44B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2F50-25C6-92B6-8C1D-459A5BA35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46617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nalogousFromLightSeed_2SEEDS">
      <a:dk1>
        <a:srgbClr val="000000"/>
      </a:dk1>
      <a:lt1>
        <a:srgbClr val="FFFFFF"/>
      </a:lt1>
      <a:dk2>
        <a:srgbClr val="243741"/>
      </a:dk2>
      <a:lt2>
        <a:srgbClr val="E2E5E8"/>
      </a:lt2>
      <a:accent1>
        <a:srgbClr val="BB9D7E"/>
      </a:accent1>
      <a:accent2>
        <a:srgbClr val="C59791"/>
      </a:accent2>
      <a:accent3>
        <a:srgbClr val="A5A27B"/>
      </a:accent3>
      <a:accent4>
        <a:srgbClr val="74ADA7"/>
      </a:accent4>
      <a:accent5>
        <a:srgbClr val="7EA7BB"/>
      </a:accent5>
      <a:accent6>
        <a:srgbClr val="7E8DBB"/>
      </a:accent6>
      <a:hlink>
        <a:srgbClr val="6184A9"/>
      </a:hlink>
      <a:folHlink>
        <a:srgbClr val="7F7F7F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2618</TotalTime>
  <Words>529</Words>
  <Application>Microsoft Office PowerPoint</Application>
  <PresentationFormat>Widescreen</PresentationFormat>
  <Paragraphs>74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Batang</vt:lpstr>
      <vt:lpstr>Aptos</vt:lpstr>
      <vt:lpstr>Aptos Display</vt:lpstr>
      <vt:lpstr>Arial</vt:lpstr>
      <vt:lpstr>Avenir Next LT Pro Light</vt:lpstr>
      <vt:lpstr>Calibri</vt:lpstr>
      <vt:lpstr>Calisto MT</vt:lpstr>
      <vt:lpstr>Georgia</vt:lpstr>
      <vt:lpstr>Segoe UI</vt:lpstr>
      <vt:lpstr>Times New Roman</vt:lpstr>
      <vt:lpstr>AlignmentVTI</vt:lpstr>
      <vt:lpstr>office theme</vt:lpstr>
      <vt:lpstr>PowerPoint Presentation</vt:lpstr>
      <vt:lpstr>Outline</vt:lpstr>
      <vt:lpstr>Introduction </vt:lpstr>
      <vt:lpstr>Problem Definition</vt:lpstr>
      <vt:lpstr>Objectives</vt:lpstr>
      <vt:lpstr>Literature Review Summary (Table)</vt:lpstr>
      <vt:lpstr>Research Gap</vt:lpstr>
      <vt:lpstr>Dataset Description</vt:lpstr>
      <vt:lpstr>Methodology</vt:lpstr>
      <vt:lpstr>Design</vt:lpstr>
      <vt:lpstr>Algorithm</vt:lpstr>
      <vt:lpstr>Methodology</vt:lpstr>
      <vt:lpstr>Evaluation Metrics</vt:lpstr>
      <vt:lpstr>Result Analysis</vt:lpstr>
      <vt:lpstr>Limitations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Sunitha EV</dc:creator>
  <cp:lastModifiedBy>Harishankar Binu Nair</cp:lastModifiedBy>
  <cp:revision>505</cp:revision>
  <dcterms:created xsi:type="dcterms:W3CDTF">2025-02-06T04:27:38Z</dcterms:created>
  <dcterms:modified xsi:type="dcterms:W3CDTF">2025-12-19T14:41:00Z</dcterms:modified>
</cp:coreProperties>
</file>